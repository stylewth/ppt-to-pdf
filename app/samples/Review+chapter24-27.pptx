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e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emf"/><Relationship Id="rId7" Type="http://schemas.openxmlformats.org/officeDocument/2006/relationships/image" Target="../media/image68.w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e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8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4" Type="http://schemas.openxmlformats.org/officeDocument/2006/relationships/image" Target="../media/image8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emf"/><Relationship Id="rId1" Type="http://schemas.openxmlformats.org/officeDocument/2006/relationships/image" Target="../media/image87.wmf"/><Relationship Id="rId4" Type="http://schemas.openxmlformats.org/officeDocument/2006/relationships/image" Target="../media/image9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10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10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12" Type="http://schemas.openxmlformats.org/officeDocument/2006/relationships/image" Target="../media/image131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11" Type="http://schemas.openxmlformats.org/officeDocument/2006/relationships/image" Target="../media/image130.wmf"/><Relationship Id="rId5" Type="http://schemas.openxmlformats.org/officeDocument/2006/relationships/image" Target="../media/image124.wmf"/><Relationship Id="rId10" Type="http://schemas.openxmlformats.org/officeDocument/2006/relationships/image" Target="../media/image129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Relationship Id="rId14" Type="http://schemas.openxmlformats.org/officeDocument/2006/relationships/image" Target="../media/image13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注意区分电势和电势能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145C29-18AF-4C38-9790-B7E6802D6C81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27651" name="Text Box 2"/>
          <p:cNvSpPr txBox="1">
            <a:spLocks noGrp="1" noChangeArrowheads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  <p:sp>
        <p:nvSpPr>
          <p:cNvPr id="27652" name="Text Box 3"/>
          <p:cNvSpPr txBox="1">
            <a:spLocks noGrp="1" noChangeArrowheads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  <p:sp>
        <p:nvSpPr>
          <p:cNvPr id="27653" name="Text Box 4"/>
          <p:cNvSpPr txBox="1">
            <a:spLocks noGrp="1" noChangeArrowheads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  <p:sp>
        <p:nvSpPr>
          <p:cNvPr id="27654" name="Text Box 5"/>
          <p:cNvSpPr txBox="1">
            <a:spLocks noGrp="1" noChangeArrowheads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  <p:sp>
        <p:nvSpPr>
          <p:cNvPr id="27655" name="Text Box 6"/>
          <p:cNvSpPr txBox="1">
            <a:spLocks noGrp="1" noChangeArrowheads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  <p:sp>
        <p:nvSpPr>
          <p:cNvPr id="27656" name="Rectangle 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7" name="Rectangle 8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8" name="Text Box 9"/>
          <p:cNvSpPr txBox="1">
            <a:spLocks noGrp="1"/>
          </p:cNvSpPr>
          <p:nvPr/>
        </p:nvSpPr>
        <p:spPr bwMode="auto">
          <a:xfrm>
            <a:off x="3851276" y="9429909"/>
            <a:ext cx="2944813" cy="49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59" tIns="47329" rIns="94659" bIns="47329" anchor="b"/>
          <a:lstStyle>
            <a:lvl1pPr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461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461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CN" b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26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29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Need capacitors pictures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32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Need capacitors pictures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33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35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36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37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39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5843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41</a:t>
            </a:fld>
            <a:endParaRPr lang="en-US" altLang="zh-CN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11" Type="http://schemas.openxmlformats.org/officeDocument/2006/relationships/oleObject" Target="../embeddings/oleObject4.bin"/><Relationship Id="rId5" Type="http://schemas.openxmlformats.org/officeDocument/2006/relationships/image" Target="../media/image5.jpeg"/><Relationship Id="rId10" Type="http://schemas.openxmlformats.org/officeDocument/2006/relationships/image" Target="../media/image3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4.jpe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image" Target="../media/image32.jpeg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3.emf"/><Relationship Id="rId12" Type="http://schemas.openxmlformats.org/officeDocument/2006/relationships/image" Target="../media/image65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9.bin"/><Relationship Id="rId11" Type="http://schemas.openxmlformats.org/officeDocument/2006/relationships/oleObject" Target="../embeddings/oleObject61.bin"/><Relationship Id="rId5" Type="http://schemas.openxmlformats.org/officeDocument/2006/relationships/image" Target="../media/image62.emf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65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76.wmf"/><Relationship Id="rId3" Type="http://schemas.openxmlformats.org/officeDocument/2006/relationships/image" Target="../media/image81.jpeg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0.e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86.jpeg"/><Relationship Id="rId7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5.wmf"/><Relationship Id="rId5" Type="http://schemas.openxmlformats.org/officeDocument/2006/relationships/image" Target="../media/image82.e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86.jpeg"/><Relationship Id="rId7" Type="http://schemas.openxmlformats.org/officeDocument/2006/relationships/image" Target="../media/image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90.e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9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8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9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99.wmf"/><Relationship Id="rId4" Type="http://schemas.openxmlformats.org/officeDocument/2006/relationships/oleObject" Target="../embeddings/oleObject9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05.emf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0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0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15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1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27.wmf"/><Relationship Id="rId26" Type="http://schemas.openxmlformats.org/officeDocument/2006/relationships/image" Target="../media/image131.w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29" Type="http://schemas.openxmlformats.org/officeDocument/2006/relationships/oleObject" Target="../embeddings/oleObject125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130.w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132.wmf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13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133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4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32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37.wmf"/><Relationship Id="rId5" Type="http://schemas.openxmlformats.org/officeDocument/2006/relationships/image" Target="../media/image134.wmf"/><Relationship Id="rId15" Type="http://schemas.openxmlformats.org/officeDocument/2006/relationships/image" Target="../media/image139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41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13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Knowledge Review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Chapters 24-27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2"/>
          <p:cNvSpPr txBox="1">
            <a:spLocks noChangeArrowheads="1"/>
          </p:cNvSpPr>
          <p:nvPr/>
        </p:nvSpPr>
        <p:spPr bwMode="auto">
          <a:xfrm>
            <a:off x="611560" y="1556793"/>
            <a:ext cx="8280920" cy="3002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54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Electric Potential &amp; Potential Energy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电势和势能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454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Electric Potential due to Point Charges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点电荷电势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54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Calculating Potential from Field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从电场算电势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54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Calculating Potential by Superposition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叠加原理算电势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54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Calculating Field from Potential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从电势算电场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29036" y="476672"/>
            <a:ext cx="5245968" cy="648072"/>
          </a:xfrm>
          <a:prstGeom prst="rect">
            <a:avLst/>
          </a:prstGeo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24 Electric 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</a:rPr>
              <a:t>Potential</a:t>
            </a:r>
            <a:endParaRPr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" y="304800"/>
            <a:ext cx="8534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Force, Potential Energy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Potential, Electric Potential Energy, Electron-volt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Equipotential Surface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Difference, Zero Potential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970401" y="273601"/>
            <a:ext cx="5532611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(1) Electric potential energy </a:t>
            </a:r>
            <a:r>
              <a:rPr lang="zh-CN" altLang="en-US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电势能</a:t>
            </a:r>
            <a:endParaRPr lang="en-US" altLang="zh-CN" sz="24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703513" y="4077072"/>
            <a:ext cx="6550471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difference of the electric potential energy of a system changing from an initial </a:t>
            </a:r>
            <a:r>
              <a:rPr lang="en-US" altLang="zh-TW" sz="2400" b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</a:t>
            </a:r>
            <a:r>
              <a:rPr lang="zh-CN" altLang="en-US" sz="2400" b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构型 </a:t>
            </a: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 final configuration is related to the work done </a:t>
            </a:r>
            <a:r>
              <a:rPr lang="en-US" altLang="zh-TW" sz="24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en-US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electrostatic force </a:t>
            </a: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system by</a:t>
            </a:r>
            <a:endParaRPr lang="en-US" altLang="zh-CN" sz="2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1"/>
          <p:cNvGraphicFramePr>
            <a:graphicFrameLocks noChangeAspect="1"/>
          </p:cNvGraphicFramePr>
          <p:nvPr/>
        </p:nvGraphicFramePr>
        <p:xfrm>
          <a:off x="2328857" y="6004426"/>
          <a:ext cx="3066356" cy="579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3" imgW="1574800" imgH="203200" progId="Equation.DSMT4">
                  <p:embed/>
                </p:oleObj>
              </mc:Choice>
              <mc:Fallback>
                <p:oleObj name="Equation" r:id="rId3" imgW="1574800" imgH="203200" progId="Equation.DSMT4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857" y="6004426"/>
                        <a:ext cx="3066356" cy="57997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919537" y="782340"/>
            <a:ext cx="5749303" cy="1863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the gravitational force, the electrostatic force is</a:t>
            </a:r>
            <a: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conservative.</a:t>
            </a:r>
            <a: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a potential energy associated with a conservative force. </a:t>
            </a:r>
            <a:r>
              <a:rPr lang="zh-CN" altLang="en-US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保守力</a:t>
            </a:r>
            <a:endParaRPr lang="en-US" altLang="zh-CN" sz="24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92696"/>
            <a:ext cx="2664296" cy="1482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9" y="4108916"/>
            <a:ext cx="1905915" cy="2416428"/>
          </a:xfrm>
          <a:prstGeom prst="rect">
            <a:avLst/>
          </a:prstGeom>
        </p:spPr>
      </p:pic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835696" y="2252594"/>
          <a:ext cx="4084092" cy="82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7" imgW="53644800" imgH="10058400" progId="Equation.DSMT4">
                  <p:embed/>
                </p:oleObj>
              </mc:Choice>
              <mc:Fallback>
                <p:oleObj name="Equation" r:id="rId7" imgW="53644800" imgH="1005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252594"/>
                        <a:ext cx="4084092" cy="82874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88309" y="2475452"/>
            <a:ext cx="8244441" cy="1506611"/>
            <a:chOff x="388308" y="2475451"/>
            <a:chExt cx="8244441" cy="1506611"/>
          </a:xfrm>
        </p:grpSpPr>
        <p:grpSp>
          <p:nvGrpSpPr>
            <p:cNvPr id="10" name="组合 9"/>
            <p:cNvGrpSpPr/>
            <p:nvPr/>
          </p:nvGrpSpPr>
          <p:grpSpPr>
            <a:xfrm>
              <a:off x="388308" y="3315312"/>
              <a:ext cx="8193324" cy="666750"/>
              <a:chOff x="358403" y="2762250"/>
              <a:chExt cx="8193324" cy="666750"/>
            </a:xfrm>
          </p:grpSpPr>
          <p:graphicFrame>
            <p:nvGraphicFramePr>
              <p:cNvPr id="43011" name="Object 3"/>
              <p:cNvGraphicFramePr>
                <a:graphicFrameLocks noChangeAspect="1"/>
              </p:cNvGraphicFramePr>
              <p:nvPr/>
            </p:nvGraphicFramePr>
            <p:xfrm>
              <a:off x="6682287" y="2762250"/>
              <a:ext cx="1869440" cy="666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61" name="Equation" r:id="rId9" imgW="698500" imgH="279400" progId="Equation.DSMT4">
                      <p:embed/>
                    </p:oleObj>
                  </mc:Choice>
                  <mc:Fallback>
                    <p:oleObj name="Equation" r:id="rId9" imgW="698500" imgH="279400" progId="Equation.DSMT4">
                      <p:embed/>
                      <p:pic>
                        <p:nvPicPr>
                          <p:cNvPr id="0" name="Object 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6682287" y="2762250"/>
                            <a:ext cx="1869440" cy="666750"/>
                          </a:xfrm>
                          <a:prstGeom prst="rect">
                            <a:avLst/>
                          </a:prstGeom>
                          <a:solidFill>
                            <a:srgbClr val="CCFFCC"/>
                          </a:solidFill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Text Box 6"/>
              <p:cNvSpPr txBox="1">
                <a:spLocks noChangeArrowheads="1"/>
              </p:cNvSpPr>
              <p:nvPr/>
            </p:nvSpPr>
            <p:spPr bwMode="auto">
              <a:xfrm>
                <a:off x="358403" y="2800647"/>
                <a:ext cx="6192688" cy="5340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en-US" altLang="zh-TW" sz="2400" b="0" dirty="0">
                    <a:solidFill>
                      <a:srgbClr val="00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Circuital theorem of electrostatic field </a:t>
                </a:r>
                <a:r>
                  <a:rPr lang="zh-CN" altLang="en-US" sz="2400" dirty="0">
                    <a:solidFill>
                      <a:srgbClr val="0033CC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环路定理</a:t>
                </a:r>
                <a:endParaRPr lang="en-US" altLang="zh-CN" sz="2400" dirty="0">
                  <a:solidFill>
                    <a:srgbClr val="0033CC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2" name="Object 3"/>
            <p:cNvGraphicFramePr>
              <a:graphicFrameLocks noChangeAspect="1"/>
            </p:cNvGraphicFramePr>
            <p:nvPr/>
          </p:nvGraphicFramePr>
          <p:xfrm>
            <a:off x="6661074" y="2475451"/>
            <a:ext cx="1971675" cy="666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2" name="Equation" r:id="rId11" imgW="17678400" imgH="6705600" progId="Equation.DSMT4">
                    <p:embed/>
                  </p:oleObj>
                </mc:Choice>
                <mc:Fallback>
                  <p:oleObj name="Equation" r:id="rId11" imgW="17678400" imgH="6705600" progId="Equation.DSMT4">
                    <p:embed/>
                    <p:pic>
                      <p:nvPicPr>
                        <p:cNvPr id="0" name="Object 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661074" y="2475451"/>
                          <a:ext cx="1971675" cy="66675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156266" y="2924925"/>
            <a:ext cx="23764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TW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Unit:</a:t>
            </a:r>
            <a:r>
              <a:rPr lang="en-US" altLang="zh-TW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V = 1 J/C</a:t>
            </a:r>
            <a:endParaRPr lang="en-US" altLang="zh-CN" sz="2400" b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653824" y="1917338"/>
          <a:ext cx="8937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4" imgW="10668000" imgH="10058400" progId="Equation.DSMT4">
                  <p:embed/>
                </p:oleObj>
              </mc:Choice>
              <mc:Fallback>
                <p:oleObj name="Equation" r:id="rId4" imgW="10668000" imgH="100584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3824" y="1917338"/>
                        <a:ext cx="893763" cy="8413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06651" y="1951356"/>
            <a:ext cx="39655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 difference </a:t>
            </a:r>
            <a:r>
              <a:rPr lang="en-US" altLang="zh-CN" sz="24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19"/>
          <p:cNvGraphicFramePr>
            <a:graphicFrameLocks noChangeAspect="1"/>
          </p:cNvGraphicFramePr>
          <p:nvPr/>
        </p:nvGraphicFramePr>
        <p:xfrm>
          <a:off x="6372435" y="1844424"/>
          <a:ext cx="1301452" cy="825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6" imgW="15849600" imgH="10058400" progId="Equation.DSMT4">
                  <p:embed/>
                </p:oleObj>
              </mc:Choice>
              <mc:Fallback>
                <p:oleObj name="Equation" r:id="rId6" imgW="15849600" imgH="10058400" progId="Equation.DSMT4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72435" y="1844424"/>
                        <a:ext cx="1301452" cy="8254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251433" y="836713"/>
            <a:ext cx="8565864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potential energy </a:t>
            </a:r>
            <a:r>
              <a:rPr lang="en-US" altLang="zh-CN" sz="24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unit charge at a point 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 electric field set up by other objects is called the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 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field.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46400" y="273601"/>
            <a:ext cx="4104456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(2) Electric potential </a:t>
            </a:r>
            <a:r>
              <a:rPr lang="zh-CN" altLang="en-US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电势</a:t>
            </a:r>
            <a:endParaRPr lang="en-US" altLang="zh-CN" sz="24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51433" y="3631084"/>
            <a:ext cx="8720220" cy="246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▲ 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associated with the 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electric field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▲ The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charged object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up electric potential </a:t>
            </a:r>
            <a:r>
              <a:rPr lang="en-US" altLang="zh-CN" sz="24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points throughout its electric field. </a:t>
            </a:r>
          </a:p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▲ If we place a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charged particle </a:t>
            </a:r>
            <a:r>
              <a:rPr lang="en-US" altLang="zh-CN" sz="24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point where we know the pre-existing 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can immediately find the 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potential energy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configuration.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735" name="Object 159"/>
          <p:cNvGraphicFramePr>
            <a:graphicFrameLocks noChangeAspect="1"/>
          </p:cNvGraphicFramePr>
          <p:nvPr/>
        </p:nvGraphicFramePr>
        <p:xfrm>
          <a:off x="3439846" y="6009352"/>
          <a:ext cx="1261008" cy="504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8" imgW="12192000" imgH="4876800" progId="Equation.DSMT4">
                  <p:embed/>
                </p:oleObj>
              </mc:Choice>
              <mc:Fallback>
                <p:oleObj name="Equation" r:id="rId8" imgW="12192000" imgH="4876800" progId="Equation.DSMT4">
                  <p:embed/>
                  <p:pic>
                    <p:nvPicPr>
                      <p:cNvPr id="0" name="Object 159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39846" y="6009352"/>
                        <a:ext cx="1261008" cy="50440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2"/>
          <p:cNvGraphicFramePr>
            <a:graphicFrameLocks noChangeAspect="1"/>
          </p:cNvGraphicFramePr>
          <p:nvPr/>
        </p:nvGraphicFramePr>
        <p:xfrm>
          <a:off x="2555875" y="2564765"/>
          <a:ext cx="3028950" cy="969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0" imgW="1524000" imgH="482600" progId="Equation.DSMT4">
                  <p:embed/>
                </p:oleObj>
              </mc:Choice>
              <mc:Fallback>
                <p:oleObj name="Equation" r:id="rId10" imgW="1524000" imgH="4826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55875" y="2564765"/>
                        <a:ext cx="3028950" cy="96901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8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431" name="Object 79"/>
          <p:cNvGraphicFramePr>
            <a:graphicFrameLocks noChangeAspect="1"/>
          </p:cNvGraphicFramePr>
          <p:nvPr/>
        </p:nvGraphicFramePr>
        <p:xfrm>
          <a:off x="3789633" y="2905673"/>
          <a:ext cx="16668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3" imgW="18288000" imgH="4267200" progId="Equation.DSMT4">
                  <p:embed/>
                </p:oleObj>
              </mc:Choice>
              <mc:Fallback>
                <p:oleObj name="Equation" r:id="rId3" imgW="18288000" imgH="4267200" progId="Equation.DSMT4">
                  <p:embed/>
                  <p:pic>
                    <p:nvPicPr>
                      <p:cNvPr id="0" name="Object 7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9633" y="2905673"/>
                        <a:ext cx="1666875" cy="388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436" name="Object 84"/>
          <p:cNvGraphicFramePr>
            <a:graphicFrameLocks noChangeAspect="1"/>
          </p:cNvGraphicFramePr>
          <p:nvPr/>
        </p:nvGraphicFramePr>
        <p:xfrm>
          <a:off x="407782" y="3542294"/>
          <a:ext cx="310659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5" imgW="32308800" imgH="4876800" progId="Equation.DSMT4">
                  <p:embed/>
                </p:oleObj>
              </mc:Choice>
              <mc:Fallback>
                <p:oleObj name="Equation" r:id="rId5" imgW="32308800" imgH="4876800" progId="Equation.DSMT4">
                  <p:embed/>
                  <p:pic>
                    <p:nvPicPr>
                      <p:cNvPr id="0" name="Object 8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782" y="3542294"/>
                        <a:ext cx="310659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438" name="Object 86"/>
          <p:cNvGraphicFramePr>
            <a:graphicFrameLocks noChangeAspect="1"/>
          </p:cNvGraphicFramePr>
          <p:nvPr/>
        </p:nvGraphicFramePr>
        <p:xfrm>
          <a:off x="448881" y="2909243"/>
          <a:ext cx="15970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7" imgW="15240000" imgH="4267200" progId="Equation.DSMT4">
                  <p:embed/>
                </p:oleObj>
              </mc:Choice>
              <mc:Fallback>
                <p:oleObj name="Equation" r:id="rId7" imgW="15240000" imgH="4267200" progId="Equation.DSMT4">
                  <p:embed/>
                  <p:pic>
                    <p:nvPicPr>
                      <p:cNvPr id="0" name="Object 8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8881" y="2909243"/>
                        <a:ext cx="1597025" cy="446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/>
          <p:nvPr/>
        </p:nvGrpSpPr>
        <p:grpSpPr bwMode="auto">
          <a:xfrm>
            <a:off x="6369241" y="3149512"/>
            <a:ext cx="2110464" cy="2748721"/>
            <a:chOff x="2880" y="278"/>
            <a:chExt cx="998" cy="1474"/>
          </a:xfrm>
        </p:grpSpPr>
        <p:sp>
          <p:nvSpPr>
            <p:cNvPr id="6156" name="Rectangle 23"/>
            <p:cNvSpPr>
              <a:spLocks noChangeArrowheads="1"/>
            </p:cNvSpPr>
            <p:nvPr/>
          </p:nvSpPr>
          <p:spPr bwMode="auto">
            <a:xfrm>
              <a:off x="2880" y="278"/>
              <a:ext cx="998" cy="14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graphicFrame>
          <p:nvGraphicFramePr>
            <p:cNvPr id="6157" name="Object 59"/>
            <p:cNvGraphicFramePr>
              <a:graphicFrameLocks noChangeAspect="1"/>
            </p:cNvGraphicFramePr>
            <p:nvPr/>
          </p:nvGraphicFramePr>
          <p:xfrm>
            <a:off x="2904" y="1049"/>
            <a:ext cx="17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7" name="Equation" r:id="rId9" imgW="3352800" imgH="6096000" progId="Equation.DSMT4">
                    <p:embed/>
                  </p:oleObj>
                </mc:Choice>
                <mc:Fallback>
                  <p:oleObj name="Equation" r:id="rId9" imgW="3352800" imgH="6096000" progId="Equation.DSMT4">
                    <p:embed/>
                    <p:pic>
                      <p:nvPicPr>
                        <p:cNvPr id="0" name="Object 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04" y="1049"/>
                          <a:ext cx="177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8" name="Oval 25"/>
            <p:cNvSpPr>
              <a:spLocks noChangeArrowheads="1"/>
            </p:cNvSpPr>
            <p:nvPr/>
          </p:nvSpPr>
          <p:spPr bwMode="auto">
            <a:xfrm>
              <a:off x="3467" y="1395"/>
              <a:ext cx="181" cy="279"/>
            </a:xfrm>
            <a:prstGeom prst="ellipse">
              <a:avLst/>
            </a:prstGeom>
            <a:solidFill>
              <a:srgbClr val="B3B7EB"/>
            </a:solidFill>
            <a:ln w="9525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sp>
          <p:nvSpPr>
            <p:cNvPr id="6159" name="Text Box 26"/>
            <p:cNvSpPr txBox="1">
              <a:spLocks noChangeArrowheads="1"/>
            </p:cNvSpPr>
            <p:nvPr/>
          </p:nvSpPr>
          <p:spPr bwMode="auto">
            <a:xfrm>
              <a:off x="3464" y="1418"/>
              <a:ext cx="17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dirty="0">
                  <a:solidFill>
                    <a:schemeClr val="accent2"/>
                  </a:solidFill>
                  <a:latin typeface="Calibri" panose="020F0502020204030204" charset="0"/>
                </a:rPr>
                <a:t>-e</a:t>
              </a:r>
            </a:p>
          </p:txBody>
        </p:sp>
        <p:sp>
          <p:nvSpPr>
            <p:cNvPr id="6160" name="Line 27"/>
            <p:cNvSpPr>
              <a:spLocks noChangeShapeType="1"/>
            </p:cNvSpPr>
            <p:nvPr/>
          </p:nvSpPr>
          <p:spPr bwMode="auto">
            <a:xfrm flipH="1">
              <a:off x="3562" y="1094"/>
              <a:ext cx="0" cy="3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61" name="Object 75"/>
            <p:cNvGraphicFramePr>
              <a:graphicFrameLocks noChangeAspect="1"/>
            </p:cNvGraphicFramePr>
            <p:nvPr/>
          </p:nvGraphicFramePr>
          <p:xfrm>
            <a:off x="3611" y="1049"/>
            <a:ext cx="17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8" name="Equation" r:id="rId11" imgW="3352800" imgH="6096000" progId="Equation.DSMT4">
                    <p:embed/>
                  </p:oleObj>
                </mc:Choice>
                <mc:Fallback>
                  <p:oleObj name="Equation" r:id="rId11" imgW="3352800" imgH="6096000" progId="Equation.DSMT4">
                    <p:embed/>
                    <p:pic>
                      <p:nvPicPr>
                        <p:cNvPr id="0" name="Object 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11" y="1049"/>
                          <a:ext cx="177" cy="3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2" name="Line 28"/>
            <p:cNvSpPr>
              <a:spLocks noChangeShapeType="1"/>
            </p:cNvSpPr>
            <p:nvPr/>
          </p:nvSpPr>
          <p:spPr bwMode="auto">
            <a:xfrm flipV="1">
              <a:off x="3131" y="391"/>
              <a:ext cx="0" cy="115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319088" y="425451"/>
            <a:ext cx="8501384" cy="17145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uniform electric field </a:t>
            </a:r>
            <a:r>
              <a:rPr lang="en-US" altLang="zh-CN" sz="22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 = 150 N/C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electron moves a distance  </a:t>
            </a:r>
            <a:r>
              <a:rPr lang="en-US" altLang="zh-CN" sz="22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 = 5.20 m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 the opposite direction of the field.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</a:t>
            </a:r>
            <a:r>
              <a:rPr lang="en-US" altLang="zh-CN" sz="22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the electric potential energy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electron?  </a:t>
            </a:r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</a:t>
            </a:r>
            <a:r>
              <a:rPr lang="en-US" altLang="zh-CN" sz="22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the electric potential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field?  </a:t>
            </a:r>
          </a:p>
        </p:txBody>
      </p:sp>
      <p:sp>
        <p:nvSpPr>
          <p:cNvPr id="2070" name="Text Box 22"/>
          <p:cNvSpPr txBox="1">
            <a:spLocks noChangeArrowheads="1"/>
          </p:cNvSpPr>
          <p:nvPr/>
        </p:nvSpPr>
        <p:spPr bwMode="auto">
          <a:xfrm>
            <a:off x="623429" y="2240960"/>
            <a:ext cx="1939926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Solution:  (a)</a:t>
            </a:r>
          </a:p>
        </p:txBody>
      </p:sp>
      <p:graphicFrame>
        <p:nvGraphicFramePr>
          <p:cNvPr id="33" name="Object 79"/>
          <p:cNvGraphicFramePr>
            <a:graphicFrameLocks noChangeAspect="1"/>
          </p:cNvGraphicFramePr>
          <p:nvPr/>
        </p:nvGraphicFramePr>
        <p:xfrm>
          <a:off x="1763689" y="5678574"/>
          <a:ext cx="2777285" cy="439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13" imgW="27127200" imgH="4267200" progId="Equation.DSMT4">
                  <p:embed/>
                </p:oleObj>
              </mc:Choice>
              <mc:Fallback>
                <p:oleObj name="Equation" r:id="rId13" imgW="27127200" imgH="4267200" progId="Equation.DSMT4">
                  <p:embed/>
                  <p:pic>
                    <p:nvPicPr>
                      <p:cNvPr id="0" name="Object 7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63689" y="5678574"/>
                        <a:ext cx="2777285" cy="4393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826057" y="4723774"/>
          <a:ext cx="27892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15" imgW="27736800" imgH="4876800" progId="Equation.DSMT4">
                  <p:embed/>
                </p:oleObj>
              </mc:Choice>
              <mc:Fallback>
                <p:oleObj name="Equation" r:id="rId15" imgW="27736800" imgH="4876800" progId="Equation.DSMT4">
                  <p:embed/>
                  <p:pic>
                    <p:nvPicPr>
                      <p:cNvPr id="0" name="Object 2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6057" y="4723774"/>
                        <a:ext cx="2789237" cy="4889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660833" y="4173325"/>
            <a:ext cx="542684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electron-volt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电子伏特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 of energy</a:t>
            </a:r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9" name="Object 84"/>
          <p:cNvGraphicFramePr>
            <a:graphicFrameLocks noChangeAspect="1"/>
          </p:cNvGraphicFramePr>
          <p:nvPr/>
        </p:nvGraphicFramePr>
        <p:xfrm>
          <a:off x="3730277" y="3592580"/>
          <a:ext cx="2423065" cy="41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17" imgW="24993600" imgH="4267200" progId="Equation.DSMT4">
                  <p:embed/>
                </p:oleObj>
              </mc:Choice>
              <mc:Fallback>
                <p:oleObj name="Equation" r:id="rId17" imgW="24993600" imgH="4267200" progId="Equation.DSMT4">
                  <p:embed/>
                  <p:pic>
                    <p:nvPicPr>
                      <p:cNvPr id="0" name="Object 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30277" y="3592580"/>
                        <a:ext cx="2423065" cy="412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955005" y="5678574"/>
            <a:ext cx="666736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6180163" y="2019506"/>
          <a:ext cx="268922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19" imgW="49987200" imgH="11582400" progId="Equation.DSMT4">
                  <p:embed/>
                </p:oleObj>
              </mc:Choice>
              <mc:Fallback>
                <p:oleObj name="Equation" r:id="rId19" imgW="49987200" imgH="115824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80163" y="2019506"/>
                        <a:ext cx="2689225" cy="6302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0" grpId="0"/>
      <p:bldP spid="35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/>
          <p:cNvSpPr txBox="1">
            <a:spLocks noChangeArrowheads="1"/>
          </p:cNvSpPr>
          <p:nvPr/>
        </p:nvSpPr>
        <p:spPr bwMode="auto">
          <a:xfrm>
            <a:off x="467886" y="476673"/>
            <a:ext cx="552069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0" dirty="0">
                <a:solidFill>
                  <a:srgbClr val="FF9933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kumimoji="1" lang="en-US" altLang="zh-CN" sz="2400" b="0" dirty="0">
                <a:solidFill>
                  <a:srgbClr val="003399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The </a:t>
            </a:r>
            <a:r>
              <a:rPr kumimoji="1"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ea typeface="华文楷体" panose="02010600040101010101" pitchFamily="2" charset="-122"/>
                <a:cs typeface="Times New Roman" panose="02020603050405020304" pitchFamily="18" charset="0"/>
              </a:rPr>
              <a:t>reference point </a:t>
            </a:r>
            <a:r>
              <a:rPr kumimoji="1" lang="en-US" altLang="zh-CN" sz="2400" b="0" dirty="0">
                <a:solidFill>
                  <a:srgbClr val="003399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cannot be at  </a:t>
            </a:r>
            <a:r>
              <a:rPr kumimoji="1" lang="zh-CN" altLang="en-US" sz="2400" b="0" dirty="0">
                <a:solidFill>
                  <a:srgbClr val="003399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 </a:t>
            </a:r>
            <a:r>
              <a:rPr kumimoji="1" lang="en-US" altLang="zh-CN" sz="2400" b="0" dirty="0">
                <a:solidFill>
                  <a:srgbClr val="003399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or 0.</a:t>
            </a:r>
            <a:endParaRPr kumimoji="1" lang="zh-CN" altLang="en-US" sz="2400" b="0" dirty="0">
              <a:solidFill>
                <a:srgbClr val="0033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55059" y="1340769"/>
          <a:ext cx="2478087" cy="286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75285600" imgH="87477600" progId="Equation.DSMT4">
                  <p:embed/>
                </p:oleObj>
              </mc:Choice>
              <mc:Fallback>
                <p:oleObj name="Equation" r:id="rId3" imgW="75285600" imgH="87477600" progId="Equation.DSMT4">
                  <p:embed/>
                  <p:pic>
                    <p:nvPicPr>
                      <p:cNvPr id="0" name="对象 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5059" y="1340769"/>
                        <a:ext cx="2478087" cy="286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1"/>
          <p:cNvSpPr txBox="1">
            <a:spLocks noChangeArrowheads="1"/>
          </p:cNvSpPr>
          <p:nvPr/>
        </p:nvSpPr>
        <p:spPr bwMode="auto">
          <a:xfrm>
            <a:off x="728287" y="4469134"/>
            <a:ext cx="768742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选择无穷远为零势能点的前提是</a:t>
            </a:r>
            <a:r>
              <a:rPr kumimoji="1" lang="zh-CN" altLang="en-US" sz="2400" dirty="0">
                <a:solidFill>
                  <a:srgbClr val="0000FF"/>
                </a:solidFill>
                <a:highlight>
                  <a:srgbClr val="FFFF00"/>
                </a:highlight>
                <a:ea typeface="华文楷体" panose="02010600040101010101" pitchFamily="2" charset="-122"/>
                <a:cs typeface="Times New Roman" panose="02020603050405020304" pitchFamily="18" charset="0"/>
              </a:rPr>
              <a:t>带电体几何尺寸有限</a:t>
            </a:r>
            <a:r>
              <a:rPr kumimoji="1" lang="zh-CN" altLang="en-US" sz="2400" b="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4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22"/>
          <p:cNvGrpSpPr/>
          <p:nvPr/>
        </p:nvGrpSpPr>
        <p:grpSpPr bwMode="auto">
          <a:xfrm>
            <a:off x="5806128" y="1645922"/>
            <a:ext cx="3024336" cy="2865452"/>
            <a:chOff x="5500688" y="2030413"/>
            <a:chExt cx="3378200" cy="3398837"/>
          </a:xfrm>
        </p:grpSpPr>
        <p:pic>
          <p:nvPicPr>
            <p:cNvPr id="19" name="图片 47" descr="F25_13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764"/>
            <a:stretch>
              <a:fillRect/>
            </a:stretch>
          </p:blipFill>
          <p:spPr bwMode="auto">
            <a:xfrm>
              <a:off x="5500688" y="2030413"/>
              <a:ext cx="3378200" cy="3398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" name="Group 10"/>
            <p:cNvGrpSpPr/>
            <p:nvPr/>
          </p:nvGrpSpPr>
          <p:grpSpPr bwMode="auto">
            <a:xfrm>
              <a:off x="5735638" y="2214563"/>
              <a:ext cx="1811337" cy="2847976"/>
              <a:chOff x="144" y="721"/>
              <a:chExt cx="1141" cy="1794"/>
            </a:xfrm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858" y="2116"/>
                <a:ext cx="96" cy="96"/>
              </a:xfrm>
              <a:prstGeom prst="rect">
                <a:avLst/>
              </a:prstGeom>
              <a:solidFill>
                <a:srgbClr val="3F2181"/>
              </a:solidFill>
              <a:ln w="19050">
                <a:solidFill>
                  <a:srgbClr val="3F2181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en-US" altLang="zh-CN" sz="2100" b="0">
                  <a:solidFill>
                    <a:srgbClr val="003366"/>
                  </a:solidFill>
                </a:endParaRP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864" y="22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>
                <a:off x="954" y="22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4" name="AutoShape 19"/>
              <p:cNvCxnSpPr>
                <a:cxnSpLocks noChangeShapeType="1"/>
              </p:cNvCxnSpPr>
              <p:nvPr/>
            </p:nvCxnSpPr>
            <p:spPr bwMode="auto">
              <a:xfrm>
                <a:off x="189" y="2295"/>
                <a:ext cx="630" cy="1"/>
              </a:xfrm>
              <a:prstGeom prst="straightConnector1">
                <a:avLst/>
              </a:prstGeom>
              <a:noFill/>
              <a:ln w="31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5" name="Text Box 20"/>
              <p:cNvSpPr txBox="1">
                <a:spLocks noChangeArrowheads="1"/>
              </p:cNvSpPr>
              <p:nvPr/>
            </p:nvSpPr>
            <p:spPr bwMode="auto">
              <a:xfrm>
                <a:off x="493" y="2169"/>
                <a:ext cx="233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dirty="0">
                    <a:solidFill>
                      <a:srgbClr val="003366"/>
                    </a:solidFill>
                  </a:rPr>
                  <a:t>x</a:t>
                </a:r>
              </a:p>
            </p:txBody>
          </p:sp>
          <p:sp>
            <p:nvSpPr>
              <p:cNvPr id="26" name="Text Box 21"/>
              <p:cNvSpPr txBox="1">
                <a:spLocks noChangeArrowheads="1"/>
              </p:cNvSpPr>
              <p:nvPr/>
            </p:nvSpPr>
            <p:spPr bwMode="auto">
              <a:xfrm>
                <a:off x="937" y="2206"/>
                <a:ext cx="348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dirty="0">
                    <a:solidFill>
                      <a:srgbClr val="003366"/>
                    </a:solidFill>
                  </a:rPr>
                  <a:t>dx</a:t>
                </a:r>
              </a:p>
            </p:txBody>
          </p:sp>
          <p:sp>
            <p:nvSpPr>
              <p:cNvPr id="27" name="Line 22"/>
              <p:cNvSpPr>
                <a:spLocks noChangeShapeType="1"/>
              </p:cNvSpPr>
              <p:nvPr/>
            </p:nvSpPr>
            <p:spPr bwMode="auto">
              <a:xfrm flipH="1" flipV="1">
                <a:off x="144" y="721"/>
                <a:ext cx="765" cy="1395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583" y="1255"/>
                <a:ext cx="20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dirty="0">
                    <a:solidFill>
                      <a:srgbClr val="003366"/>
                    </a:solidFill>
                  </a:rPr>
                  <a:t>r</a:t>
                </a:r>
              </a:p>
            </p:txBody>
          </p:sp>
        </p:grpSp>
      </p:grpSp>
      <p:graphicFrame>
        <p:nvGraphicFramePr>
          <p:cNvPr id="31" name="Object 1057"/>
          <p:cNvGraphicFramePr>
            <a:graphicFrameLocks noChangeAspect="1"/>
          </p:cNvGraphicFramePr>
          <p:nvPr/>
        </p:nvGraphicFramePr>
        <p:xfrm>
          <a:off x="620043" y="1372234"/>
          <a:ext cx="3424411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4" imgW="41148000" imgH="12801600" progId="Equation.DSMT4">
                  <p:embed/>
                </p:oleObj>
              </mc:Choice>
              <mc:Fallback>
                <p:oleObj name="Equation" r:id="rId4" imgW="41148000" imgH="12801600" progId="Equation.DSMT4">
                  <p:embed/>
                  <p:pic>
                    <p:nvPicPr>
                      <p:cNvPr id="0" name="Object 1057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0043" y="1372234"/>
                        <a:ext cx="3424411" cy="108108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322076" y="377868"/>
            <a:ext cx="8462963" cy="76835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6: 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electric potential calculate the electric field of a line of charge at point </a:t>
            </a:r>
            <a:r>
              <a:rPr lang="en-US" altLang="zh-CN" sz="22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 (</a:t>
            </a:r>
            <a:r>
              <a:rPr lang="en-US" altLang="zh-CN" sz="22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perpendicular distance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altLang="zh-CN" sz="22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end</a:t>
            </a:r>
            <a:r>
              <a:rPr lang="en-US" altLang="zh-CN" sz="22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graphicFrame>
        <p:nvGraphicFramePr>
          <p:cNvPr id="36" name="Object 1057"/>
          <p:cNvGraphicFramePr>
            <a:graphicFrameLocks noChangeAspect="1"/>
          </p:cNvGraphicFramePr>
          <p:nvPr/>
        </p:nvGraphicFramePr>
        <p:xfrm>
          <a:off x="620042" y="4940096"/>
          <a:ext cx="5186086" cy="115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6" imgW="60960000" imgH="13411200" progId="Equation.DSMT4">
                  <p:embed/>
                </p:oleObj>
              </mc:Choice>
              <mc:Fallback>
                <p:oleObj name="Equation" r:id="rId6" imgW="60960000" imgH="13411200" progId="Equation.DSMT4">
                  <p:embed/>
                  <p:pic>
                    <p:nvPicPr>
                      <p:cNvPr id="0" name="Object 1057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0042" y="4940096"/>
                        <a:ext cx="5186086" cy="115530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620042" y="2691437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point </a:t>
            </a:r>
            <a:r>
              <a:rPr lang="en-US" altLang="zh-CN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P(0,y)</a:t>
            </a:r>
            <a:endParaRPr lang="zh-CN" altLang="en-US" sz="24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0" name="Object 1057"/>
          <p:cNvGraphicFramePr>
            <a:graphicFrameLocks noChangeAspect="1"/>
          </p:cNvGraphicFramePr>
          <p:nvPr/>
        </p:nvGraphicFramePr>
        <p:xfrm>
          <a:off x="620043" y="3517574"/>
          <a:ext cx="3374495" cy="1133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8" imgW="40843200" imgH="13411200" progId="Equation.DSMT4">
                  <p:embed/>
                </p:oleObj>
              </mc:Choice>
              <mc:Fallback>
                <p:oleObj name="Equation" r:id="rId8" imgW="40843200" imgH="13411200" progId="Equation.DSMT4">
                  <p:embed/>
                  <p:pic>
                    <p:nvPicPr>
                      <p:cNvPr id="0" name="Object 1057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0043" y="3517574"/>
                        <a:ext cx="3374495" cy="1133218"/>
                      </a:xfrm>
                      <a:prstGeom prst="rect">
                        <a:avLst/>
                      </a:prstGeom>
                      <a:noFill/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539552" y="1700808"/>
            <a:ext cx="8136904" cy="3449955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 and Capacitance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电容器和电容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Calculating Capacitance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计算电容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in Parallel and in Series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电容并联和串联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of Electric Field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电场的能量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 with a Dielectric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电介质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Gauss’ Law in Dielectric 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电介质中的高斯定理</a:t>
            </a:r>
            <a:endParaRPr lang="en-US" altLang="zh-CN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29036" y="476672"/>
            <a:ext cx="5245968" cy="648072"/>
          </a:xfrm>
          <a:prstGeom prst="rect">
            <a:avLst/>
          </a:prstGeo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25 Capacitance</a:t>
            </a:r>
            <a:endParaRPr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" y="304801"/>
            <a:ext cx="85344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Capacitance, Capacitor, Parallel-plate capacitance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Isolated conductors, Positive terminal, Negative terminal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Capacitors in parallel, Capacitors in series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capacitor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potential energy, Electric field energy density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Dielectric, Dielectric constant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 potential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 dielectrics, Nonpolar dielectrics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Gauss’ law with a dielectric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329616" y="1196752"/>
            <a:ext cx="8406534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capability of </a:t>
            </a:r>
            <a:r>
              <a:rPr lang="en-US" altLang="zh-TW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much charge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capacitor can store is called capacitance.</a:t>
            </a:r>
          </a:p>
        </p:txBody>
      </p:sp>
      <p:graphicFrame>
        <p:nvGraphicFramePr>
          <p:cNvPr id="3" name="Object 42"/>
          <p:cNvGraphicFramePr/>
          <p:nvPr/>
        </p:nvGraphicFramePr>
        <p:xfrm>
          <a:off x="3707904" y="2108112"/>
          <a:ext cx="1061886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571500" imgH="469900" progId="Equation.DSMT4">
                  <p:embed/>
                </p:oleObj>
              </mc:Choice>
              <mc:Fallback>
                <p:oleObj name="Equation" r:id="rId3" imgW="571500" imgH="469900" progId="Equation.DSMT4">
                  <p:embed/>
                  <p:pic>
                    <p:nvPicPr>
                      <p:cNvPr id="0" name="Object 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7904" y="2108112"/>
                        <a:ext cx="1061886" cy="8651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" name="Text Box 25"/>
          <p:cNvSpPr txBox="1">
            <a:spLocks noChangeArrowheads="1"/>
          </p:cNvSpPr>
          <p:nvPr/>
        </p:nvSpPr>
        <p:spPr bwMode="auto">
          <a:xfrm>
            <a:off x="388862" y="3213984"/>
            <a:ext cx="8098823" cy="135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CN" sz="24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q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charge of a plate and </a:t>
            </a:r>
            <a:r>
              <a:rPr lang="en-US" altLang="zh-CN" sz="2400" b="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potential difference between the two plates. </a:t>
            </a:r>
          </a:p>
          <a:p>
            <a:pPr>
              <a:spcBef>
                <a:spcPts val="1200"/>
              </a:spcBef>
            </a:pPr>
            <a:r>
              <a:rPr lang="en-US" altLang="zh-CN" sz="2400" b="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only on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(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几何结构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conductor.</a:t>
            </a:r>
            <a:endParaRPr lang="en-US" altLang="zh-CN" sz="2400" b="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815171" y="4817506"/>
            <a:ext cx="50876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Unit:   farad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拉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  </a:t>
            </a:r>
            <a:r>
              <a:rPr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F = 1 C/V 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1043608" y="5661249"/>
            <a:ext cx="561610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F=10</a:t>
            </a:r>
            <a:r>
              <a:rPr kumimoji="1" lang="en-US" altLang="zh-CN" sz="2400" b="0" baseline="3000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-6</a:t>
            </a: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 F </a:t>
            </a:r>
            <a:r>
              <a:rPr kumimoji="1" lang="zh-CN" altLang="en-US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微法</a:t>
            </a: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        1pF= 10</a:t>
            </a:r>
            <a:r>
              <a:rPr kumimoji="1" lang="en-US" altLang="zh-CN" sz="2400" b="0" baseline="3000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-12</a:t>
            </a:r>
            <a:r>
              <a:rPr kumimoji="1" lang="en-US" altLang="zh-CN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 F </a:t>
            </a:r>
            <a:r>
              <a:rPr kumimoji="1" lang="zh-CN" altLang="en-US" sz="2400" b="0" dirty="0">
                <a:solidFill>
                  <a:srgbClr val="003366"/>
                </a:solidFill>
                <a:latin typeface="Times New Roman" panose="02020603050405020304" pitchFamily="18" charset="0"/>
                <a:ea typeface="文鼎特圆体简"/>
                <a:cs typeface="Times New Roman" panose="02020603050405020304" pitchFamily="18" charset="0"/>
              </a:rPr>
              <a:t>皮法</a:t>
            </a:r>
            <a:endParaRPr kumimoji="1" lang="en-US" altLang="zh-CN" sz="2400" b="0" dirty="0">
              <a:solidFill>
                <a:srgbClr val="003366"/>
              </a:solidFill>
              <a:latin typeface="Times New Roman" panose="02020603050405020304" pitchFamily="18" charset="0"/>
              <a:ea typeface="文鼎特圆体简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13939" y="456462"/>
            <a:ext cx="374387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TW" sz="28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Capacitance </a:t>
            </a:r>
            <a:r>
              <a:rPr lang="zh-CN" altLang="en-US" sz="2800" b="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</a:t>
            </a:r>
            <a:endParaRPr lang="en-US" altLang="zh-TW" sz="2800" b="0" u="sng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4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Object 9"/>
          <p:cNvGraphicFramePr>
            <a:graphicFrameLocks noChangeAspect="1"/>
          </p:cNvGraphicFramePr>
          <p:nvPr/>
        </p:nvGraphicFramePr>
        <p:xfrm>
          <a:off x="1835697" y="2670166"/>
          <a:ext cx="1949329" cy="90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3" imgW="22250400" imgH="10363200" progId="Equation.DSMT4">
                  <p:embed/>
                </p:oleObj>
              </mc:Choice>
              <mc:Fallback>
                <p:oleObj name="Equation" r:id="rId3" imgW="22250400" imgH="103632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7" y="2670166"/>
                        <a:ext cx="1949329" cy="906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78"/>
          <p:cNvGraphicFramePr>
            <a:graphicFrameLocks noChangeAspect="1"/>
          </p:cNvGraphicFramePr>
          <p:nvPr/>
        </p:nvGraphicFramePr>
        <p:xfrm>
          <a:off x="1259632" y="3831431"/>
          <a:ext cx="36449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5" imgW="43281600" imgH="11582400" progId="Equation.DSMT4">
                  <p:embed/>
                </p:oleObj>
              </mc:Choice>
              <mc:Fallback>
                <p:oleObj name="Equation" r:id="rId5" imgW="43281600" imgH="11582400" progId="Equation.DSMT4">
                  <p:embed/>
                  <p:pic>
                    <p:nvPicPr>
                      <p:cNvPr id="0" name="Object 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3831431"/>
                        <a:ext cx="364490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 Box 30"/>
          <p:cNvSpPr txBox="1">
            <a:spLocks noChangeArrowheads="1"/>
          </p:cNvSpPr>
          <p:nvPr/>
        </p:nvSpPr>
        <p:spPr bwMode="auto">
          <a:xfrm>
            <a:off x="509588" y="548681"/>
            <a:ext cx="5358556" cy="46037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u="sng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(3) Spherical Capacitor </a:t>
            </a:r>
            <a:r>
              <a:rPr lang="zh-CN" altLang="en-US" sz="2400" u="sng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球形电容器</a:t>
            </a:r>
            <a:endParaRPr lang="en-US" altLang="zh-CN" sz="2400" u="sng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31"/>
          <p:cNvSpPr/>
          <p:nvPr/>
        </p:nvSpPr>
        <p:spPr>
          <a:xfrm>
            <a:off x="778495" y="1458130"/>
            <a:ext cx="445600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capacitor consists of two </a:t>
            </a:r>
            <a:r>
              <a:rPr lang="en-US" altLang="zh-CN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spherical shells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radii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</p:txBody>
      </p:sp>
      <p:graphicFrame>
        <p:nvGraphicFramePr>
          <p:cNvPr id="94" name="Object 42"/>
          <p:cNvGraphicFramePr/>
          <p:nvPr/>
        </p:nvGraphicFramePr>
        <p:xfrm>
          <a:off x="1788010" y="5223669"/>
          <a:ext cx="20447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7" imgW="1130300" imgH="419100" progId="Equation.DSMT4">
                  <p:embed/>
                </p:oleObj>
              </mc:Choice>
              <mc:Fallback>
                <p:oleObj name="Equation" r:id="rId7" imgW="1130300" imgH="419100" progId="Equation.DSMT4">
                  <p:embed/>
                  <p:pic>
                    <p:nvPicPr>
                      <p:cNvPr id="0" name="Object 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88010" y="5223669"/>
                        <a:ext cx="2044700" cy="8747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42"/>
          <p:cNvGraphicFramePr/>
          <p:nvPr/>
        </p:nvGraphicFramePr>
        <p:xfrm>
          <a:off x="4272496" y="5387856"/>
          <a:ext cx="10636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9" imgW="12496800" imgH="4267200" progId="Equation.DSMT4">
                  <p:embed/>
                </p:oleObj>
              </mc:Choice>
              <mc:Fallback>
                <p:oleObj name="Equation" r:id="rId9" imgW="12496800" imgH="4267200" progId="Equation.DSMT4">
                  <p:embed/>
                  <p:pic>
                    <p:nvPicPr>
                      <p:cNvPr id="0" name="Object 4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2496" y="5387856"/>
                        <a:ext cx="1063625" cy="454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724129" y="747383"/>
            <a:ext cx="2575769" cy="2490663"/>
            <a:chOff x="6510627" y="1010345"/>
            <a:chExt cx="1933286" cy="1973263"/>
          </a:xfrm>
        </p:grpSpPr>
        <p:graphicFrame>
          <p:nvGraphicFramePr>
            <p:cNvPr id="31" name="Object 42"/>
            <p:cNvGraphicFramePr/>
            <p:nvPr/>
          </p:nvGraphicFramePr>
          <p:xfrm>
            <a:off x="7011393" y="1932592"/>
            <a:ext cx="344585" cy="287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" name="Equation" r:id="rId11" imgW="5181600" imgH="4267200" progId="Equation.DSMT4">
                    <p:embed/>
                  </p:oleObj>
                </mc:Choice>
                <mc:Fallback>
                  <p:oleObj name="Equation" r:id="rId11" imgW="5181600" imgH="4267200" progId="Equation.DSMT4">
                    <p:embed/>
                    <p:pic>
                      <p:nvPicPr>
                        <p:cNvPr id="0" name="Object 4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11393" y="1932592"/>
                          <a:ext cx="344585" cy="28730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" name="组合 23"/>
            <p:cNvGrpSpPr/>
            <p:nvPr/>
          </p:nvGrpSpPr>
          <p:grpSpPr bwMode="auto">
            <a:xfrm>
              <a:off x="6527800" y="1010345"/>
              <a:ext cx="1916113" cy="1973263"/>
              <a:chOff x="1143001" y="2857501"/>
              <a:chExt cx="2273300" cy="2155676"/>
            </a:xfrm>
          </p:grpSpPr>
          <p:sp>
            <p:nvSpPr>
              <p:cNvPr id="25" name="Oval 9"/>
              <p:cNvSpPr>
                <a:spLocks noChangeArrowheads="1"/>
              </p:cNvSpPr>
              <p:nvPr/>
            </p:nvSpPr>
            <p:spPr bwMode="auto">
              <a:xfrm>
                <a:off x="1692220" y="3726588"/>
                <a:ext cx="1174862" cy="450419"/>
              </a:xfrm>
              <a:prstGeom prst="ellipse">
                <a:avLst/>
              </a:prstGeom>
              <a:noFill/>
              <a:ln w="76200">
                <a:solidFill>
                  <a:srgbClr val="00B0F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0">
                  <a:latin typeface="Calibri" panose="020F0502020204030204" charset="0"/>
                </a:endParaRPr>
              </a:p>
            </p:txBody>
          </p:sp>
          <p:sp>
            <p:nvSpPr>
              <p:cNvPr id="26" name="Line 10"/>
              <p:cNvSpPr>
                <a:spLocks noChangeShapeType="1"/>
              </p:cNvSpPr>
              <p:nvPr/>
            </p:nvSpPr>
            <p:spPr bwMode="auto">
              <a:xfrm flipH="1" flipV="1">
                <a:off x="2279652" y="4021932"/>
                <a:ext cx="587431" cy="769829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Text Box 11"/>
              <p:cNvSpPr txBox="1">
                <a:spLocks noChangeArrowheads="1"/>
              </p:cNvSpPr>
              <p:nvPr/>
            </p:nvSpPr>
            <p:spPr bwMode="auto">
              <a:xfrm>
                <a:off x="2415660" y="4576503"/>
                <a:ext cx="349738" cy="358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b="0">
                    <a:solidFill>
                      <a:srgbClr val="FF3300"/>
                    </a:solidFill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28" name="Line 12"/>
              <p:cNvSpPr>
                <a:spLocks noChangeShapeType="1"/>
              </p:cNvSpPr>
              <p:nvPr/>
            </p:nvSpPr>
            <p:spPr bwMode="auto">
              <a:xfrm flipH="1">
                <a:off x="2306553" y="3494086"/>
                <a:ext cx="309182" cy="510977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2437184" y="3606434"/>
                <a:ext cx="274609" cy="358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b="0">
                    <a:solidFill>
                      <a:srgbClr val="FF3300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30" name="Oval 22"/>
              <p:cNvSpPr>
                <a:spLocks noChangeArrowheads="1"/>
              </p:cNvSpPr>
              <p:nvPr/>
            </p:nvSpPr>
            <p:spPr bwMode="auto">
              <a:xfrm>
                <a:off x="1143001" y="2857501"/>
                <a:ext cx="2273300" cy="2155676"/>
              </a:xfrm>
              <a:prstGeom prst="ellipse">
                <a:avLst/>
              </a:prstGeom>
              <a:noFill/>
              <a:ln w="76200">
                <a:solidFill>
                  <a:srgbClr val="7030A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</p:grpSp>
        <p:graphicFrame>
          <p:nvGraphicFramePr>
            <p:cNvPr id="32" name="Object 42"/>
            <p:cNvGraphicFramePr/>
            <p:nvPr/>
          </p:nvGraphicFramePr>
          <p:xfrm>
            <a:off x="6510627" y="2670165"/>
            <a:ext cx="296101" cy="2940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name="Equation" r:id="rId13" imgW="5181600" imgH="3962400" progId="Equation.DSMT4">
                    <p:embed/>
                  </p:oleObj>
                </mc:Choice>
                <mc:Fallback>
                  <p:oleObj name="Equation" r:id="rId13" imgW="5181600" imgH="3962400" progId="Equation.DSMT4">
                    <p:embed/>
                    <p:pic>
                      <p:nvPicPr>
                        <p:cNvPr id="0" name="Object 4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510627" y="2670165"/>
                          <a:ext cx="296101" cy="29405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5582392" y="3655551"/>
            <a:ext cx="3208116" cy="2840289"/>
            <a:chOff x="5582392" y="3655551"/>
            <a:chExt cx="3208116" cy="2840289"/>
          </a:xfrm>
        </p:grpSpPr>
        <p:pic>
          <p:nvPicPr>
            <p:cNvPr id="6172" name="Picture 28" descr="See the source image"/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50" t="3800" r="20451" b="8001"/>
            <a:stretch>
              <a:fillRect/>
            </a:stretch>
          </p:blipFill>
          <p:spPr bwMode="auto">
            <a:xfrm>
              <a:off x="5582392" y="3655551"/>
              <a:ext cx="1268019" cy="2780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文本框 18"/>
            <p:cNvSpPr txBox="1"/>
            <p:nvPr/>
          </p:nvSpPr>
          <p:spPr>
            <a:xfrm>
              <a:off x="6853123" y="5389035"/>
              <a:ext cx="1937385" cy="1106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2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Large radius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en-US" altLang="zh-CN" sz="2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Narrow gap</a:t>
              </a:r>
              <a:endPara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/>
          <p:nvPr/>
        </p:nvSpPr>
        <p:spPr>
          <a:xfrm>
            <a:off x="323528" y="548681"/>
            <a:ext cx="864096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a combination of capacitors in a circuit, we can replace that combination with an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equivalent capacitor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等效电容器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51520" y="1556793"/>
            <a:ext cx="482801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4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Capacitors in Parallel </a:t>
            </a:r>
            <a:r>
              <a:rPr lang="zh-CN" altLang="en-US" sz="24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并联</a:t>
            </a:r>
            <a:endParaRPr lang="en-US" altLang="zh-CN" sz="2400" u="sng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71"/>
          <p:cNvGrpSpPr/>
          <p:nvPr/>
        </p:nvGrpSpPr>
        <p:grpSpPr bwMode="auto">
          <a:xfrm>
            <a:off x="1691681" y="2348881"/>
            <a:ext cx="5209033" cy="2049121"/>
            <a:chOff x="214313" y="1714500"/>
            <a:chExt cx="4465637" cy="1260476"/>
          </a:xfrm>
        </p:grpSpPr>
        <p:sp>
          <p:nvSpPr>
            <p:cNvPr id="11306" name="Line 7"/>
            <p:cNvSpPr>
              <a:spLocks noChangeShapeType="1"/>
            </p:cNvSpPr>
            <p:nvPr/>
          </p:nvSpPr>
          <p:spPr bwMode="auto">
            <a:xfrm flipH="1">
              <a:off x="468313" y="1714500"/>
              <a:ext cx="36353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Line 8"/>
            <p:cNvSpPr>
              <a:spLocks noChangeShapeType="1"/>
            </p:cNvSpPr>
            <p:nvPr/>
          </p:nvSpPr>
          <p:spPr bwMode="auto">
            <a:xfrm rot="-5400000">
              <a:off x="4104482" y="1967706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Line 9"/>
            <p:cNvSpPr>
              <a:spLocks noChangeShapeType="1"/>
            </p:cNvSpPr>
            <p:nvPr/>
          </p:nvSpPr>
          <p:spPr bwMode="auto">
            <a:xfrm rot="-5400000">
              <a:off x="4104482" y="2220119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Line 10"/>
            <p:cNvSpPr>
              <a:spLocks noChangeShapeType="1"/>
            </p:cNvSpPr>
            <p:nvPr/>
          </p:nvSpPr>
          <p:spPr bwMode="auto">
            <a:xfrm rot="16200000" flipH="1">
              <a:off x="3852069" y="2723357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Line 11"/>
            <p:cNvSpPr>
              <a:spLocks noChangeShapeType="1"/>
            </p:cNvSpPr>
            <p:nvPr/>
          </p:nvSpPr>
          <p:spPr bwMode="auto">
            <a:xfrm rot="16200000" flipH="1">
              <a:off x="3852069" y="1967707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12"/>
            <p:cNvSpPr>
              <a:spLocks noChangeShapeType="1"/>
            </p:cNvSpPr>
            <p:nvPr/>
          </p:nvSpPr>
          <p:spPr bwMode="auto">
            <a:xfrm rot="-5400000">
              <a:off x="2878932" y="1966119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13"/>
            <p:cNvSpPr>
              <a:spLocks noChangeShapeType="1"/>
            </p:cNvSpPr>
            <p:nvPr/>
          </p:nvSpPr>
          <p:spPr bwMode="auto">
            <a:xfrm rot="-5400000">
              <a:off x="2878932" y="2218531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14"/>
            <p:cNvSpPr>
              <a:spLocks noChangeShapeType="1"/>
            </p:cNvSpPr>
            <p:nvPr/>
          </p:nvSpPr>
          <p:spPr bwMode="auto">
            <a:xfrm rot="16200000" flipH="1">
              <a:off x="2626519" y="2721769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Line 15"/>
            <p:cNvSpPr>
              <a:spLocks noChangeShapeType="1"/>
            </p:cNvSpPr>
            <p:nvPr/>
          </p:nvSpPr>
          <p:spPr bwMode="auto">
            <a:xfrm rot="16200000" flipH="1">
              <a:off x="2626519" y="1966119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5" name="Line 16"/>
            <p:cNvSpPr>
              <a:spLocks noChangeShapeType="1"/>
            </p:cNvSpPr>
            <p:nvPr/>
          </p:nvSpPr>
          <p:spPr bwMode="auto">
            <a:xfrm rot="-5400000">
              <a:off x="1654969" y="1967706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Line 17"/>
            <p:cNvSpPr>
              <a:spLocks noChangeShapeType="1"/>
            </p:cNvSpPr>
            <p:nvPr/>
          </p:nvSpPr>
          <p:spPr bwMode="auto">
            <a:xfrm rot="-5400000">
              <a:off x="1654969" y="2220119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Line 18"/>
            <p:cNvSpPr>
              <a:spLocks noChangeShapeType="1"/>
            </p:cNvSpPr>
            <p:nvPr/>
          </p:nvSpPr>
          <p:spPr bwMode="auto">
            <a:xfrm rot="16200000" flipH="1">
              <a:off x="1402556" y="2723357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Line 19"/>
            <p:cNvSpPr>
              <a:spLocks noChangeShapeType="1"/>
            </p:cNvSpPr>
            <p:nvPr/>
          </p:nvSpPr>
          <p:spPr bwMode="auto">
            <a:xfrm rot="16200000" flipH="1">
              <a:off x="1402556" y="1966119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Line 20"/>
            <p:cNvSpPr>
              <a:spLocks noChangeShapeType="1"/>
            </p:cNvSpPr>
            <p:nvPr/>
          </p:nvSpPr>
          <p:spPr bwMode="auto">
            <a:xfrm>
              <a:off x="214313" y="2305050"/>
              <a:ext cx="504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Line 21"/>
            <p:cNvSpPr>
              <a:spLocks noChangeShapeType="1"/>
            </p:cNvSpPr>
            <p:nvPr/>
          </p:nvSpPr>
          <p:spPr bwMode="auto">
            <a:xfrm>
              <a:off x="322263" y="2376488"/>
              <a:ext cx="2873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Text Box 22"/>
            <p:cNvSpPr txBox="1">
              <a:spLocks noChangeArrowheads="1"/>
            </p:cNvSpPr>
            <p:nvPr/>
          </p:nvSpPr>
          <p:spPr bwMode="auto">
            <a:xfrm>
              <a:off x="1997075" y="2122488"/>
              <a:ext cx="539750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009900"/>
                  </a:solidFill>
                  <a:latin typeface="Calibri" panose="020F0502020204030204" charset="0"/>
                </a:rPr>
                <a:t>B</a:t>
              </a:r>
              <a:endParaRPr lang="en-US" altLang="zh-CN" b="0" baseline="-25000">
                <a:solidFill>
                  <a:srgbClr val="009900"/>
                </a:solidFill>
                <a:latin typeface="Calibri" panose="020F0502020204030204" charset="0"/>
              </a:endParaRPr>
            </a:p>
          </p:txBody>
        </p:sp>
        <p:sp>
          <p:nvSpPr>
            <p:cNvPr id="11322" name="Line 23"/>
            <p:cNvSpPr>
              <a:spLocks noChangeShapeType="1"/>
            </p:cNvSpPr>
            <p:nvPr/>
          </p:nvSpPr>
          <p:spPr bwMode="auto">
            <a:xfrm>
              <a:off x="250825" y="2125663"/>
              <a:ext cx="1444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Line 24"/>
            <p:cNvSpPr>
              <a:spLocks noChangeShapeType="1"/>
            </p:cNvSpPr>
            <p:nvPr/>
          </p:nvSpPr>
          <p:spPr bwMode="auto">
            <a:xfrm>
              <a:off x="323850" y="2055813"/>
              <a:ext cx="0" cy="14287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4" name="Line 25"/>
            <p:cNvSpPr>
              <a:spLocks noChangeShapeType="1"/>
            </p:cNvSpPr>
            <p:nvPr/>
          </p:nvSpPr>
          <p:spPr bwMode="auto">
            <a:xfrm>
              <a:off x="250825" y="2486025"/>
              <a:ext cx="1444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Line 26"/>
            <p:cNvSpPr>
              <a:spLocks noChangeShapeType="1"/>
            </p:cNvSpPr>
            <p:nvPr/>
          </p:nvSpPr>
          <p:spPr bwMode="auto">
            <a:xfrm>
              <a:off x="466725" y="2362200"/>
              <a:ext cx="1588" cy="6127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6" name="Line 27"/>
            <p:cNvSpPr>
              <a:spLocks noChangeShapeType="1"/>
            </p:cNvSpPr>
            <p:nvPr/>
          </p:nvSpPr>
          <p:spPr bwMode="auto">
            <a:xfrm>
              <a:off x="468313" y="1716088"/>
              <a:ext cx="0" cy="574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Line 28"/>
            <p:cNvSpPr>
              <a:spLocks noChangeShapeType="1"/>
            </p:cNvSpPr>
            <p:nvPr/>
          </p:nvSpPr>
          <p:spPr bwMode="auto">
            <a:xfrm flipH="1">
              <a:off x="468313" y="2974975"/>
              <a:ext cx="36353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Text Box 29"/>
            <p:cNvSpPr txBox="1">
              <a:spLocks noChangeArrowheads="1"/>
            </p:cNvSpPr>
            <p:nvPr/>
          </p:nvSpPr>
          <p:spPr bwMode="auto">
            <a:xfrm>
              <a:off x="1657350" y="2435225"/>
              <a:ext cx="539750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accent2"/>
                  </a:solidFill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solidFill>
                    <a:schemeClr val="accent2"/>
                  </a:solidFill>
                  <a:latin typeface="Calibri" panose="020F0502020204030204" charset="0"/>
                </a:rPr>
                <a:t>1</a:t>
              </a:r>
            </a:p>
          </p:txBody>
        </p:sp>
        <p:sp>
          <p:nvSpPr>
            <p:cNvPr id="11329" name="Text Box 30"/>
            <p:cNvSpPr txBox="1">
              <a:spLocks noChangeArrowheads="1"/>
            </p:cNvSpPr>
            <p:nvPr/>
          </p:nvSpPr>
          <p:spPr bwMode="auto">
            <a:xfrm>
              <a:off x="2916238" y="2446338"/>
              <a:ext cx="539750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accent2"/>
                  </a:solidFill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solidFill>
                    <a:schemeClr val="accent2"/>
                  </a:solidFill>
                  <a:latin typeface="Calibri" panose="020F0502020204030204" charset="0"/>
                </a:rPr>
                <a:t>2</a:t>
              </a:r>
            </a:p>
          </p:txBody>
        </p:sp>
        <p:sp>
          <p:nvSpPr>
            <p:cNvPr id="11330" name="Text Box 31"/>
            <p:cNvSpPr txBox="1">
              <a:spLocks noChangeArrowheads="1"/>
            </p:cNvSpPr>
            <p:nvPr/>
          </p:nvSpPr>
          <p:spPr bwMode="auto">
            <a:xfrm>
              <a:off x="4140200" y="2446338"/>
              <a:ext cx="539750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chemeClr val="accent2"/>
                  </a:solidFill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solidFill>
                    <a:schemeClr val="accent2"/>
                  </a:solidFill>
                  <a:latin typeface="Calibri" panose="020F0502020204030204" charset="0"/>
                </a:rPr>
                <a:t>3</a:t>
              </a:r>
            </a:p>
          </p:txBody>
        </p:sp>
        <p:sp>
          <p:nvSpPr>
            <p:cNvPr id="11331" name="Line 32"/>
            <p:cNvSpPr>
              <a:spLocks noChangeShapeType="1"/>
            </p:cNvSpPr>
            <p:nvPr/>
          </p:nvSpPr>
          <p:spPr bwMode="auto">
            <a:xfrm>
              <a:off x="971550" y="1714500"/>
              <a:ext cx="0" cy="1260475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32" name="Text Box 33"/>
            <p:cNvSpPr txBox="1">
              <a:spLocks noChangeArrowheads="1"/>
            </p:cNvSpPr>
            <p:nvPr/>
          </p:nvSpPr>
          <p:spPr bwMode="auto">
            <a:xfrm>
              <a:off x="682625" y="2122488"/>
              <a:ext cx="539750" cy="2265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009900"/>
                  </a:solidFill>
                  <a:latin typeface="Calibri" panose="020F0502020204030204" charset="0"/>
                </a:rPr>
                <a:t>V</a:t>
              </a:r>
              <a:endParaRPr lang="en-US" altLang="zh-CN" b="0" baseline="-25000">
                <a:solidFill>
                  <a:srgbClr val="009900"/>
                </a:solidFill>
                <a:latin typeface="Calibri" panose="020F0502020204030204" charset="0"/>
              </a:endParaRPr>
            </a:p>
          </p:txBody>
        </p:sp>
        <p:sp>
          <p:nvSpPr>
            <p:cNvPr id="11333" name="Text Box 34"/>
            <p:cNvSpPr txBox="1">
              <a:spLocks noChangeArrowheads="1"/>
            </p:cNvSpPr>
            <p:nvPr/>
          </p:nvSpPr>
          <p:spPr bwMode="auto">
            <a:xfrm>
              <a:off x="1006475" y="1751013"/>
              <a:ext cx="719138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1</a:t>
              </a:r>
            </a:p>
          </p:txBody>
        </p:sp>
        <p:sp>
          <p:nvSpPr>
            <p:cNvPr id="11334" name="Text Box 35"/>
            <p:cNvSpPr txBox="1">
              <a:spLocks noChangeArrowheads="1"/>
            </p:cNvSpPr>
            <p:nvPr/>
          </p:nvSpPr>
          <p:spPr bwMode="auto">
            <a:xfrm>
              <a:off x="1006475" y="2373313"/>
              <a:ext cx="719138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1</a:t>
              </a:r>
            </a:p>
          </p:txBody>
        </p:sp>
        <p:sp>
          <p:nvSpPr>
            <p:cNvPr id="11335" name="Text Box 36"/>
            <p:cNvSpPr txBox="1">
              <a:spLocks noChangeArrowheads="1"/>
            </p:cNvSpPr>
            <p:nvPr/>
          </p:nvSpPr>
          <p:spPr bwMode="auto">
            <a:xfrm>
              <a:off x="2268538" y="1751013"/>
              <a:ext cx="719137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2</a:t>
              </a:r>
            </a:p>
          </p:txBody>
        </p:sp>
        <p:sp>
          <p:nvSpPr>
            <p:cNvPr id="11336" name="Text Box 37"/>
            <p:cNvSpPr txBox="1">
              <a:spLocks noChangeArrowheads="1"/>
            </p:cNvSpPr>
            <p:nvPr/>
          </p:nvSpPr>
          <p:spPr bwMode="auto">
            <a:xfrm>
              <a:off x="2268538" y="2373313"/>
              <a:ext cx="719137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2</a:t>
              </a:r>
            </a:p>
          </p:txBody>
        </p:sp>
        <p:sp>
          <p:nvSpPr>
            <p:cNvPr id="11337" name="Text Box 38"/>
            <p:cNvSpPr txBox="1">
              <a:spLocks noChangeArrowheads="1"/>
            </p:cNvSpPr>
            <p:nvPr/>
          </p:nvSpPr>
          <p:spPr bwMode="auto">
            <a:xfrm>
              <a:off x="3490913" y="1751013"/>
              <a:ext cx="719137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3</a:t>
              </a:r>
            </a:p>
          </p:txBody>
        </p:sp>
        <p:sp>
          <p:nvSpPr>
            <p:cNvPr id="11338" name="Text Box 39"/>
            <p:cNvSpPr txBox="1">
              <a:spLocks noChangeArrowheads="1"/>
            </p:cNvSpPr>
            <p:nvPr/>
          </p:nvSpPr>
          <p:spPr bwMode="auto">
            <a:xfrm>
              <a:off x="3490913" y="2373313"/>
              <a:ext cx="719137" cy="226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r>
                <a:rPr lang="en-US" altLang="zh-CN" b="0" baseline="-25000">
                  <a:solidFill>
                    <a:srgbClr val="FF3300"/>
                  </a:solidFill>
                  <a:latin typeface="Calibri" panose="020F0502020204030204" charset="0"/>
                </a:rPr>
                <a:t>3</a:t>
              </a:r>
            </a:p>
          </p:txBody>
        </p:sp>
      </p:grp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1242322" y="4695924"/>
            <a:ext cx="2520950" cy="52197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13326" name="Object 54"/>
          <p:cNvGraphicFramePr>
            <a:graphicFrameLocks noChangeAspect="1"/>
          </p:cNvGraphicFramePr>
          <p:nvPr/>
        </p:nvGraphicFramePr>
        <p:xfrm>
          <a:off x="3104751" y="5626525"/>
          <a:ext cx="2973810" cy="640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26822400" imgH="5791200" progId="Equation.DSMT4">
                  <p:embed/>
                </p:oleObj>
              </mc:Choice>
              <mc:Fallback>
                <p:oleObj name="Equation" r:id="rId3" imgW="26822400" imgH="5791200" progId="Equation.DSMT4">
                  <p:embed/>
                  <p:pic>
                    <p:nvPicPr>
                      <p:cNvPr id="0" name="Object 5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4751" y="5626525"/>
                        <a:ext cx="2973810" cy="64023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41"/>
          <p:cNvSpPr txBox="1">
            <a:spLocks noChangeArrowheads="1"/>
          </p:cNvSpPr>
          <p:nvPr/>
        </p:nvSpPr>
        <p:spPr bwMode="auto">
          <a:xfrm>
            <a:off x="4273029" y="4703986"/>
            <a:ext cx="24701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 b="0" dirty="0"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800" i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48070" y="2924396"/>
            <a:ext cx="180519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等压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电荷求和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1" grpId="0"/>
      <p:bldP spid="70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 bwMode="auto">
          <a:xfrm>
            <a:off x="683568" y="2098117"/>
            <a:ext cx="2592288" cy="3388940"/>
            <a:chOff x="776288" y="2705100"/>
            <a:chExt cx="2052637" cy="2774950"/>
          </a:xfrm>
        </p:grpSpPr>
        <p:sp>
          <p:nvSpPr>
            <p:cNvPr id="11278" name="Line 2"/>
            <p:cNvSpPr>
              <a:spLocks noChangeShapeType="1"/>
            </p:cNvSpPr>
            <p:nvPr/>
          </p:nvSpPr>
          <p:spPr bwMode="auto">
            <a:xfrm rot="-5400000">
              <a:off x="2289969" y="2958306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Line 3"/>
            <p:cNvSpPr>
              <a:spLocks noChangeShapeType="1"/>
            </p:cNvSpPr>
            <p:nvPr/>
          </p:nvSpPr>
          <p:spPr bwMode="auto">
            <a:xfrm rot="-5400000">
              <a:off x="2289969" y="3210718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4"/>
            <p:cNvSpPr>
              <a:spLocks noChangeShapeType="1"/>
            </p:cNvSpPr>
            <p:nvPr/>
          </p:nvSpPr>
          <p:spPr bwMode="auto">
            <a:xfrm rot="16200000" flipH="1">
              <a:off x="2037556" y="3713956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5"/>
            <p:cNvSpPr>
              <a:spLocks noChangeShapeType="1"/>
            </p:cNvSpPr>
            <p:nvPr/>
          </p:nvSpPr>
          <p:spPr bwMode="auto">
            <a:xfrm rot="16200000" flipH="1">
              <a:off x="2037556" y="2958306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6"/>
            <p:cNvSpPr>
              <a:spLocks noChangeShapeType="1"/>
            </p:cNvSpPr>
            <p:nvPr/>
          </p:nvSpPr>
          <p:spPr bwMode="auto">
            <a:xfrm rot="-5400000">
              <a:off x="2288382" y="4468018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7"/>
            <p:cNvSpPr>
              <a:spLocks noChangeShapeType="1"/>
            </p:cNvSpPr>
            <p:nvPr/>
          </p:nvSpPr>
          <p:spPr bwMode="auto">
            <a:xfrm rot="-5400000">
              <a:off x="2288382" y="4720431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Line 8"/>
            <p:cNvSpPr>
              <a:spLocks noChangeShapeType="1"/>
            </p:cNvSpPr>
            <p:nvPr/>
          </p:nvSpPr>
          <p:spPr bwMode="auto">
            <a:xfrm rot="16200000" flipH="1">
              <a:off x="2035969" y="5223669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9"/>
            <p:cNvSpPr>
              <a:spLocks noChangeShapeType="1"/>
            </p:cNvSpPr>
            <p:nvPr/>
          </p:nvSpPr>
          <p:spPr bwMode="auto">
            <a:xfrm rot="16200000" flipH="1">
              <a:off x="2035969" y="4468019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Line 10"/>
            <p:cNvSpPr>
              <a:spLocks noChangeShapeType="1"/>
            </p:cNvSpPr>
            <p:nvPr/>
          </p:nvSpPr>
          <p:spPr bwMode="auto">
            <a:xfrm rot="-5400000">
              <a:off x="2288382" y="3715543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11"/>
            <p:cNvSpPr>
              <a:spLocks noChangeShapeType="1"/>
            </p:cNvSpPr>
            <p:nvPr/>
          </p:nvSpPr>
          <p:spPr bwMode="auto">
            <a:xfrm rot="-5400000">
              <a:off x="2288382" y="3967956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12"/>
            <p:cNvSpPr>
              <a:spLocks noChangeShapeType="1"/>
            </p:cNvSpPr>
            <p:nvPr/>
          </p:nvSpPr>
          <p:spPr bwMode="auto">
            <a:xfrm>
              <a:off x="776288" y="4122737"/>
              <a:ext cx="504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13"/>
            <p:cNvSpPr>
              <a:spLocks noChangeShapeType="1"/>
            </p:cNvSpPr>
            <p:nvPr/>
          </p:nvSpPr>
          <p:spPr bwMode="auto">
            <a:xfrm>
              <a:off x="884238" y="4194175"/>
              <a:ext cx="2873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14"/>
            <p:cNvSpPr>
              <a:spLocks noChangeShapeType="1"/>
            </p:cNvSpPr>
            <p:nvPr/>
          </p:nvSpPr>
          <p:spPr bwMode="auto">
            <a:xfrm>
              <a:off x="812800" y="3943350"/>
              <a:ext cx="1444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15"/>
            <p:cNvSpPr>
              <a:spLocks noChangeShapeType="1"/>
            </p:cNvSpPr>
            <p:nvPr/>
          </p:nvSpPr>
          <p:spPr bwMode="auto">
            <a:xfrm>
              <a:off x="885825" y="3873500"/>
              <a:ext cx="0" cy="14287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16"/>
            <p:cNvSpPr>
              <a:spLocks noChangeShapeType="1"/>
            </p:cNvSpPr>
            <p:nvPr/>
          </p:nvSpPr>
          <p:spPr bwMode="auto">
            <a:xfrm>
              <a:off x="812800" y="4303712"/>
              <a:ext cx="1444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17"/>
            <p:cNvSpPr>
              <a:spLocks noChangeShapeType="1"/>
            </p:cNvSpPr>
            <p:nvPr/>
          </p:nvSpPr>
          <p:spPr bwMode="auto">
            <a:xfrm>
              <a:off x="1028700" y="4179887"/>
              <a:ext cx="0" cy="12985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18"/>
            <p:cNvSpPr>
              <a:spLocks noChangeShapeType="1"/>
            </p:cNvSpPr>
            <p:nvPr/>
          </p:nvSpPr>
          <p:spPr bwMode="auto">
            <a:xfrm>
              <a:off x="1028700" y="2705100"/>
              <a:ext cx="1588" cy="1403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19"/>
            <p:cNvSpPr>
              <a:spLocks noChangeShapeType="1"/>
            </p:cNvSpPr>
            <p:nvPr/>
          </p:nvSpPr>
          <p:spPr bwMode="auto">
            <a:xfrm flipH="1">
              <a:off x="1028700" y="5476875"/>
              <a:ext cx="1260475" cy="3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Text Box 20"/>
            <p:cNvSpPr txBox="1">
              <a:spLocks noChangeArrowheads="1"/>
            </p:cNvSpPr>
            <p:nvPr/>
          </p:nvSpPr>
          <p:spPr bwMode="auto">
            <a:xfrm>
              <a:off x="2254250" y="4183062"/>
              <a:ext cx="539750" cy="339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 b="0">
                  <a:solidFill>
                    <a:schemeClr val="accent2"/>
                  </a:solidFill>
                  <a:cs typeface="Arial" panose="020B0604020202020204" pitchFamily="34" charset="0"/>
                </a:rPr>
                <a:t>C</a:t>
              </a:r>
              <a:r>
                <a:rPr lang="en-US" altLang="zh-CN" sz="2100" b="0" baseline="-25000">
                  <a:solidFill>
                    <a:schemeClr val="accent2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297" name="Text Box 21"/>
            <p:cNvSpPr txBox="1">
              <a:spLocks noChangeArrowheads="1"/>
            </p:cNvSpPr>
            <p:nvPr/>
          </p:nvSpPr>
          <p:spPr bwMode="auto">
            <a:xfrm>
              <a:off x="2289175" y="4948237"/>
              <a:ext cx="539750" cy="339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>
                  <a:solidFill>
                    <a:schemeClr val="accent2"/>
                  </a:solidFill>
                  <a:cs typeface="Arial" panose="020B0604020202020204" pitchFamily="34" charset="0"/>
                </a:rPr>
                <a:t>C</a:t>
              </a:r>
              <a:r>
                <a:rPr lang="en-US" altLang="zh-CN" sz="2100" b="0" baseline="-25000">
                  <a:solidFill>
                    <a:schemeClr val="accent2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298" name="Text Box 22"/>
            <p:cNvSpPr txBox="1">
              <a:spLocks noChangeArrowheads="1"/>
            </p:cNvSpPr>
            <p:nvPr/>
          </p:nvSpPr>
          <p:spPr bwMode="auto">
            <a:xfrm>
              <a:off x="2289175" y="3435350"/>
              <a:ext cx="539750" cy="339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>
                  <a:solidFill>
                    <a:schemeClr val="accent2"/>
                  </a:solidFill>
                  <a:cs typeface="Arial" panose="020B0604020202020204" pitchFamily="34" charset="0"/>
                </a:rPr>
                <a:t>C</a:t>
              </a:r>
              <a:r>
                <a:rPr lang="en-US" altLang="zh-CN" sz="2100" b="0" baseline="-25000">
                  <a:solidFill>
                    <a:schemeClr val="accent2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99" name="Line 23"/>
            <p:cNvSpPr>
              <a:spLocks noChangeShapeType="1"/>
            </p:cNvSpPr>
            <p:nvPr/>
          </p:nvSpPr>
          <p:spPr bwMode="auto">
            <a:xfrm flipH="1">
              <a:off x="1028700" y="2705100"/>
              <a:ext cx="12604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Text Box 26"/>
            <p:cNvSpPr txBox="1">
              <a:spLocks noChangeArrowheads="1"/>
            </p:cNvSpPr>
            <p:nvPr/>
          </p:nvSpPr>
          <p:spPr bwMode="auto">
            <a:xfrm>
              <a:off x="1425575" y="2932112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1301" name="Text Box 27"/>
            <p:cNvSpPr txBox="1">
              <a:spLocks noChangeArrowheads="1"/>
            </p:cNvSpPr>
            <p:nvPr/>
          </p:nvSpPr>
          <p:spPr bwMode="auto">
            <a:xfrm>
              <a:off x="1460500" y="3208337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1302" name="Text Box 28"/>
            <p:cNvSpPr txBox="1">
              <a:spLocks noChangeArrowheads="1"/>
            </p:cNvSpPr>
            <p:nvPr/>
          </p:nvSpPr>
          <p:spPr bwMode="auto">
            <a:xfrm>
              <a:off x="1425575" y="3700462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1303" name="Text Box 29"/>
            <p:cNvSpPr txBox="1">
              <a:spLocks noChangeArrowheads="1"/>
            </p:cNvSpPr>
            <p:nvPr/>
          </p:nvSpPr>
          <p:spPr bwMode="auto">
            <a:xfrm>
              <a:off x="1460500" y="3976687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1304" name="Text Box 30"/>
            <p:cNvSpPr txBox="1">
              <a:spLocks noChangeArrowheads="1"/>
            </p:cNvSpPr>
            <p:nvPr/>
          </p:nvSpPr>
          <p:spPr bwMode="auto">
            <a:xfrm>
              <a:off x="1425575" y="4468812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+q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1305" name="Text Box 31"/>
            <p:cNvSpPr txBox="1">
              <a:spLocks noChangeArrowheads="1"/>
            </p:cNvSpPr>
            <p:nvPr/>
          </p:nvSpPr>
          <p:spPr bwMode="auto">
            <a:xfrm>
              <a:off x="1460500" y="4745037"/>
              <a:ext cx="719138" cy="30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FF3300"/>
                  </a:solidFill>
                  <a:latin typeface="Calibri" panose="020F0502020204030204" charset="0"/>
                </a:rPr>
                <a:t>-q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</p:grpSp>
      <p:sp>
        <p:nvSpPr>
          <p:cNvPr id="98" name="Text Box 52"/>
          <p:cNvSpPr txBox="1">
            <a:spLocks noChangeArrowheads="1"/>
          </p:cNvSpPr>
          <p:nvPr/>
        </p:nvSpPr>
        <p:spPr bwMode="auto">
          <a:xfrm>
            <a:off x="883001" y="696285"/>
            <a:ext cx="39103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4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Capacitors in Series </a:t>
            </a:r>
            <a:r>
              <a:rPr lang="zh-CN" altLang="en-US" sz="24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串联</a:t>
            </a:r>
            <a:endParaRPr lang="en-US" altLang="zh-CN" sz="2400" u="sng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Box 40"/>
          <p:cNvSpPr txBox="1">
            <a:spLocks noChangeArrowheads="1"/>
          </p:cNvSpPr>
          <p:nvPr/>
        </p:nvSpPr>
        <p:spPr bwMode="auto">
          <a:xfrm>
            <a:off x="4141233" y="2580873"/>
            <a:ext cx="2520950" cy="52197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0" name="Text Box 41"/>
          <p:cNvSpPr txBox="1">
            <a:spLocks noChangeArrowheads="1"/>
          </p:cNvSpPr>
          <p:nvPr/>
        </p:nvSpPr>
        <p:spPr bwMode="auto">
          <a:xfrm>
            <a:off x="4141233" y="1575829"/>
            <a:ext cx="24701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 b="0" dirty="0">
                <a:cs typeface="Arial" panose="020B0604020202020204" pitchFamily="34" charset="0"/>
              </a:rPr>
              <a:t> 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=q</a:t>
            </a:r>
            <a:r>
              <a:rPr lang="en-US" altLang="zh-CN" sz="2800" i="1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800" i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1" name="Object 121"/>
          <p:cNvGraphicFramePr>
            <a:graphicFrameLocks noChangeAspect="1"/>
          </p:cNvGraphicFramePr>
          <p:nvPr/>
        </p:nvGraphicFramePr>
        <p:xfrm>
          <a:off x="4283968" y="3662127"/>
          <a:ext cx="2664296" cy="9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3" imgW="29565600" imgH="10668000" progId="Equation.DSMT4">
                  <p:embed/>
                </p:oleObj>
              </mc:Choice>
              <mc:Fallback>
                <p:oleObj name="Equation" r:id="rId3" imgW="29565600" imgH="10668000" progId="Equation.DSMT4">
                  <p:embed/>
                  <p:pic>
                    <p:nvPicPr>
                      <p:cNvPr id="0" name="Object 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3968" y="3662127"/>
                        <a:ext cx="2664296" cy="9620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21"/>
          <p:cNvGraphicFramePr>
            <a:graphicFrameLocks noChangeAspect="1"/>
          </p:cNvGraphicFramePr>
          <p:nvPr/>
        </p:nvGraphicFramePr>
        <p:xfrm>
          <a:off x="4283969" y="5229200"/>
          <a:ext cx="1627733" cy="961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5" imgW="18592800" imgH="10972800" progId="Equation.DSMT4">
                  <p:embed/>
                </p:oleObj>
              </mc:Choice>
              <mc:Fallback>
                <p:oleObj name="Equation" r:id="rId5" imgW="18592800" imgH="10972800" progId="Equation.DSMT4">
                  <p:embed/>
                  <p:pic>
                    <p:nvPicPr>
                      <p:cNvPr id="0" name="Object 12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3969" y="5229200"/>
                        <a:ext cx="1627733" cy="96139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920146" y="5689415"/>
            <a:ext cx="180519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等电荷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</a:rPr>
              <a:t>电压求和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250825" y="404814"/>
            <a:ext cx="8497888" cy="110426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</a:ln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l-GR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and a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l-GR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are connected</a:t>
            </a:r>
          </a:p>
          <a:p>
            <a:pPr>
              <a:defRPr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 parallel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in series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an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 V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battery.  Determine the equivalent capacitance and total charge deposited.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469900" y="1557338"/>
            <a:ext cx="3460750" cy="2244725"/>
            <a:chOff x="232" y="616"/>
            <a:chExt cx="2180" cy="1414"/>
          </a:xfrm>
        </p:grpSpPr>
        <p:grpSp>
          <p:nvGrpSpPr>
            <p:cNvPr id="12343" name="Group 13"/>
            <p:cNvGrpSpPr/>
            <p:nvPr/>
          </p:nvGrpSpPr>
          <p:grpSpPr bwMode="auto">
            <a:xfrm>
              <a:off x="672" y="1152"/>
              <a:ext cx="480" cy="432"/>
              <a:chOff x="672" y="1152"/>
              <a:chExt cx="480" cy="432"/>
            </a:xfrm>
          </p:grpSpPr>
          <p:sp>
            <p:nvSpPr>
              <p:cNvPr id="12375" name="Line 45"/>
              <p:cNvSpPr>
                <a:spLocks noChangeShapeType="1"/>
              </p:cNvSpPr>
              <p:nvPr/>
            </p:nvSpPr>
            <p:spPr bwMode="auto">
              <a:xfrm>
                <a:off x="672" y="12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6" name="Line 46"/>
              <p:cNvSpPr>
                <a:spLocks noChangeShapeType="1"/>
              </p:cNvSpPr>
              <p:nvPr/>
            </p:nvSpPr>
            <p:spPr bwMode="auto">
              <a:xfrm>
                <a:off x="816" y="134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7" name="Line 47"/>
              <p:cNvSpPr>
                <a:spLocks noChangeShapeType="1"/>
              </p:cNvSpPr>
              <p:nvPr/>
            </p:nvSpPr>
            <p:spPr bwMode="auto">
              <a:xfrm>
                <a:off x="672" y="1392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8" name="Line 48"/>
              <p:cNvSpPr>
                <a:spLocks noChangeShapeType="1"/>
              </p:cNvSpPr>
              <p:nvPr/>
            </p:nvSpPr>
            <p:spPr bwMode="auto">
              <a:xfrm>
                <a:off x="816" y="144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9" name="Line 49"/>
              <p:cNvSpPr>
                <a:spLocks noChangeShapeType="1"/>
              </p:cNvSpPr>
              <p:nvPr/>
            </p:nvSpPr>
            <p:spPr bwMode="auto">
              <a:xfrm flipV="1">
                <a:off x="912" y="115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0" name="Line 50"/>
              <p:cNvSpPr>
                <a:spLocks noChangeShapeType="1"/>
              </p:cNvSpPr>
              <p:nvPr/>
            </p:nvSpPr>
            <p:spPr bwMode="auto">
              <a:xfrm flipV="1">
                <a:off x="912" y="144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44" name="Line 14"/>
            <p:cNvSpPr>
              <a:spLocks noChangeShapeType="1"/>
            </p:cNvSpPr>
            <p:nvPr/>
          </p:nvSpPr>
          <p:spPr bwMode="auto">
            <a:xfrm flipV="1">
              <a:off x="912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Line 15"/>
            <p:cNvSpPr>
              <a:spLocks noChangeShapeType="1"/>
            </p:cNvSpPr>
            <p:nvPr/>
          </p:nvSpPr>
          <p:spPr bwMode="auto">
            <a:xfrm>
              <a:off x="912" y="864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46" name="Group 16"/>
            <p:cNvGrpSpPr/>
            <p:nvPr/>
          </p:nvGrpSpPr>
          <p:grpSpPr bwMode="auto">
            <a:xfrm>
              <a:off x="1344" y="1152"/>
              <a:ext cx="288" cy="336"/>
              <a:chOff x="1344" y="1152"/>
              <a:chExt cx="288" cy="336"/>
            </a:xfrm>
          </p:grpSpPr>
          <p:sp>
            <p:nvSpPr>
              <p:cNvPr id="12371" name="Line 41"/>
              <p:cNvSpPr>
                <a:spLocks noChangeShapeType="1"/>
              </p:cNvSpPr>
              <p:nvPr/>
            </p:nvSpPr>
            <p:spPr bwMode="auto">
              <a:xfrm>
                <a:off x="1344" y="1296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2" name="Line 42"/>
              <p:cNvSpPr>
                <a:spLocks noChangeShapeType="1"/>
              </p:cNvSpPr>
              <p:nvPr/>
            </p:nvSpPr>
            <p:spPr bwMode="auto">
              <a:xfrm>
                <a:off x="1344" y="134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3" name="Line 43"/>
              <p:cNvSpPr>
                <a:spLocks noChangeShapeType="1"/>
              </p:cNvSpPr>
              <p:nvPr/>
            </p:nvSpPr>
            <p:spPr bwMode="auto">
              <a:xfrm>
                <a:off x="1488" y="115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4" name="Line 44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47" name="Line 17"/>
            <p:cNvSpPr>
              <a:spLocks noChangeShapeType="1"/>
            </p:cNvSpPr>
            <p:nvPr/>
          </p:nvSpPr>
          <p:spPr bwMode="auto">
            <a:xfrm flipV="1">
              <a:off x="912" y="158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Line 18"/>
            <p:cNvSpPr>
              <a:spLocks noChangeShapeType="1"/>
            </p:cNvSpPr>
            <p:nvPr/>
          </p:nvSpPr>
          <p:spPr bwMode="auto">
            <a:xfrm>
              <a:off x="912" y="1872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9" name="Line 19"/>
            <p:cNvSpPr>
              <a:spLocks noChangeShapeType="1"/>
            </p:cNvSpPr>
            <p:nvPr/>
          </p:nvSpPr>
          <p:spPr bwMode="auto">
            <a:xfrm>
              <a:off x="1488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Line 20"/>
            <p:cNvSpPr>
              <a:spLocks noChangeShapeType="1"/>
            </p:cNvSpPr>
            <p:nvPr/>
          </p:nvSpPr>
          <p:spPr bwMode="auto">
            <a:xfrm>
              <a:off x="1488" y="1488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1" name="Rectangle 21"/>
            <p:cNvSpPr>
              <a:spLocks noChangeArrowheads="1"/>
            </p:cNvSpPr>
            <p:nvPr/>
          </p:nvSpPr>
          <p:spPr bwMode="auto">
            <a:xfrm>
              <a:off x="1481" y="1066"/>
              <a:ext cx="40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+Q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52" name="Rectangle 22"/>
            <p:cNvSpPr>
              <a:spLocks noChangeArrowheads="1"/>
            </p:cNvSpPr>
            <p:nvPr/>
          </p:nvSpPr>
          <p:spPr bwMode="auto">
            <a:xfrm>
              <a:off x="1482" y="1346"/>
              <a:ext cx="36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-Q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53" name="Rectangle 23"/>
            <p:cNvSpPr>
              <a:spLocks noChangeArrowheads="1"/>
            </p:cNvSpPr>
            <p:nvPr/>
          </p:nvSpPr>
          <p:spPr bwMode="auto">
            <a:xfrm>
              <a:off x="1203" y="1031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54" name="Line 24"/>
            <p:cNvSpPr>
              <a:spLocks noChangeShapeType="1"/>
            </p:cNvSpPr>
            <p:nvPr/>
          </p:nvSpPr>
          <p:spPr bwMode="auto">
            <a:xfrm>
              <a:off x="1488" y="1392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5" name="Rectangle 25"/>
            <p:cNvSpPr>
              <a:spLocks noChangeArrowheads="1"/>
            </p:cNvSpPr>
            <p:nvPr/>
          </p:nvSpPr>
          <p:spPr bwMode="auto">
            <a:xfrm>
              <a:off x="232" y="1263"/>
              <a:ext cx="55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V=V</a:t>
              </a:r>
              <a:r>
                <a:rPr lang="en-US" altLang="zh-CN" sz="2100" b="0" i="1" baseline="-25000"/>
                <a:t>ab</a:t>
              </a:r>
            </a:p>
          </p:txBody>
        </p:sp>
        <p:sp>
          <p:nvSpPr>
            <p:cNvPr id="12356" name="Oval 26"/>
            <p:cNvSpPr>
              <a:spLocks noChangeArrowheads="1"/>
            </p:cNvSpPr>
            <p:nvPr/>
          </p:nvSpPr>
          <p:spPr bwMode="auto">
            <a:xfrm>
              <a:off x="892" y="840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/>
            </a:p>
          </p:txBody>
        </p:sp>
        <p:sp>
          <p:nvSpPr>
            <p:cNvPr id="12357" name="Oval 27"/>
            <p:cNvSpPr>
              <a:spLocks noChangeArrowheads="1"/>
            </p:cNvSpPr>
            <p:nvPr/>
          </p:nvSpPr>
          <p:spPr bwMode="auto">
            <a:xfrm>
              <a:off x="892" y="1848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/>
            </a:p>
          </p:txBody>
        </p:sp>
        <p:sp>
          <p:nvSpPr>
            <p:cNvPr id="12358" name="Rectangle 28"/>
            <p:cNvSpPr>
              <a:spLocks noChangeArrowheads="1"/>
            </p:cNvSpPr>
            <p:nvPr/>
          </p:nvSpPr>
          <p:spPr bwMode="auto">
            <a:xfrm>
              <a:off x="707" y="616"/>
              <a:ext cx="20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a</a:t>
              </a:r>
            </a:p>
          </p:txBody>
        </p:sp>
        <p:sp>
          <p:nvSpPr>
            <p:cNvPr id="12359" name="Rectangle 29"/>
            <p:cNvSpPr>
              <a:spLocks noChangeArrowheads="1"/>
            </p:cNvSpPr>
            <p:nvPr/>
          </p:nvSpPr>
          <p:spPr bwMode="auto">
            <a:xfrm>
              <a:off x="712" y="1771"/>
              <a:ext cx="20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b</a:t>
              </a:r>
            </a:p>
          </p:txBody>
        </p:sp>
        <p:grpSp>
          <p:nvGrpSpPr>
            <p:cNvPr id="12360" name="Group 30"/>
            <p:cNvGrpSpPr/>
            <p:nvPr/>
          </p:nvGrpSpPr>
          <p:grpSpPr bwMode="auto">
            <a:xfrm>
              <a:off x="1872" y="1152"/>
              <a:ext cx="288" cy="336"/>
              <a:chOff x="1872" y="1152"/>
              <a:chExt cx="288" cy="336"/>
            </a:xfrm>
          </p:grpSpPr>
          <p:sp>
            <p:nvSpPr>
              <p:cNvPr id="12367" name="Line 37"/>
              <p:cNvSpPr>
                <a:spLocks noChangeShapeType="1"/>
              </p:cNvSpPr>
              <p:nvPr/>
            </p:nvSpPr>
            <p:spPr bwMode="auto">
              <a:xfrm>
                <a:off x="1872" y="1296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8" name="Line 38"/>
              <p:cNvSpPr>
                <a:spLocks noChangeShapeType="1"/>
              </p:cNvSpPr>
              <p:nvPr/>
            </p:nvSpPr>
            <p:spPr bwMode="auto">
              <a:xfrm>
                <a:off x="1872" y="134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9" name="Line 39"/>
              <p:cNvSpPr>
                <a:spLocks noChangeShapeType="1"/>
              </p:cNvSpPr>
              <p:nvPr/>
            </p:nvSpPr>
            <p:spPr bwMode="auto">
              <a:xfrm>
                <a:off x="2016" y="115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0" name="Line 40"/>
              <p:cNvSpPr>
                <a:spLocks noChangeShapeType="1"/>
              </p:cNvSpPr>
              <p:nvPr/>
            </p:nvSpPr>
            <p:spPr bwMode="auto">
              <a:xfrm>
                <a:off x="2016" y="134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61" name="Line 31"/>
            <p:cNvSpPr>
              <a:spLocks noChangeShapeType="1"/>
            </p:cNvSpPr>
            <p:nvPr/>
          </p:nvSpPr>
          <p:spPr bwMode="auto">
            <a:xfrm>
              <a:off x="2016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2" name="Line 32"/>
            <p:cNvSpPr>
              <a:spLocks noChangeShapeType="1"/>
            </p:cNvSpPr>
            <p:nvPr/>
          </p:nvSpPr>
          <p:spPr bwMode="auto">
            <a:xfrm>
              <a:off x="2016" y="1488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3" name="Rectangle 33"/>
            <p:cNvSpPr>
              <a:spLocks noChangeArrowheads="1"/>
            </p:cNvSpPr>
            <p:nvPr/>
          </p:nvSpPr>
          <p:spPr bwMode="auto">
            <a:xfrm>
              <a:off x="2009" y="1066"/>
              <a:ext cx="40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+Q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64" name="Rectangle 34"/>
            <p:cNvSpPr>
              <a:spLocks noChangeArrowheads="1"/>
            </p:cNvSpPr>
            <p:nvPr/>
          </p:nvSpPr>
          <p:spPr bwMode="auto">
            <a:xfrm>
              <a:off x="2010" y="1346"/>
              <a:ext cx="36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-Q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65" name="Rectangle 35"/>
            <p:cNvSpPr>
              <a:spLocks noChangeArrowheads="1"/>
            </p:cNvSpPr>
            <p:nvPr/>
          </p:nvSpPr>
          <p:spPr bwMode="auto">
            <a:xfrm>
              <a:off x="1769" y="986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66" name="Line 36"/>
            <p:cNvSpPr>
              <a:spLocks noChangeShapeType="1"/>
            </p:cNvSpPr>
            <p:nvPr/>
          </p:nvSpPr>
          <p:spPr bwMode="auto">
            <a:xfrm>
              <a:off x="2016" y="1392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0750" name="Text Box 10"/>
          <p:cNvSpPr txBox="1">
            <a:spLocks noChangeArrowheads="1"/>
          </p:cNvSpPr>
          <p:nvPr/>
        </p:nvSpPr>
        <p:spPr bwMode="auto">
          <a:xfrm>
            <a:off x="406690" y="3878263"/>
            <a:ext cx="295275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capacitance</a:t>
            </a:r>
          </a:p>
        </p:txBody>
      </p:sp>
      <p:graphicFrame>
        <p:nvGraphicFramePr>
          <p:cNvPr id="200751" name="Object 2"/>
          <p:cNvGraphicFramePr>
            <a:graphicFrameLocks noChangeAspect="1"/>
          </p:cNvGraphicFramePr>
          <p:nvPr/>
        </p:nvGraphicFramePr>
        <p:xfrm>
          <a:off x="1157549" y="4428980"/>
          <a:ext cx="213016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3" imgW="31394400" imgH="5791200" progId="Equation.DSMT4">
                  <p:embed/>
                </p:oleObj>
              </mc:Choice>
              <mc:Fallback>
                <p:oleObj name="Equation" r:id="rId3" imgW="31394400" imgH="57912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7549" y="4428980"/>
                        <a:ext cx="2130165" cy="395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52" name="Text Box 11"/>
          <p:cNvSpPr txBox="1">
            <a:spLocks noChangeArrowheads="1"/>
          </p:cNvSpPr>
          <p:nvPr/>
        </p:nvSpPr>
        <p:spPr bwMode="auto">
          <a:xfrm>
            <a:off x="539751" y="4941889"/>
            <a:ext cx="1928813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</a:t>
            </a:r>
          </a:p>
        </p:txBody>
      </p:sp>
      <p:graphicFrame>
        <p:nvGraphicFramePr>
          <p:cNvPr id="200753" name="Object 3"/>
          <p:cNvGraphicFramePr>
            <a:graphicFrameLocks noChangeAspect="1"/>
          </p:cNvGraphicFramePr>
          <p:nvPr/>
        </p:nvGraphicFramePr>
        <p:xfrm>
          <a:off x="468313" y="5589588"/>
          <a:ext cx="32258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5" imgW="43586400" imgH="12192000" progId="Equation.DSMT4">
                  <p:embed/>
                </p:oleObj>
              </mc:Choice>
              <mc:Fallback>
                <p:oleObj name="Equation" r:id="rId5" imgW="43586400" imgH="121920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313" y="5589588"/>
                        <a:ext cx="3225800" cy="912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2"/>
          <p:cNvSpPr txBox="1">
            <a:spLocks noChangeArrowheads="1"/>
          </p:cNvSpPr>
          <p:nvPr/>
        </p:nvSpPr>
        <p:spPr bwMode="auto">
          <a:xfrm>
            <a:off x="323850" y="1628775"/>
            <a:ext cx="472440" cy="41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(a)</a:t>
            </a:r>
          </a:p>
        </p:txBody>
      </p:sp>
      <p:cxnSp>
        <p:nvCxnSpPr>
          <p:cNvPr id="50" name="Line 20"/>
          <p:cNvCxnSpPr>
            <a:cxnSpLocks noChangeShapeType="1"/>
          </p:cNvCxnSpPr>
          <p:nvPr/>
        </p:nvCxnSpPr>
        <p:spPr bwMode="auto">
          <a:xfrm rot="5400000">
            <a:off x="2177257" y="4167982"/>
            <a:ext cx="4214813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6"/>
          <p:cNvGrpSpPr/>
          <p:nvPr/>
        </p:nvGrpSpPr>
        <p:grpSpPr bwMode="auto">
          <a:xfrm>
            <a:off x="4645026" y="1412875"/>
            <a:ext cx="3232150" cy="2271713"/>
            <a:chOff x="376" y="599"/>
            <a:chExt cx="2036" cy="1431"/>
          </a:xfrm>
        </p:grpSpPr>
        <p:grpSp>
          <p:nvGrpSpPr>
            <p:cNvPr id="12304" name="Group 13"/>
            <p:cNvGrpSpPr/>
            <p:nvPr/>
          </p:nvGrpSpPr>
          <p:grpSpPr bwMode="auto">
            <a:xfrm>
              <a:off x="816" y="1152"/>
              <a:ext cx="480" cy="432"/>
              <a:chOff x="816" y="1152"/>
              <a:chExt cx="480" cy="432"/>
            </a:xfrm>
          </p:grpSpPr>
          <p:sp>
            <p:nvSpPr>
              <p:cNvPr id="12337" name="Line 46"/>
              <p:cNvSpPr>
                <a:spLocks noChangeShapeType="1"/>
              </p:cNvSpPr>
              <p:nvPr/>
            </p:nvSpPr>
            <p:spPr bwMode="auto">
              <a:xfrm>
                <a:off x="816" y="129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8" name="Line 47"/>
              <p:cNvSpPr>
                <a:spLocks noChangeShapeType="1"/>
              </p:cNvSpPr>
              <p:nvPr/>
            </p:nvSpPr>
            <p:spPr bwMode="auto">
              <a:xfrm>
                <a:off x="960" y="134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9" name="Line 48"/>
              <p:cNvSpPr>
                <a:spLocks noChangeShapeType="1"/>
              </p:cNvSpPr>
              <p:nvPr/>
            </p:nvSpPr>
            <p:spPr bwMode="auto">
              <a:xfrm>
                <a:off x="816" y="1392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0" name="Line 49"/>
              <p:cNvSpPr>
                <a:spLocks noChangeShapeType="1"/>
              </p:cNvSpPr>
              <p:nvPr/>
            </p:nvSpPr>
            <p:spPr bwMode="auto">
              <a:xfrm>
                <a:off x="960" y="1440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1" name="Line 50"/>
              <p:cNvSpPr>
                <a:spLocks noChangeShapeType="1"/>
              </p:cNvSpPr>
              <p:nvPr/>
            </p:nvSpPr>
            <p:spPr bwMode="auto">
              <a:xfrm flipV="1">
                <a:off x="1056" y="115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2" name="Line 51"/>
              <p:cNvSpPr>
                <a:spLocks noChangeShapeType="1"/>
              </p:cNvSpPr>
              <p:nvPr/>
            </p:nvSpPr>
            <p:spPr bwMode="auto">
              <a:xfrm flipV="1">
                <a:off x="1056" y="144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05" name="Line 14"/>
            <p:cNvSpPr>
              <a:spLocks noChangeShapeType="1"/>
            </p:cNvSpPr>
            <p:nvPr/>
          </p:nvSpPr>
          <p:spPr bwMode="auto">
            <a:xfrm flipV="1">
              <a:off x="1056" y="86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15"/>
            <p:cNvSpPr>
              <a:spLocks noChangeShapeType="1"/>
            </p:cNvSpPr>
            <p:nvPr/>
          </p:nvSpPr>
          <p:spPr bwMode="auto">
            <a:xfrm>
              <a:off x="1056" y="8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07" name="Group 16"/>
            <p:cNvGrpSpPr/>
            <p:nvPr/>
          </p:nvGrpSpPr>
          <p:grpSpPr bwMode="auto">
            <a:xfrm>
              <a:off x="1776" y="1008"/>
              <a:ext cx="288" cy="336"/>
              <a:chOff x="1776" y="1008"/>
              <a:chExt cx="288" cy="336"/>
            </a:xfrm>
          </p:grpSpPr>
          <p:sp>
            <p:nvSpPr>
              <p:cNvPr id="12333" name="Line 42"/>
              <p:cNvSpPr>
                <a:spLocks noChangeShapeType="1"/>
              </p:cNvSpPr>
              <p:nvPr/>
            </p:nvSpPr>
            <p:spPr bwMode="auto">
              <a:xfrm>
                <a:off x="1776" y="115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43"/>
              <p:cNvSpPr>
                <a:spLocks noChangeShapeType="1"/>
              </p:cNvSpPr>
              <p:nvPr/>
            </p:nvSpPr>
            <p:spPr bwMode="auto">
              <a:xfrm>
                <a:off x="1776" y="120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44"/>
              <p:cNvSpPr>
                <a:spLocks noChangeShapeType="1"/>
              </p:cNvSpPr>
              <p:nvPr/>
            </p:nvSpPr>
            <p:spPr bwMode="auto">
              <a:xfrm>
                <a:off x="1920" y="1008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Line 45"/>
              <p:cNvSpPr>
                <a:spLocks noChangeShapeType="1"/>
              </p:cNvSpPr>
              <p:nvPr/>
            </p:nvSpPr>
            <p:spPr bwMode="auto">
              <a:xfrm>
                <a:off x="1920" y="120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08" name="Group 17"/>
            <p:cNvGrpSpPr/>
            <p:nvPr/>
          </p:nvGrpSpPr>
          <p:grpSpPr bwMode="auto">
            <a:xfrm>
              <a:off x="1776" y="1392"/>
              <a:ext cx="288" cy="336"/>
              <a:chOff x="1776" y="1392"/>
              <a:chExt cx="288" cy="336"/>
            </a:xfrm>
          </p:grpSpPr>
          <p:sp>
            <p:nvSpPr>
              <p:cNvPr id="12329" name="Line 38"/>
              <p:cNvSpPr>
                <a:spLocks noChangeShapeType="1"/>
              </p:cNvSpPr>
              <p:nvPr/>
            </p:nvSpPr>
            <p:spPr bwMode="auto">
              <a:xfrm>
                <a:off x="1776" y="1536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0" name="Line 39"/>
              <p:cNvSpPr>
                <a:spLocks noChangeShapeType="1"/>
              </p:cNvSpPr>
              <p:nvPr/>
            </p:nvSpPr>
            <p:spPr bwMode="auto">
              <a:xfrm>
                <a:off x="1776" y="158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1" name="Line 40"/>
              <p:cNvSpPr>
                <a:spLocks noChangeShapeType="1"/>
              </p:cNvSpPr>
              <p:nvPr/>
            </p:nvSpPr>
            <p:spPr bwMode="auto">
              <a:xfrm>
                <a:off x="1920" y="139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2" name="Line 41"/>
              <p:cNvSpPr>
                <a:spLocks noChangeShapeType="1"/>
              </p:cNvSpPr>
              <p:nvPr/>
            </p:nvSpPr>
            <p:spPr bwMode="auto">
              <a:xfrm>
                <a:off x="1920" y="158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09" name="Line 18"/>
            <p:cNvSpPr>
              <a:spLocks noChangeShapeType="1"/>
            </p:cNvSpPr>
            <p:nvPr/>
          </p:nvSpPr>
          <p:spPr bwMode="auto">
            <a:xfrm flipV="1">
              <a:off x="1056" y="158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19"/>
            <p:cNvSpPr>
              <a:spLocks noChangeShapeType="1"/>
            </p:cNvSpPr>
            <p:nvPr/>
          </p:nvSpPr>
          <p:spPr bwMode="auto">
            <a:xfrm>
              <a:off x="1056" y="187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20"/>
            <p:cNvSpPr>
              <a:spLocks noChangeShapeType="1"/>
            </p:cNvSpPr>
            <p:nvPr/>
          </p:nvSpPr>
          <p:spPr bwMode="auto">
            <a:xfrm>
              <a:off x="1920" y="172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21"/>
            <p:cNvSpPr>
              <a:spLocks noChangeShapeType="1"/>
            </p:cNvSpPr>
            <p:nvPr/>
          </p:nvSpPr>
          <p:spPr bwMode="auto">
            <a:xfrm>
              <a:off x="1920" y="86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22"/>
            <p:cNvSpPr>
              <a:spLocks noChangeShapeType="1"/>
            </p:cNvSpPr>
            <p:nvPr/>
          </p:nvSpPr>
          <p:spPr bwMode="auto">
            <a:xfrm>
              <a:off x="1920" y="1344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Rectangle 23"/>
            <p:cNvSpPr>
              <a:spLocks noChangeArrowheads="1"/>
            </p:cNvSpPr>
            <p:nvPr/>
          </p:nvSpPr>
          <p:spPr bwMode="auto">
            <a:xfrm>
              <a:off x="2009" y="975"/>
              <a:ext cx="40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+Q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15" name="Rectangle 24"/>
            <p:cNvSpPr>
              <a:spLocks noChangeArrowheads="1"/>
            </p:cNvSpPr>
            <p:nvPr/>
          </p:nvSpPr>
          <p:spPr bwMode="auto">
            <a:xfrm>
              <a:off x="2010" y="1167"/>
              <a:ext cx="36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-Q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16" name="Rectangle 25"/>
            <p:cNvSpPr>
              <a:spLocks noChangeArrowheads="1"/>
            </p:cNvSpPr>
            <p:nvPr/>
          </p:nvSpPr>
          <p:spPr bwMode="auto">
            <a:xfrm>
              <a:off x="1481" y="1023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2317" name="Line 26"/>
            <p:cNvSpPr>
              <a:spLocks noChangeShapeType="1"/>
            </p:cNvSpPr>
            <p:nvPr/>
          </p:nvSpPr>
          <p:spPr bwMode="auto">
            <a:xfrm>
              <a:off x="1920" y="124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27"/>
            <p:cNvSpPr>
              <a:spLocks noChangeShapeType="1"/>
            </p:cNvSpPr>
            <p:nvPr/>
          </p:nvSpPr>
          <p:spPr bwMode="auto">
            <a:xfrm>
              <a:off x="1920" y="1728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28"/>
            <p:cNvSpPr>
              <a:spLocks noChangeArrowheads="1"/>
            </p:cNvSpPr>
            <p:nvPr/>
          </p:nvSpPr>
          <p:spPr bwMode="auto">
            <a:xfrm>
              <a:off x="2009" y="1359"/>
              <a:ext cx="40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+Q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20" name="Rectangle 29"/>
            <p:cNvSpPr>
              <a:spLocks noChangeArrowheads="1"/>
            </p:cNvSpPr>
            <p:nvPr/>
          </p:nvSpPr>
          <p:spPr bwMode="auto">
            <a:xfrm>
              <a:off x="2010" y="1551"/>
              <a:ext cx="36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-Q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21" name="Rectangle 30"/>
            <p:cNvSpPr>
              <a:spLocks noChangeArrowheads="1"/>
            </p:cNvSpPr>
            <p:nvPr/>
          </p:nvSpPr>
          <p:spPr bwMode="auto">
            <a:xfrm>
              <a:off x="1481" y="1407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2322" name="Rectangle 31"/>
            <p:cNvSpPr>
              <a:spLocks noChangeArrowheads="1"/>
            </p:cNvSpPr>
            <p:nvPr/>
          </p:nvSpPr>
          <p:spPr bwMode="auto">
            <a:xfrm>
              <a:off x="376" y="1263"/>
              <a:ext cx="55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V=V</a:t>
              </a:r>
              <a:r>
                <a:rPr lang="en-US" altLang="zh-CN" sz="2100" b="0" i="1" baseline="-25000"/>
                <a:t>ab</a:t>
              </a:r>
            </a:p>
          </p:txBody>
        </p:sp>
        <p:sp>
          <p:nvSpPr>
            <p:cNvPr id="12323" name="Oval 32"/>
            <p:cNvSpPr>
              <a:spLocks noChangeArrowheads="1"/>
            </p:cNvSpPr>
            <p:nvPr/>
          </p:nvSpPr>
          <p:spPr bwMode="auto">
            <a:xfrm>
              <a:off x="1036" y="840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/>
            </a:p>
          </p:txBody>
        </p:sp>
        <p:sp>
          <p:nvSpPr>
            <p:cNvPr id="12324" name="Oval 33"/>
            <p:cNvSpPr>
              <a:spLocks noChangeArrowheads="1"/>
            </p:cNvSpPr>
            <p:nvPr/>
          </p:nvSpPr>
          <p:spPr bwMode="auto">
            <a:xfrm>
              <a:off x="1036" y="1848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/>
            </a:p>
          </p:txBody>
        </p:sp>
        <p:sp>
          <p:nvSpPr>
            <p:cNvPr id="12325" name="Oval 34"/>
            <p:cNvSpPr>
              <a:spLocks noChangeArrowheads="1"/>
            </p:cNvSpPr>
            <p:nvPr/>
          </p:nvSpPr>
          <p:spPr bwMode="auto">
            <a:xfrm>
              <a:off x="1896" y="1376"/>
              <a:ext cx="40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/>
            </a:p>
          </p:txBody>
        </p:sp>
        <p:sp>
          <p:nvSpPr>
            <p:cNvPr id="12326" name="Rectangle 35"/>
            <p:cNvSpPr>
              <a:spLocks noChangeArrowheads="1"/>
            </p:cNvSpPr>
            <p:nvPr/>
          </p:nvSpPr>
          <p:spPr bwMode="auto">
            <a:xfrm>
              <a:off x="847" y="599"/>
              <a:ext cx="20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a</a:t>
              </a:r>
            </a:p>
          </p:txBody>
        </p:sp>
        <p:sp>
          <p:nvSpPr>
            <p:cNvPr id="12327" name="Rectangle 36"/>
            <p:cNvSpPr>
              <a:spLocks noChangeArrowheads="1"/>
            </p:cNvSpPr>
            <p:nvPr/>
          </p:nvSpPr>
          <p:spPr bwMode="auto">
            <a:xfrm>
              <a:off x="1748" y="1291"/>
              <a:ext cx="19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</a:p>
          </p:txBody>
        </p:sp>
        <p:sp>
          <p:nvSpPr>
            <p:cNvPr id="12328" name="Rectangle 37"/>
            <p:cNvSpPr>
              <a:spLocks noChangeArrowheads="1"/>
            </p:cNvSpPr>
            <p:nvPr/>
          </p:nvSpPr>
          <p:spPr bwMode="auto">
            <a:xfrm>
              <a:off x="856" y="1771"/>
              <a:ext cx="20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b</a:t>
              </a:r>
            </a:p>
          </p:txBody>
        </p:sp>
      </p:grpSp>
      <p:sp>
        <p:nvSpPr>
          <p:cNvPr id="91" name="Text Box 10"/>
          <p:cNvSpPr txBox="1">
            <a:spLocks noChangeArrowheads="1"/>
          </p:cNvSpPr>
          <p:nvPr/>
        </p:nvSpPr>
        <p:spPr bwMode="auto">
          <a:xfrm>
            <a:off x="4787900" y="3789364"/>
            <a:ext cx="30607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capacitance</a:t>
            </a:r>
          </a:p>
        </p:txBody>
      </p:sp>
      <p:graphicFrame>
        <p:nvGraphicFramePr>
          <p:cNvPr id="92" name="Object 50"/>
          <p:cNvGraphicFramePr>
            <a:graphicFrameLocks noChangeAspect="1"/>
          </p:cNvGraphicFramePr>
          <p:nvPr/>
        </p:nvGraphicFramePr>
        <p:xfrm>
          <a:off x="5003800" y="4292601"/>
          <a:ext cx="23685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7" imgW="32004000" imgH="10363200" progId="Equation.DSMT4">
                  <p:embed/>
                </p:oleObj>
              </mc:Choice>
              <mc:Fallback>
                <p:oleObj name="Equation" r:id="rId7" imgW="32004000" imgH="10363200" progId="Equation.DSMT4">
                  <p:embed/>
                  <p:pic>
                    <p:nvPicPr>
                      <p:cNvPr id="0" name="Object 5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3800" y="4292601"/>
                        <a:ext cx="2368550" cy="773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Text Box 11"/>
          <p:cNvSpPr txBox="1">
            <a:spLocks noChangeArrowheads="1"/>
          </p:cNvSpPr>
          <p:nvPr/>
        </p:nvSpPr>
        <p:spPr bwMode="auto">
          <a:xfrm>
            <a:off x="5003800" y="5084764"/>
            <a:ext cx="1785938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</a:t>
            </a:r>
          </a:p>
        </p:txBody>
      </p:sp>
      <p:graphicFrame>
        <p:nvGraphicFramePr>
          <p:cNvPr id="94" name="Object 51"/>
          <p:cNvGraphicFramePr>
            <a:graphicFrameLocks noChangeAspect="1"/>
          </p:cNvGraphicFramePr>
          <p:nvPr/>
        </p:nvGraphicFramePr>
        <p:xfrm>
          <a:off x="5003801" y="5589589"/>
          <a:ext cx="32480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9" imgW="43891200" imgH="12192000" progId="Equation.DSMT4">
                  <p:embed/>
                </p:oleObj>
              </mc:Choice>
              <mc:Fallback>
                <p:oleObj name="Equation" r:id="rId9" imgW="43891200" imgH="12192000" progId="Equation.DSMT4">
                  <p:embed/>
                  <p:pic>
                    <p:nvPicPr>
                      <p:cNvPr id="0" name="Object 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3801" y="5589589"/>
                        <a:ext cx="3248025" cy="909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12"/>
          <p:cNvSpPr txBox="1">
            <a:spLocks noChangeArrowheads="1"/>
          </p:cNvSpPr>
          <p:nvPr/>
        </p:nvSpPr>
        <p:spPr bwMode="auto">
          <a:xfrm>
            <a:off x="4500564" y="1628775"/>
            <a:ext cx="492125" cy="41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50" grpId="0"/>
      <p:bldP spid="200752" grpId="0"/>
      <p:bldP spid="49" grpId="0"/>
      <p:bldP spid="91" grpId="0"/>
      <p:bldP spid="93" grpId="0"/>
      <p:bldP spid="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97" name="Object 95"/>
          <p:cNvGraphicFramePr>
            <a:graphicFrameLocks noChangeAspect="1"/>
          </p:cNvGraphicFramePr>
          <p:nvPr/>
        </p:nvGraphicFramePr>
        <p:xfrm>
          <a:off x="4708526" y="2452592"/>
          <a:ext cx="254369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3" imgW="40233600" imgH="10363200" progId="Equation.DSMT4">
                  <p:embed/>
                </p:oleObj>
              </mc:Choice>
              <mc:Fallback>
                <p:oleObj name="Equation" r:id="rId3" imgW="40233600" imgH="10363200" progId="Equation.DSMT4">
                  <p:embed/>
                  <p:pic>
                    <p:nvPicPr>
                      <p:cNvPr id="0" name="Object 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08526" y="2452592"/>
                        <a:ext cx="2543697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5" name="Object 91"/>
          <p:cNvGraphicFramePr>
            <a:graphicFrameLocks noChangeAspect="1"/>
          </p:cNvGraphicFramePr>
          <p:nvPr/>
        </p:nvGraphicFramePr>
        <p:xfrm>
          <a:off x="4708526" y="1916112"/>
          <a:ext cx="13314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5" imgW="21640800" imgH="5486400" progId="Equation.DSMT4">
                  <p:embed/>
                </p:oleObj>
              </mc:Choice>
              <mc:Fallback>
                <p:oleObj name="Equation" r:id="rId5" imgW="21640800" imgH="5486400" progId="Equation.DSMT4">
                  <p:embed/>
                  <p:pic>
                    <p:nvPicPr>
                      <p:cNvPr id="0" name="Object 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8526" y="1916112"/>
                        <a:ext cx="1331425" cy="338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6" name="组合 63"/>
          <p:cNvGrpSpPr/>
          <p:nvPr/>
        </p:nvGrpSpPr>
        <p:grpSpPr bwMode="auto">
          <a:xfrm>
            <a:off x="547689" y="1628776"/>
            <a:ext cx="3159125" cy="4674870"/>
            <a:chOff x="323850" y="1165225"/>
            <a:chExt cx="3157538" cy="4674870"/>
          </a:xfrm>
        </p:grpSpPr>
        <p:sp>
          <p:nvSpPr>
            <p:cNvPr id="13325" name="Rectangle 9"/>
            <p:cNvSpPr>
              <a:spLocks noChangeArrowheads="1"/>
            </p:cNvSpPr>
            <p:nvPr/>
          </p:nvSpPr>
          <p:spPr bwMode="auto">
            <a:xfrm>
              <a:off x="1214438" y="1165225"/>
              <a:ext cx="2262187" cy="1476375"/>
            </a:xfrm>
            <a:prstGeom prst="rect">
              <a:avLst/>
            </a:prstGeom>
            <a:noFill/>
            <a:ln w="19050">
              <a:solidFill>
                <a:srgbClr val="E81AE3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sp>
          <p:nvSpPr>
            <p:cNvPr id="13326" name="Text Box 10"/>
            <p:cNvSpPr txBox="1">
              <a:spLocks noChangeArrowheads="1"/>
            </p:cNvSpPr>
            <p:nvPr/>
          </p:nvSpPr>
          <p:spPr bwMode="auto">
            <a:xfrm>
              <a:off x="746125" y="4346575"/>
              <a:ext cx="1825625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100" b="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1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12.0 </a:t>
              </a:r>
              <a:r>
                <a:rPr lang="el-GR" altLang="zh-CN" sz="21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2100" b="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27" name="Text Box 11"/>
            <p:cNvSpPr txBox="1">
              <a:spLocks noChangeArrowheads="1"/>
            </p:cNvSpPr>
            <p:nvPr/>
          </p:nvSpPr>
          <p:spPr bwMode="auto">
            <a:xfrm>
              <a:off x="746125" y="4849813"/>
              <a:ext cx="1825625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1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= 5.30 </a:t>
              </a:r>
              <a:r>
                <a:rPr lang="el-GR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28" name="Text Box 12"/>
            <p:cNvSpPr txBox="1">
              <a:spLocks noChangeArrowheads="1"/>
            </p:cNvSpPr>
            <p:nvPr/>
          </p:nvSpPr>
          <p:spPr bwMode="auto">
            <a:xfrm>
              <a:off x="747713" y="5426075"/>
              <a:ext cx="1825625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100" b="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= 4.50 </a:t>
              </a:r>
              <a:r>
                <a:rPr lang="el-GR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2100" b="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3329" name="Line 13"/>
            <p:cNvSpPr>
              <a:spLocks noChangeShapeType="1"/>
            </p:cNvSpPr>
            <p:nvPr/>
          </p:nvSpPr>
          <p:spPr bwMode="auto">
            <a:xfrm rot="-5400000">
              <a:off x="2255044" y="2818606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14"/>
            <p:cNvSpPr>
              <a:spLocks noChangeShapeType="1"/>
            </p:cNvSpPr>
            <p:nvPr/>
          </p:nvSpPr>
          <p:spPr bwMode="auto">
            <a:xfrm rot="-5400000">
              <a:off x="2255044" y="3071019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15"/>
            <p:cNvSpPr>
              <a:spLocks noChangeShapeType="1"/>
            </p:cNvSpPr>
            <p:nvPr/>
          </p:nvSpPr>
          <p:spPr bwMode="auto">
            <a:xfrm rot="16200000" flipH="1">
              <a:off x="2002631" y="3574257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Line 16"/>
            <p:cNvSpPr>
              <a:spLocks noChangeShapeType="1"/>
            </p:cNvSpPr>
            <p:nvPr/>
          </p:nvSpPr>
          <p:spPr bwMode="auto">
            <a:xfrm rot="16200000" flipH="1">
              <a:off x="2002631" y="2818607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Line 17"/>
            <p:cNvSpPr>
              <a:spLocks noChangeShapeType="1"/>
            </p:cNvSpPr>
            <p:nvPr/>
          </p:nvSpPr>
          <p:spPr bwMode="auto">
            <a:xfrm flipH="1" flipV="1">
              <a:off x="323850" y="3829050"/>
              <a:ext cx="1944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Text Box 18"/>
            <p:cNvSpPr txBox="1">
              <a:spLocks noChangeArrowheads="1"/>
            </p:cNvSpPr>
            <p:nvPr/>
          </p:nvSpPr>
          <p:spPr bwMode="auto">
            <a:xfrm>
              <a:off x="2436813" y="2963863"/>
              <a:ext cx="5397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latin typeface="Calibri" panose="020F0502020204030204" charset="0"/>
                </a:rPr>
                <a:t>3</a:t>
              </a:r>
            </a:p>
          </p:txBody>
        </p:sp>
        <p:sp>
          <p:nvSpPr>
            <p:cNvPr id="13335" name="Line 19"/>
            <p:cNvSpPr>
              <a:spLocks noChangeShapeType="1"/>
            </p:cNvSpPr>
            <p:nvPr/>
          </p:nvSpPr>
          <p:spPr bwMode="auto">
            <a:xfrm flipH="1">
              <a:off x="1536700" y="2535238"/>
              <a:ext cx="12604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20"/>
            <p:cNvSpPr>
              <a:spLocks noChangeShapeType="1"/>
            </p:cNvSpPr>
            <p:nvPr/>
          </p:nvSpPr>
          <p:spPr bwMode="auto">
            <a:xfrm rot="-5400000">
              <a:off x="2796382" y="1526381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21"/>
            <p:cNvSpPr>
              <a:spLocks noChangeShapeType="1"/>
            </p:cNvSpPr>
            <p:nvPr/>
          </p:nvSpPr>
          <p:spPr bwMode="auto">
            <a:xfrm rot="-5400000">
              <a:off x="2796382" y="1778794"/>
              <a:ext cx="0" cy="50323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22"/>
            <p:cNvSpPr>
              <a:spLocks noChangeShapeType="1"/>
            </p:cNvSpPr>
            <p:nvPr/>
          </p:nvSpPr>
          <p:spPr bwMode="auto">
            <a:xfrm rot="16200000" flipH="1">
              <a:off x="2543969" y="2282032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23"/>
            <p:cNvSpPr>
              <a:spLocks noChangeShapeType="1"/>
            </p:cNvSpPr>
            <p:nvPr/>
          </p:nvSpPr>
          <p:spPr bwMode="auto">
            <a:xfrm rot="16200000" flipH="1">
              <a:off x="2543969" y="1526382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24"/>
            <p:cNvSpPr>
              <a:spLocks noChangeShapeType="1"/>
            </p:cNvSpPr>
            <p:nvPr/>
          </p:nvSpPr>
          <p:spPr bwMode="auto">
            <a:xfrm rot="-5400000">
              <a:off x="1572419" y="1527969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25"/>
            <p:cNvSpPr>
              <a:spLocks noChangeShapeType="1"/>
            </p:cNvSpPr>
            <p:nvPr/>
          </p:nvSpPr>
          <p:spPr bwMode="auto">
            <a:xfrm rot="-5400000">
              <a:off x="1572419" y="1780381"/>
              <a:ext cx="0" cy="5032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26"/>
            <p:cNvSpPr>
              <a:spLocks noChangeShapeType="1"/>
            </p:cNvSpPr>
            <p:nvPr/>
          </p:nvSpPr>
          <p:spPr bwMode="auto">
            <a:xfrm rot="16200000" flipH="1">
              <a:off x="1320006" y="2283619"/>
              <a:ext cx="5032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27"/>
            <p:cNvSpPr>
              <a:spLocks noChangeShapeType="1"/>
            </p:cNvSpPr>
            <p:nvPr/>
          </p:nvSpPr>
          <p:spPr bwMode="auto">
            <a:xfrm rot="16200000" flipH="1">
              <a:off x="1320006" y="1526382"/>
              <a:ext cx="503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Text Box 28"/>
            <p:cNvSpPr txBox="1">
              <a:spLocks noChangeArrowheads="1"/>
            </p:cNvSpPr>
            <p:nvPr/>
          </p:nvSpPr>
          <p:spPr bwMode="auto">
            <a:xfrm>
              <a:off x="1717675" y="1717675"/>
              <a:ext cx="5397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latin typeface="Calibri" panose="020F0502020204030204" charset="0"/>
                </a:rPr>
                <a:t>1</a:t>
              </a:r>
            </a:p>
          </p:txBody>
        </p:sp>
        <p:sp>
          <p:nvSpPr>
            <p:cNvPr id="13345" name="Text Box 29"/>
            <p:cNvSpPr txBox="1">
              <a:spLocks noChangeArrowheads="1"/>
            </p:cNvSpPr>
            <p:nvPr/>
          </p:nvSpPr>
          <p:spPr bwMode="auto">
            <a:xfrm>
              <a:off x="2941638" y="1671638"/>
              <a:ext cx="5397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latin typeface="Calibri" panose="020F0502020204030204" charset="0"/>
                </a:rPr>
                <a:t>C</a:t>
              </a:r>
              <a:r>
                <a:rPr lang="en-US" altLang="zh-CN" b="0" baseline="-25000">
                  <a:latin typeface="Calibri" panose="020F0502020204030204" charset="0"/>
                </a:rPr>
                <a:t>2</a:t>
              </a:r>
            </a:p>
          </p:txBody>
        </p:sp>
        <p:sp>
          <p:nvSpPr>
            <p:cNvPr id="13346" name="Line 30"/>
            <p:cNvSpPr>
              <a:spLocks noChangeShapeType="1"/>
            </p:cNvSpPr>
            <p:nvPr/>
          </p:nvSpPr>
          <p:spPr bwMode="auto">
            <a:xfrm>
              <a:off x="422275" y="1274763"/>
              <a:ext cx="2374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31"/>
            <p:cNvSpPr>
              <a:spLocks noChangeShapeType="1"/>
            </p:cNvSpPr>
            <p:nvPr/>
          </p:nvSpPr>
          <p:spPr bwMode="auto">
            <a:xfrm>
              <a:off x="744538" y="1274763"/>
              <a:ext cx="1587" cy="255746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Text Box 32"/>
            <p:cNvSpPr txBox="1">
              <a:spLocks noChangeArrowheads="1"/>
            </p:cNvSpPr>
            <p:nvPr/>
          </p:nvSpPr>
          <p:spPr bwMode="auto">
            <a:xfrm>
              <a:off x="493713" y="2222500"/>
              <a:ext cx="539750" cy="368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009900"/>
                  </a:solidFill>
                  <a:latin typeface="Calibri" panose="020F0502020204030204" charset="0"/>
                </a:rPr>
                <a:t>V</a:t>
              </a:r>
              <a:endParaRPr lang="en-US" altLang="zh-CN" b="0" baseline="-25000">
                <a:solidFill>
                  <a:srgbClr val="009900"/>
                </a:solidFill>
                <a:latin typeface="Calibri" panose="020F0502020204030204" charset="0"/>
              </a:endParaRPr>
            </a:p>
          </p:txBody>
        </p:sp>
      </p:grpSp>
      <p:sp>
        <p:nvSpPr>
          <p:cNvPr id="13317" name="Rectangle 33"/>
          <p:cNvSpPr>
            <a:spLocks noChangeArrowheads="1"/>
          </p:cNvSpPr>
          <p:nvPr/>
        </p:nvSpPr>
        <p:spPr bwMode="auto">
          <a:xfrm>
            <a:off x="254000" y="1196976"/>
            <a:ext cx="3746500" cy="53752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b="0">
              <a:latin typeface="Calibri" panose="020F0502020204030204" charset="0"/>
            </a:endParaRPr>
          </a:p>
        </p:txBody>
      </p:sp>
      <p:sp>
        <p:nvSpPr>
          <p:cNvPr id="13318" name="Rectangle 61"/>
          <p:cNvSpPr>
            <a:spLocks noChangeArrowheads="1"/>
          </p:cNvSpPr>
          <p:nvPr/>
        </p:nvSpPr>
        <p:spPr bwMode="auto">
          <a:xfrm>
            <a:off x="4165601" y="1196975"/>
            <a:ext cx="4710113" cy="53848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b="0">
              <a:latin typeface="Calibri" panose="020F0502020204030204" charset="0"/>
            </a:endParaRPr>
          </a:p>
        </p:txBody>
      </p:sp>
      <p:sp>
        <p:nvSpPr>
          <p:cNvPr id="3" name="Text Box 62"/>
          <p:cNvSpPr txBox="1">
            <a:spLocks noChangeArrowheads="1"/>
          </p:cNvSpPr>
          <p:nvPr/>
        </p:nvSpPr>
        <p:spPr bwMode="auto">
          <a:xfrm>
            <a:off x="468313" y="323851"/>
            <a:ext cx="7669212" cy="768350"/>
          </a:xfrm>
          <a:prstGeom prst="rect">
            <a:avLst/>
          </a:prstGeom>
          <a:noFill/>
          <a:ln w="12700" algn="ctr">
            <a:solidFill>
              <a:srgbClr val="FF0000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	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Find the equivalent capacitance. </a:t>
            </a:r>
          </a:p>
          <a:p>
            <a:pPr algn="just" eaLnBrk="1" hangingPunct="1">
              <a:defRPr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	(b) If V =12.5 V, what is the charge on C</a:t>
            </a:r>
            <a:r>
              <a:rPr lang="en-US" altLang="zh-CN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altLang="zh-CN" sz="2200" dirty="0">
              <a:solidFill>
                <a:srgbClr val="E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Box 64"/>
          <p:cNvSpPr txBox="1">
            <a:spLocks noChangeArrowheads="1"/>
          </p:cNvSpPr>
          <p:nvPr/>
        </p:nvSpPr>
        <p:spPr bwMode="auto">
          <a:xfrm>
            <a:off x="4249738" y="1420814"/>
            <a:ext cx="1871662" cy="42989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 (a)</a:t>
            </a:r>
          </a:p>
        </p:txBody>
      </p:sp>
      <p:sp>
        <p:nvSpPr>
          <p:cNvPr id="67" name="Text Box 64"/>
          <p:cNvSpPr txBox="1">
            <a:spLocks noChangeArrowheads="1"/>
          </p:cNvSpPr>
          <p:nvPr/>
        </p:nvSpPr>
        <p:spPr bwMode="auto">
          <a:xfrm>
            <a:off x="4354513" y="3468689"/>
            <a:ext cx="1871662" cy="42989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 (b)</a:t>
            </a:r>
          </a:p>
        </p:txBody>
      </p:sp>
      <p:graphicFrame>
        <p:nvGraphicFramePr>
          <p:cNvPr id="68" name="Object 63"/>
          <p:cNvGraphicFramePr>
            <a:graphicFrameLocks noChangeAspect="1"/>
          </p:cNvGraphicFramePr>
          <p:nvPr/>
        </p:nvGraphicFramePr>
        <p:xfrm>
          <a:off x="4802189" y="4048125"/>
          <a:ext cx="26304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7" imgW="31089600" imgH="5791200" progId="Equation.DSMT4">
                  <p:embed/>
                </p:oleObj>
              </mc:Choice>
              <mc:Fallback>
                <p:oleObj name="Equation" r:id="rId7" imgW="31089600" imgH="5791200" progId="Equation.DSMT4">
                  <p:embed/>
                  <p:pic>
                    <p:nvPicPr>
                      <p:cNvPr id="0" name="Object 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2189" y="4048125"/>
                        <a:ext cx="2630487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3"/>
          <p:cNvGraphicFramePr>
            <a:graphicFrameLocks noChangeAspect="1"/>
          </p:cNvGraphicFramePr>
          <p:nvPr/>
        </p:nvGraphicFramePr>
        <p:xfrm>
          <a:off x="5343526" y="4686300"/>
          <a:ext cx="154781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9" imgW="18288000" imgH="5791200" progId="Equation.DSMT4">
                  <p:embed/>
                </p:oleObj>
              </mc:Choice>
              <mc:Fallback>
                <p:oleObj name="Equation" r:id="rId9" imgW="18288000" imgH="5791200" progId="Equation.DSMT4">
                  <p:embed/>
                  <p:pic>
                    <p:nvPicPr>
                      <p:cNvPr id="0" name="Object 6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43526" y="4686300"/>
                        <a:ext cx="1547813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3"/>
          <p:cNvGraphicFramePr>
            <a:graphicFrameLocks noChangeAspect="1"/>
          </p:cNvGraphicFramePr>
          <p:nvPr/>
        </p:nvGraphicFramePr>
        <p:xfrm>
          <a:off x="4600575" y="5332414"/>
          <a:ext cx="32512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1" imgW="38404800" imgH="10363200" progId="Equation.DSMT4">
                  <p:embed/>
                </p:oleObj>
              </mc:Choice>
              <mc:Fallback>
                <p:oleObj name="Equation" r:id="rId11" imgW="38404800" imgH="10363200" progId="Equation.DSMT4">
                  <p:embed/>
                  <p:pic>
                    <p:nvPicPr>
                      <p:cNvPr id="0" name="Object 6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00575" y="5332414"/>
                        <a:ext cx="3251200" cy="8778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 bwMode="auto">
          <a:xfrm>
            <a:off x="5796136" y="1196752"/>
            <a:ext cx="2692400" cy="2154236"/>
            <a:chOff x="549" y="2283"/>
            <a:chExt cx="1696" cy="1357"/>
          </a:xfrm>
        </p:grpSpPr>
        <p:sp>
          <p:nvSpPr>
            <p:cNvPr id="14357" name="Line 15"/>
            <p:cNvSpPr>
              <a:spLocks noChangeShapeType="1"/>
            </p:cNvSpPr>
            <p:nvPr/>
          </p:nvSpPr>
          <p:spPr bwMode="auto">
            <a:xfrm>
              <a:off x="1406" y="2497"/>
              <a:ext cx="0" cy="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16"/>
            <p:cNvSpPr>
              <a:spLocks noChangeShapeType="1"/>
            </p:cNvSpPr>
            <p:nvPr/>
          </p:nvSpPr>
          <p:spPr bwMode="auto">
            <a:xfrm>
              <a:off x="1270" y="2613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Line 17"/>
            <p:cNvSpPr>
              <a:spLocks noChangeShapeType="1"/>
            </p:cNvSpPr>
            <p:nvPr/>
          </p:nvSpPr>
          <p:spPr bwMode="auto">
            <a:xfrm>
              <a:off x="1316" y="2569"/>
              <a:ext cx="0" cy="9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18"/>
            <p:cNvSpPr>
              <a:spLocks noChangeShapeType="1"/>
            </p:cNvSpPr>
            <p:nvPr/>
          </p:nvSpPr>
          <p:spPr bwMode="auto">
            <a:xfrm>
              <a:off x="1271" y="2907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19"/>
            <p:cNvSpPr>
              <a:spLocks noChangeShapeType="1"/>
            </p:cNvSpPr>
            <p:nvPr/>
          </p:nvSpPr>
          <p:spPr bwMode="auto">
            <a:xfrm>
              <a:off x="1317" y="2863"/>
              <a:ext cx="0" cy="9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Line 20"/>
            <p:cNvSpPr>
              <a:spLocks noChangeShapeType="1"/>
            </p:cNvSpPr>
            <p:nvPr/>
          </p:nvSpPr>
          <p:spPr bwMode="auto">
            <a:xfrm>
              <a:off x="1610" y="2497"/>
              <a:ext cx="0" cy="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Line 21"/>
            <p:cNvSpPr>
              <a:spLocks noChangeShapeType="1"/>
            </p:cNvSpPr>
            <p:nvPr/>
          </p:nvSpPr>
          <p:spPr bwMode="auto">
            <a:xfrm>
              <a:off x="1654" y="2613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22"/>
            <p:cNvSpPr>
              <a:spLocks noChangeShapeType="1"/>
            </p:cNvSpPr>
            <p:nvPr/>
          </p:nvSpPr>
          <p:spPr bwMode="auto">
            <a:xfrm>
              <a:off x="1655" y="2907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Line 23"/>
            <p:cNvSpPr>
              <a:spLocks noChangeShapeType="1"/>
            </p:cNvSpPr>
            <p:nvPr/>
          </p:nvSpPr>
          <p:spPr bwMode="auto">
            <a:xfrm>
              <a:off x="580" y="3089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Line 24"/>
            <p:cNvSpPr>
              <a:spLocks noChangeShapeType="1"/>
            </p:cNvSpPr>
            <p:nvPr/>
          </p:nvSpPr>
          <p:spPr bwMode="auto">
            <a:xfrm>
              <a:off x="648" y="3134"/>
              <a:ext cx="1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Oval 25"/>
            <p:cNvSpPr>
              <a:spLocks noChangeArrowheads="1"/>
            </p:cNvSpPr>
            <p:nvPr/>
          </p:nvSpPr>
          <p:spPr bwMode="auto">
            <a:xfrm>
              <a:off x="1466" y="3312"/>
              <a:ext cx="243" cy="32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sp>
          <p:nvSpPr>
            <p:cNvPr id="14368" name="Text Box 26"/>
            <p:cNvSpPr txBox="1">
              <a:spLocks noChangeArrowheads="1"/>
            </p:cNvSpPr>
            <p:nvPr/>
          </p:nvSpPr>
          <p:spPr bwMode="auto">
            <a:xfrm>
              <a:off x="549" y="2823"/>
              <a:ext cx="25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latin typeface="Calibri" panose="020F0502020204030204" charset="0"/>
                </a:rPr>
                <a:t>B</a:t>
              </a:r>
              <a:endParaRPr lang="en-US" altLang="zh-CN" b="0" baseline="-25000">
                <a:solidFill>
                  <a:srgbClr val="FF3300"/>
                </a:solidFill>
                <a:latin typeface="Calibri" panose="020F0502020204030204" charset="0"/>
              </a:endParaRPr>
            </a:p>
          </p:txBody>
        </p:sp>
        <p:sp>
          <p:nvSpPr>
            <p:cNvPr id="14369" name="Line 27"/>
            <p:cNvSpPr>
              <a:spLocks noChangeShapeType="1"/>
            </p:cNvSpPr>
            <p:nvPr/>
          </p:nvSpPr>
          <p:spPr bwMode="auto">
            <a:xfrm>
              <a:off x="784" y="2997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28"/>
            <p:cNvSpPr>
              <a:spLocks noChangeShapeType="1"/>
            </p:cNvSpPr>
            <p:nvPr/>
          </p:nvSpPr>
          <p:spPr bwMode="auto">
            <a:xfrm>
              <a:off x="830" y="2953"/>
              <a:ext cx="0" cy="9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29"/>
            <p:cNvSpPr>
              <a:spLocks noChangeShapeType="1"/>
            </p:cNvSpPr>
            <p:nvPr/>
          </p:nvSpPr>
          <p:spPr bwMode="auto">
            <a:xfrm>
              <a:off x="784" y="3224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0"/>
            <p:cNvSpPr>
              <a:spLocks noChangeShapeType="1"/>
            </p:cNvSpPr>
            <p:nvPr/>
          </p:nvSpPr>
          <p:spPr bwMode="auto">
            <a:xfrm flipH="1">
              <a:off x="725" y="2772"/>
              <a:ext cx="6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Line 31"/>
            <p:cNvSpPr>
              <a:spLocks noChangeShapeType="1"/>
            </p:cNvSpPr>
            <p:nvPr/>
          </p:nvSpPr>
          <p:spPr bwMode="auto">
            <a:xfrm flipH="1">
              <a:off x="1587" y="2772"/>
              <a:ext cx="6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4" name="Line 32"/>
            <p:cNvSpPr>
              <a:spLocks noChangeShapeType="1"/>
            </p:cNvSpPr>
            <p:nvPr/>
          </p:nvSpPr>
          <p:spPr bwMode="auto">
            <a:xfrm flipH="1">
              <a:off x="725" y="3475"/>
              <a:ext cx="6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5" name="Line 33"/>
            <p:cNvSpPr>
              <a:spLocks noChangeShapeType="1"/>
            </p:cNvSpPr>
            <p:nvPr/>
          </p:nvSpPr>
          <p:spPr bwMode="auto">
            <a:xfrm flipH="1">
              <a:off x="1587" y="3475"/>
              <a:ext cx="6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Line 34"/>
            <p:cNvSpPr>
              <a:spLocks noChangeShapeType="1"/>
            </p:cNvSpPr>
            <p:nvPr/>
          </p:nvSpPr>
          <p:spPr bwMode="auto">
            <a:xfrm>
              <a:off x="738" y="2772"/>
              <a:ext cx="0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Line 35"/>
            <p:cNvSpPr>
              <a:spLocks noChangeShapeType="1"/>
            </p:cNvSpPr>
            <p:nvPr/>
          </p:nvSpPr>
          <p:spPr bwMode="auto">
            <a:xfrm>
              <a:off x="738" y="3135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Line 36"/>
            <p:cNvSpPr>
              <a:spLocks noChangeShapeType="1"/>
            </p:cNvSpPr>
            <p:nvPr/>
          </p:nvSpPr>
          <p:spPr bwMode="auto">
            <a:xfrm>
              <a:off x="2236" y="2772"/>
              <a:ext cx="0" cy="7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9" name="Line 37"/>
            <p:cNvSpPr>
              <a:spLocks noChangeShapeType="1"/>
            </p:cNvSpPr>
            <p:nvPr/>
          </p:nvSpPr>
          <p:spPr bwMode="auto">
            <a:xfrm flipV="1">
              <a:off x="1365" y="3430"/>
              <a:ext cx="313" cy="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Text Box 38"/>
            <p:cNvSpPr txBox="1">
              <a:spLocks noChangeArrowheads="1"/>
            </p:cNvSpPr>
            <p:nvPr/>
          </p:nvSpPr>
          <p:spPr bwMode="auto">
            <a:xfrm>
              <a:off x="953" y="2431"/>
              <a:ext cx="34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 b="0">
                  <a:solidFill>
                    <a:srgbClr val="0033CC"/>
                  </a:solidFill>
                  <a:cs typeface="Arial" panose="020B0604020202020204" pitchFamily="34" charset="0"/>
                </a:rPr>
                <a:t>q’</a:t>
              </a:r>
              <a:endParaRPr lang="en-US" altLang="zh-CN" sz="2100" b="0" baseline="-25000">
                <a:solidFill>
                  <a:srgbClr val="0033CC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81" name="Text Box 39"/>
            <p:cNvSpPr txBox="1">
              <a:spLocks noChangeArrowheads="1"/>
            </p:cNvSpPr>
            <p:nvPr/>
          </p:nvSpPr>
          <p:spPr bwMode="auto">
            <a:xfrm>
              <a:off x="1814" y="2431"/>
              <a:ext cx="29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 b="0">
                  <a:solidFill>
                    <a:srgbClr val="003366"/>
                  </a:solidFill>
                  <a:cs typeface="Arial" panose="020B0604020202020204" pitchFamily="34" charset="0"/>
                </a:rPr>
                <a:t>-q’</a:t>
              </a:r>
              <a:endParaRPr lang="en-US" altLang="zh-CN" sz="2100" b="0" baseline="-25000">
                <a:solidFill>
                  <a:srgbClr val="003366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82" name="Text Box 40"/>
            <p:cNvSpPr txBox="1">
              <a:spLocks noChangeArrowheads="1"/>
            </p:cNvSpPr>
            <p:nvPr/>
          </p:nvSpPr>
          <p:spPr bwMode="auto">
            <a:xfrm>
              <a:off x="1365" y="2283"/>
              <a:ext cx="34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>
                  <a:cs typeface="Arial" panose="020B0604020202020204" pitchFamily="34" charset="0"/>
                </a:rPr>
                <a:t>V’</a:t>
              </a:r>
              <a:endParaRPr lang="en-US" altLang="zh-CN" sz="2100" b="0" baseline="-25000">
                <a:solidFill>
                  <a:srgbClr val="FF3300"/>
                </a:solidFill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0490" name="Object 27"/>
          <p:cNvGraphicFramePr>
            <a:graphicFrameLocks noChangeAspect="1"/>
          </p:cNvGraphicFramePr>
          <p:nvPr/>
        </p:nvGraphicFramePr>
        <p:xfrm>
          <a:off x="369268" y="1624080"/>
          <a:ext cx="248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3" imgW="29870400" imgH="9448800" progId="Equation.DSMT4">
                  <p:embed/>
                </p:oleObj>
              </mc:Choice>
              <mc:Fallback>
                <p:oleObj name="Equation" r:id="rId3" imgW="29870400" imgH="9448800" progId="Equation.DSMT4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268" y="1624080"/>
                        <a:ext cx="24892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91" name="Object 67"/>
          <p:cNvGraphicFramePr>
            <a:graphicFrameLocks noChangeAspect="1"/>
          </p:cNvGraphicFramePr>
          <p:nvPr/>
        </p:nvGraphicFramePr>
        <p:xfrm>
          <a:off x="3120405" y="1565342"/>
          <a:ext cx="2311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5" imgW="27736800" imgH="11582400" progId="Equation.DSMT4">
                  <p:embed/>
                </p:oleObj>
              </mc:Choice>
              <mc:Fallback>
                <p:oleObj name="Equation" r:id="rId5" imgW="27736800" imgH="11582400" progId="Equation.DSMT4">
                  <p:embed/>
                  <p:pic>
                    <p:nvPicPr>
                      <p:cNvPr id="0" name="Object 6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0405" y="1565342"/>
                        <a:ext cx="2311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94" name="Object 70"/>
          <p:cNvGraphicFramePr>
            <a:graphicFrameLocks noChangeAspect="1"/>
          </p:cNvGraphicFramePr>
          <p:nvPr/>
        </p:nvGraphicFramePr>
        <p:xfrm>
          <a:off x="1259633" y="2996952"/>
          <a:ext cx="34178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7" imgW="38709600" imgH="10058400" progId="Equation.DSMT4">
                  <p:embed/>
                </p:oleObj>
              </mc:Choice>
              <mc:Fallback>
                <p:oleObj name="Equation" r:id="rId7" imgW="38709600" imgH="10058400" progId="Equation.DSMT4">
                  <p:embed/>
                  <p:pic>
                    <p:nvPicPr>
                      <p:cNvPr id="0" name="Object 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633" y="2996952"/>
                        <a:ext cx="3417887" cy="889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395008" y="334390"/>
            <a:ext cx="82804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charge a capacitor and store electric potential energy in it,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force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39" name="组合 38"/>
          <p:cNvGrpSpPr/>
          <p:nvPr/>
        </p:nvGrpSpPr>
        <p:grpSpPr bwMode="auto">
          <a:xfrm>
            <a:off x="6278277" y="3306068"/>
            <a:ext cx="2055767" cy="2930664"/>
            <a:chOff x="5798715" y="1855120"/>
            <a:chExt cx="2319448" cy="3426517"/>
          </a:xfrm>
        </p:grpSpPr>
        <p:sp>
          <p:nvSpPr>
            <p:cNvPr id="14348" name="Text Box 15"/>
            <p:cNvSpPr txBox="1">
              <a:spLocks noChangeArrowheads="1"/>
            </p:cNvSpPr>
            <p:nvPr/>
          </p:nvSpPr>
          <p:spPr bwMode="auto">
            <a:xfrm>
              <a:off x="5798715" y="1855120"/>
              <a:ext cx="2265569" cy="861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parallel-plate capacitor</a:t>
              </a:r>
              <a:endParaRPr lang="en-US" altLang="zh-CN" sz="2100" b="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349" name="组合 23"/>
            <p:cNvGrpSpPr/>
            <p:nvPr/>
          </p:nvGrpSpPr>
          <p:grpSpPr bwMode="auto">
            <a:xfrm>
              <a:off x="6650092" y="3392733"/>
              <a:ext cx="1468071" cy="1888904"/>
              <a:chOff x="6793765" y="4257230"/>
              <a:chExt cx="1467765" cy="1888231"/>
            </a:xfrm>
          </p:grpSpPr>
          <p:grpSp>
            <p:nvGrpSpPr>
              <p:cNvPr id="14350" name="Group 16"/>
              <p:cNvGrpSpPr/>
              <p:nvPr/>
            </p:nvGrpSpPr>
            <p:grpSpPr bwMode="auto">
              <a:xfrm>
                <a:off x="6888586" y="4257230"/>
                <a:ext cx="1241425" cy="646113"/>
                <a:chOff x="4208" y="2740"/>
                <a:chExt cx="782" cy="407"/>
              </a:xfrm>
            </p:grpSpPr>
            <p:sp>
              <p:nvSpPr>
                <p:cNvPr id="14355" name="Rectangle 22"/>
                <p:cNvSpPr>
                  <a:spLocks noChangeArrowheads="1"/>
                </p:cNvSpPr>
                <p:nvPr/>
              </p:nvSpPr>
              <p:spPr bwMode="auto">
                <a:xfrm>
                  <a:off x="4770" y="2740"/>
                  <a:ext cx="220" cy="271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</a:ln>
                <a:scene3d>
                  <a:camera prst="legacyObliqueTopLeft">
                    <a:rot lat="300000" lon="4800000" rev="0"/>
                  </a:camera>
                  <a:lightRig rig="legacyFlat3" dir="t"/>
                </a:scene3d>
                <a:sp3d extrusionH="1000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</p:spPr>
              <p:txBody>
                <a:bodyPr wrap="none" anchor="ctr">
                  <a:spAutoFit/>
                  <a:flatTx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b="0">
                    <a:latin typeface="Calibri" panose="020F0502020204030204" charset="0"/>
                  </a:endParaRPr>
                </a:p>
              </p:txBody>
            </p:sp>
            <p:sp>
              <p:nvSpPr>
                <p:cNvPr id="14356" name="Rectangle 23"/>
                <p:cNvSpPr>
                  <a:spLocks noChangeArrowheads="1"/>
                </p:cNvSpPr>
                <p:nvPr/>
              </p:nvSpPr>
              <p:spPr bwMode="auto">
                <a:xfrm>
                  <a:off x="4208" y="2876"/>
                  <a:ext cx="234" cy="271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miter lim="800000"/>
                </a:ln>
                <a:scene3d>
                  <a:camera prst="legacyObliqueTopLeft">
                    <a:rot lat="300000" lon="4800000" rev="0"/>
                  </a:camera>
                  <a:lightRig rig="legacyFlat3" dir="t"/>
                </a:scene3d>
                <a:sp3d extrusionH="1000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</p:spPr>
              <p:txBody>
                <a:bodyPr wrap="none" anchor="ctr">
                  <a:spAutoFit/>
                  <a:flatTx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zh-CN" b="0">
                    <a:latin typeface="Calibri" panose="020F0502020204030204" charset="0"/>
                  </a:endParaRPr>
                </a:p>
              </p:txBody>
            </p:sp>
          </p:grpSp>
          <p:sp>
            <p:nvSpPr>
              <p:cNvPr id="14351" name="Text Box 17"/>
              <p:cNvSpPr txBox="1">
                <a:spLocks noChangeArrowheads="1"/>
              </p:cNvSpPr>
              <p:nvPr/>
            </p:nvSpPr>
            <p:spPr bwMode="auto">
              <a:xfrm>
                <a:off x="6793765" y="4419966"/>
                <a:ext cx="531044" cy="483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b="0" dirty="0">
                    <a:solidFill>
                      <a:srgbClr val="FFFF00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grpSp>
            <p:nvGrpSpPr>
              <p:cNvPr id="14352" name="Group 19"/>
              <p:cNvGrpSpPr/>
              <p:nvPr/>
            </p:nvGrpSpPr>
            <p:grpSpPr bwMode="auto">
              <a:xfrm>
                <a:off x="7469367" y="5305673"/>
                <a:ext cx="792163" cy="839788"/>
                <a:chOff x="4846" y="3277"/>
                <a:chExt cx="499" cy="529"/>
              </a:xfrm>
            </p:grpSpPr>
            <p:sp>
              <p:nvSpPr>
                <p:cNvPr id="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926" y="3501"/>
                  <a:ext cx="272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100" b="0">
                      <a:cs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14354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4846" y="3277"/>
                  <a:ext cx="499" cy="1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49" name="Object 64"/>
          <p:cNvGraphicFramePr>
            <a:graphicFrameLocks noChangeAspect="1"/>
          </p:cNvGraphicFramePr>
          <p:nvPr/>
        </p:nvGraphicFramePr>
        <p:xfrm>
          <a:off x="4843656" y="5336062"/>
          <a:ext cx="1294185" cy="74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9" imgW="16459200" imgH="9448800" progId="Equation.DSMT4">
                  <p:embed/>
                </p:oleObj>
              </mc:Choice>
              <mc:Fallback>
                <p:oleObj name="Equation" r:id="rId9" imgW="16459200" imgH="9448800" progId="Equation.DSMT4">
                  <p:embed/>
                  <p:pic>
                    <p:nvPicPr>
                      <p:cNvPr id="0" name="Object 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3656" y="5336062"/>
                        <a:ext cx="1294185" cy="74239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286254" y="4195023"/>
            <a:ext cx="6061549" cy="42989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Energy density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 electric field 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能量密度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1" name="Object 20"/>
          <p:cNvGraphicFramePr>
            <a:graphicFrameLocks noChangeAspect="1"/>
          </p:cNvGraphicFramePr>
          <p:nvPr/>
        </p:nvGraphicFramePr>
        <p:xfrm>
          <a:off x="204976" y="4957976"/>
          <a:ext cx="4183085" cy="112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11" imgW="51206400" imgH="13716000" progId="Equation.DSMT4">
                  <p:embed/>
                </p:oleObj>
              </mc:Choice>
              <mc:Fallback>
                <p:oleObj name="Equation" r:id="rId11" imgW="51206400" imgH="137160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4976" y="4957976"/>
                        <a:ext cx="4183085" cy="11204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7"/>
          <p:cNvGraphicFramePr>
            <a:graphicFrameLocks noChangeAspect="1"/>
          </p:cNvGraphicFramePr>
          <p:nvPr/>
        </p:nvGraphicFramePr>
        <p:xfrm>
          <a:off x="5693558" y="757534"/>
          <a:ext cx="1283678" cy="398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13" imgW="16764000" imgH="5486400" progId="Equation.DSMT4">
                  <p:embed/>
                </p:oleObj>
              </mc:Choice>
              <mc:Fallback>
                <p:oleObj name="Equation" r:id="rId13" imgW="16764000" imgH="5486400" progId="Equation.DSMT4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93558" y="757534"/>
                        <a:ext cx="1283678" cy="39840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6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6"/>
          <p:cNvGrpSpPr/>
          <p:nvPr/>
        </p:nvGrpSpPr>
        <p:grpSpPr bwMode="auto">
          <a:xfrm>
            <a:off x="5454603" y="1877426"/>
            <a:ext cx="3290888" cy="1600200"/>
            <a:chOff x="3544" y="288"/>
            <a:chExt cx="2073" cy="1008"/>
          </a:xfrm>
        </p:grpSpPr>
        <p:grpSp>
          <p:nvGrpSpPr>
            <p:cNvPr id="15371" name="Group 15"/>
            <p:cNvGrpSpPr/>
            <p:nvPr/>
          </p:nvGrpSpPr>
          <p:grpSpPr bwMode="auto">
            <a:xfrm>
              <a:off x="3840" y="576"/>
              <a:ext cx="480" cy="432"/>
              <a:chOff x="3840" y="576"/>
              <a:chExt cx="480" cy="432"/>
            </a:xfrm>
          </p:grpSpPr>
          <p:sp>
            <p:nvSpPr>
              <p:cNvPr id="15402" name="Line 46"/>
              <p:cNvSpPr>
                <a:spLocks noChangeShapeType="1"/>
              </p:cNvSpPr>
              <p:nvPr/>
            </p:nvSpPr>
            <p:spPr bwMode="auto">
              <a:xfrm>
                <a:off x="3840" y="720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3" name="Line 47"/>
              <p:cNvSpPr>
                <a:spLocks noChangeShapeType="1"/>
              </p:cNvSpPr>
              <p:nvPr/>
            </p:nvSpPr>
            <p:spPr bwMode="auto">
              <a:xfrm>
                <a:off x="3984" y="768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4" name="Line 48"/>
              <p:cNvSpPr>
                <a:spLocks noChangeShapeType="1"/>
              </p:cNvSpPr>
              <p:nvPr/>
            </p:nvSpPr>
            <p:spPr bwMode="auto">
              <a:xfrm>
                <a:off x="3840" y="816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5" name="Line 49"/>
              <p:cNvSpPr>
                <a:spLocks noChangeShapeType="1"/>
              </p:cNvSpPr>
              <p:nvPr/>
            </p:nvSpPr>
            <p:spPr bwMode="auto">
              <a:xfrm>
                <a:off x="3984" y="864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Line 50"/>
              <p:cNvSpPr>
                <a:spLocks noChangeShapeType="1"/>
              </p:cNvSpPr>
              <p:nvPr/>
            </p:nvSpPr>
            <p:spPr bwMode="auto">
              <a:xfrm flipV="1">
                <a:off x="4080" y="57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Line 51"/>
              <p:cNvSpPr>
                <a:spLocks noChangeShapeType="1"/>
              </p:cNvSpPr>
              <p:nvPr/>
            </p:nvSpPr>
            <p:spPr bwMode="auto">
              <a:xfrm flipV="1">
                <a:off x="4080" y="86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72" name="Line 16"/>
            <p:cNvSpPr>
              <a:spLocks noChangeShapeType="1"/>
            </p:cNvSpPr>
            <p:nvPr/>
          </p:nvSpPr>
          <p:spPr bwMode="auto">
            <a:xfrm flipV="1">
              <a:off x="4080" y="28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Line 17"/>
            <p:cNvSpPr>
              <a:spLocks noChangeShapeType="1"/>
            </p:cNvSpPr>
            <p:nvPr/>
          </p:nvSpPr>
          <p:spPr bwMode="auto">
            <a:xfrm>
              <a:off x="4080" y="28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74" name="Group 18"/>
            <p:cNvGrpSpPr/>
            <p:nvPr/>
          </p:nvGrpSpPr>
          <p:grpSpPr bwMode="auto">
            <a:xfrm>
              <a:off x="4800" y="432"/>
              <a:ext cx="288" cy="336"/>
              <a:chOff x="4800" y="432"/>
              <a:chExt cx="288" cy="336"/>
            </a:xfrm>
          </p:grpSpPr>
          <p:sp>
            <p:nvSpPr>
              <p:cNvPr id="15398" name="Line 42"/>
              <p:cNvSpPr>
                <a:spLocks noChangeShapeType="1"/>
              </p:cNvSpPr>
              <p:nvPr/>
            </p:nvSpPr>
            <p:spPr bwMode="auto">
              <a:xfrm>
                <a:off x="4800" y="576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Line 43"/>
              <p:cNvSpPr>
                <a:spLocks noChangeShapeType="1"/>
              </p:cNvSpPr>
              <p:nvPr/>
            </p:nvSpPr>
            <p:spPr bwMode="auto">
              <a:xfrm>
                <a:off x="4800" y="62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0" name="Line 44"/>
              <p:cNvSpPr>
                <a:spLocks noChangeShapeType="1"/>
              </p:cNvSpPr>
              <p:nvPr/>
            </p:nvSpPr>
            <p:spPr bwMode="auto">
              <a:xfrm>
                <a:off x="4944" y="43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" name="Line 45"/>
              <p:cNvSpPr>
                <a:spLocks noChangeShapeType="1"/>
              </p:cNvSpPr>
              <p:nvPr/>
            </p:nvSpPr>
            <p:spPr bwMode="auto">
              <a:xfrm>
                <a:off x="4944" y="62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75" name="Group 19"/>
            <p:cNvGrpSpPr/>
            <p:nvPr/>
          </p:nvGrpSpPr>
          <p:grpSpPr bwMode="auto">
            <a:xfrm>
              <a:off x="4608" y="816"/>
              <a:ext cx="288" cy="336"/>
              <a:chOff x="4608" y="816"/>
              <a:chExt cx="288" cy="336"/>
            </a:xfrm>
          </p:grpSpPr>
          <p:sp>
            <p:nvSpPr>
              <p:cNvPr id="15394" name="Line 38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Line 39"/>
              <p:cNvSpPr>
                <a:spLocks noChangeShapeType="1"/>
              </p:cNvSpPr>
              <p:nvPr/>
            </p:nvSpPr>
            <p:spPr bwMode="auto">
              <a:xfrm>
                <a:off x="4608" y="1008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Line 40"/>
              <p:cNvSpPr>
                <a:spLocks noChangeShapeType="1"/>
              </p:cNvSpPr>
              <p:nvPr/>
            </p:nvSpPr>
            <p:spPr bwMode="auto">
              <a:xfrm>
                <a:off x="4752" y="81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7" name="Line 41"/>
              <p:cNvSpPr>
                <a:spLocks noChangeShapeType="1"/>
              </p:cNvSpPr>
              <p:nvPr/>
            </p:nvSpPr>
            <p:spPr bwMode="auto">
              <a:xfrm>
                <a:off x="4752" y="1008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76" name="Line 20"/>
            <p:cNvSpPr>
              <a:spLocks noChangeShapeType="1"/>
            </p:cNvSpPr>
            <p:nvPr/>
          </p:nvSpPr>
          <p:spPr bwMode="auto">
            <a:xfrm flipV="1">
              <a:off x="4080" y="100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21"/>
            <p:cNvSpPr>
              <a:spLocks noChangeShapeType="1"/>
            </p:cNvSpPr>
            <p:nvPr/>
          </p:nvSpPr>
          <p:spPr bwMode="auto">
            <a:xfrm>
              <a:off x="4080" y="129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22"/>
            <p:cNvSpPr>
              <a:spLocks noChangeShapeType="1"/>
            </p:cNvSpPr>
            <p:nvPr/>
          </p:nvSpPr>
          <p:spPr bwMode="auto">
            <a:xfrm>
              <a:off x="4944" y="115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Line 23"/>
            <p:cNvSpPr>
              <a:spLocks noChangeShapeType="1"/>
            </p:cNvSpPr>
            <p:nvPr/>
          </p:nvSpPr>
          <p:spPr bwMode="auto">
            <a:xfrm>
              <a:off x="4944" y="28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Line 24"/>
            <p:cNvSpPr>
              <a:spLocks noChangeShapeType="1"/>
            </p:cNvSpPr>
            <p:nvPr/>
          </p:nvSpPr>
          <p:spPr bwMode="auto">
            <a:xfrm>
              <a:off x="4944" y="768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Rectangle 25"/>
            <p:cNvSpPr>
              <a:spLocks noChangeArrowheads="1"/>
            </p:cNvSpPr>
            <p:nvPr/>
          </p:nvSpPr>
          <p:spPr bwMode="auto">
            <a:xfrm>
              <a:off x="4505" y="447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1</a:t>
              </a:r>
            </a:p>
          </p:txBody>
        </p:sp>
        <p:sp>
          <p:nvSpPr>
            <p:cNvPr id="15382" name="Line 26"/>
            <p:cNvSpPr>
              <a:spLocks noChangeShapeType="1"/>
            </p:cNvSpPr>
            <p:nvPr/>
          </p:nvSpPr>
          <p:spPr bwMode="auto">
            <a:xfrm>
              <a:off x="4944" y="672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Line 27"/>
            <p:cNvSpPr>
              <a:spLocks noChangeShapeType="1"/>
            </p:cNvSpPr>
            <p:nvPr/>
          </p:nvSpPr>
          <p:spPr bwMode="auto">
            <a:xfrm>
              <a:off x="4944" y="1152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Rectangle 28"/>
            <p:cNvSpPr>
              <a:spLocks noChangeArrowheads="1"/>
            </p:cNvSpPr>
            <p:nvPr/>
          </p:nvSpPr>
          <p:spPr bwMode="auto">
            <a:xfrm>
              <a:off x="4361" y="879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2</a:t>
              </a:r>
            </a:p>
          </p:txBody>
        </p:sp>
        <p:sp>
          <p:nvSpPr>
            <p:cNvPr id="15385" name="Rectangle 29"/>
            <p:cNvSpPr>
              <a:spLocks noChangeArrowheads="1"/>
            </p:cNvSpPr>
            <p:nvPr/>
          </p:nvSpPr>
          <p:spPr bwMode="auto">
            <a:xfrm>
              <a:off x="3544" y="687"/>
              <a:ext cx="22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V</a:t>
              </a:r>
            </a:p>
          </p:txBody>
        </p:sp>
        <p:grpSp>
          <p:nvGrpSpPr>
            <p:cNvPr id="15386" name="Group 30"/>
            <p:cNvGrpSpPr/>
            <p:nvPr/>
          </p:nvGrpSpPr>
          <p:grpSpPr bwMode="auto">
            <a:xfrm>
              <a:off x="5040" y="816"/>
              <a:ext cx="288" cy="336"/>
              <a:chOff x="5040" y="816"/>
              <a:chExt cx="288" cy="336"/>
            </a:xfrm>
          </p:grpSpPr>
          <p:sp>
            <p:nvSpPr>
              <p:cNvPr id="15390" name="Line 34"/>
              <p:cNvSpPr>
                <a:spLocks noChangeShapeType="1"/>
              </p:cNvSpPr>
              <p:nvPr/>
            </p:nvSpPr>
            <p:spPr bwMode="auto">
              <a:xfrm>
                <a:off x="5040" y="96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Line 35"/>
              <p:cNvSpPr>
                <a:spLocks noChangeShapeType="1"/>
              </p:cNvSpPr>
              <p:nvPr/>
            </p:nvSpPr>
            <p:spPr bwMode="auto">
              <a:xfrm>
                <a:off x="5040" y="1008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36"/>
              <p:cNvSpPr>
                <a:spLocks noChangeShapeType="1"/>
              </p:cNvSpPr>
              <p:nvPr/>
            </p:nvSpPr>
            <p:spPr bwMode="auto">
              <a:xfrm>
                <a:off x="5184" y="81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37"/>
              <p:cNvSpPr>
                <a:spLocks noChangeShapeType="1"/>
              </p:cNvSpPr>
              <p:nvPr/>
            </p:nvSpPr>
            <p:spPr bwMode="auto">
              <a:xfrm>
                <a:off x="5184" y="1008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7" name="Rectangle 31"/>
            <p:cNvSpPr>
              <a:spLocks noChangeArrowheads="1"/>
            </p:cNvSpPr>
            <p:nvPr/>
          </p:nvSpPr>
          <p:spPr bwMode="auto">
            <a:xfrm>
              <a:off x="5321" y="879"/>
              <a:ext cx="2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i="1"/>
                <a:t>C</a:t>
              </a:r>
              <a:r>
                <a:rPr lang="en-US" altLang="zh-CN" sz="2100" b="0" i="1" baseline="-25000"/>
                <a:t>3</a:t>
              </a:r>
            </a:p>
          </p:txBody>
        </p:sp>
        <p:sp>
          <p:nvSpPr>
            <p:cNvPr id="15388" name="Line 32"/>
            <p:cNvSpPr>
              <a:spLocks noChangeShapeType="1"/>
            </p:cNvSpPr>
            <p:nvPr/>
          </p:nvSpPr>
          <p:spPr bwMode="auto">
            <a:xfrm>
              <a:off x="4752" y="816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Line 33"/>
            <p:cNvSpPr>
              <a:spLocks noChangeShapeType="1"/>
            </p:cNvSpPr>
            <p:nvPr/>
          </p:nvSpPr>
          <p:spPr bwMode="auto">
            <a:xfrm>
              <a:off x="4752" y="1152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936" name="Rectangle 7"/>
          <p:cNvSpPr>
            <a:spLocks noChangeArrowheads="1"/>
          </p:cNvSpPr>
          <p:nvPr/>
        </p:nvSpPr>
        <p:spPr bwMode="auto">
          <a:xfrm>
            <a:off x="488640" y="458507"/>
            <a:ext cx="8076694" cy="105791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</a:ln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4: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48V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100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9.0</a:t>
            </a:r>
            <a:r>
              <a:rPr lang="el-GR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100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4.0</a:t>
            </a:r>
            <a:r>
              <a:rPr lang="el-GR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100" baseline="-25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8.0</a:t>
            </a:r>
            <a:r>
              <a:rPr lang="el-GR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μ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</a:t>
            </a: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capacitance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circuit. </a:t>
            </a:r>
          </a:p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 the </a:t>
            </a: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energy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the three capacitors.</a:t>
            </a:r>
          </a:p>
        </p:txBody>
      </p:sp>
      <p:sp>
        <p:nvSpPr>
          <p:cNvPr id="208939" name="Text Box 10"/>
          <p:cNvSpPr txBox="1">
            <a:spLocks noChangeArrowheads="1"/>
          </p:cNvSpPr>
          <p:nvPr/>
        </p:nvSpPr>
        <p:spPr bwMode="auto">
          <a:xfrm>
            <a:off x="306450" y="2232025"/>
            <a:ext cx="5171934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capacitance of C</a:t>
            </a:r>
            <a:r>
              <a:rPr lang="en-US" altLang="zh-CN" sz="21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</a:t>
            </a:r>
            <a:r>
              <a:rPr lang="en-US" altLang="zh-CN" sz="21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08940" name="Object 2"/>
          <p:cNvGraphicFramePr>
            <a:graphicFrameLocks noChangeAspect="1"/>
          </p:cNvGraphicFramePr>
          <p:nvPr/>
        </p:nvGraphicFramePr>
        <p:xfrm>
          <a:off x="1290304" y="2787336"/>
          <a:ext cx="3033354" cy="506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3" imgW="33223200" imgH="5486400" progId="Equation.DSMT4">
                  <p:embed/>
                </p:oleObj>
              </mc:Choice>
              <mc:Fallback>
                <p:oleObj name="Equation" r:id="rId3" imgW="33223200" imgH="54864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0304" y="2787336"/>
                        <a:ext cx="3033354" cy="5068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41" name="Object 3"/>
          <p:cNvGraphicFramePr>
            <a:graphicFrameLocks noChangeAspect="1"/>
          </p:cNvGraphicFramePr>
          <p:nvPr/>
        </p:nvGraphicFramePr>
        <p:xfrm>
          <a:off x="1289858" y="5621313"/>
          <a:ext cx="5934807" cy="76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5" imgW="74371200" imgH="9448800" progId="Equation.DSMT4">
                  <p:embed/>
                </p:oleObj>
              </mc:Choice>
              <mc:Fallback>
                <p:oleObj name="Equation" r:id="rId5" imgW="74371200" imgH="94488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9858" y="5621313"/>
                        <a:ext cx="5934807" cy="76802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42" name="Text Box 11"/>
          <p:cNvSpPr txBox="1">
            <a:spLocks noChangeArrowheads="1"/>
          </p:cNvSpPr>
          <p:nvPr/>
        </p:nvSpPr>
        <p:spPr bwMode="auto">
          <a:xfrm>
            <a:off x="467545" y="4939138"/>
            <a:ext cx="5081971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in the capacitors:</a:t>
            </a:r>
          </a:p>
        </p:txBody>
      </p:sp>
      <p:sp>
        <p:nvSpPr>
          <p:cNvPr id="208943" name="Text Box 12"/>
          <p:cNvSpPr txBox="1">
            <a:spLocks noChangeArrowheads="1"/>
          </p:cNvSpPr>
          <p:nvPr/>
        </p:nvSpPr>
        <p:spPr bwMode="auto">
          <a:xfrm>
            <a:off x="271069" y="3489363"/>
            <a:ext cx="6432558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capacitance of the three capacitors:</a:t>
            </a:r>
          </a:p>
        </p:txBody>
      </p:sp>
      <p:graphicFrame>
        <p:nvGraphicFramePr>
          <p:cNvPr id="208944" name="Object 4"/>
          <p:cNvGraphicFramePr>
            <a:graphicFrameLocks noChangeAspect="1"/>
          </p:cNvGraphicFramePr>
          <p:nvPr/>
        </p:nvGraphicFramePr>
        <p:xfrm>
          <a:off x="1289858" y="3949859"/>
          <a:ext cx="3006236" cy="8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7" imgW="35356800" imgH="10363200" progId="Equation.DSMT4">
                  <p:embed/>
                </p:oleObj>
              </mc:Choice>
              <mc:Fallback>
                <p:oleObj name="Equation" r:id="rId7" imgW="35356800" imgH="103632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89858" y="3949859"/>
                        <a:ext cx="3006236" cy="881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4"/>
          <p:cNvSpPr txBox="1">
            <a:spLocks noChangeArrowheads="1"/>
          </p:cNvSpPr>
          <p:nvPr/>
        </p:nvSpPr>
        <p:spPr bwMode="auto">
          <a:xfrm>
            <a:off x="306451" y="1728788"/>
            <a:ext cx="1162050" cy="41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graphicFrame>
        <p:nvGraphicFramePr>
          <p:cNvPr id="48" name="Object 70"/>
          <p:cNvGraphicFramePr>
            <a:graphicFrameLocks noChangeAspect="1"/>
          </p:cNvGraphicFramePr>
          <p:nvPr/>
        </p:nvGraphicFramePr>
        <p:xfrm>
          <a:off x="7507786" y="1194352"/>
          <a:ext cx="1039776" cy="581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9" imgW="16764000" imgH="9448800" progId="Equation.DSMT4">
                  <p:embed/>
                </p:oleObj>
              </mc:Choice>
              <mc:Fallback>
                <p:oleObj name="Equation" r:id="rId9" imgW="16764000" imgH="9448800" progId="Equation.DSMT4">
                  <p:embed/>
                  <p:pic>
                    <p:nvPicPr>
                      <p:cNvPr id="0" name="Object 7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07786" y="1194352"/>
                        <a:ext cx="1039776" cy="58156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39" grpId="0"/>
      <p:bldP spid="208942" grpId="0"/>
      <p:bldP spid="208943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62" name="Text Box 7"/>
          <p:cNvSpPr txBox="1">
            <a:spLocks noChangeArrowheads="1"/>
          </p:cNvSpPr>
          <p:nvPr/>
        </p:nvSpPr>
        <p:spPr bwMode="auto">
          <a:xfrm>
            <a:off x="358776" y="922339"/>
            <a:ext cx="8391525" cy="73215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region </a:t>
            </a:r>
            <a:r>
              <a:rPr lang="en-US" altLang="zh-CN" sz="21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filled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dielectric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electrostatic equations containing </a:t>
            </a: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permittivity constant </a:t>
            </a:r>
            <a:r>
              <a:rPr lang="el-GR" altLang="zh-CN" sz="24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400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to be replaced with </a:t>
            </a:r>
            <a:r>
              <a:rPr lang="el-GR" altLang="zh-CN" sz="24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κ ε </a:t>
            </a:r>
            <a:r>
              <a:rPr lang="en-US" altLang="zh-CN" sz="2400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aseline="-250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24"/>
          <p:cNvGrpSpPr/>
          <p:nvPr/>
        </p:nvGrpSpPr>
        <p:grpSpPr bwMode="auto">
          <a:xfrm>
            <a:off x="4827589" y="2420940"/>
            <a:ext cx="3887787" cy="2396323"/>
            <a:chOff x="4827588" y="2420939"/>
            <a:chExt cx="3887787" cy="2396323"/>
          </a:xfrm>
        </p:grpSpPr>
        <p:grpSp>
          <p:nvGrpSpPr>
            <p:cNvPr id="21520" name="Group 6"/>
            <p:cNvGrpSpPr/>
            <p:nvPr/>
          </p:nvGrpSpPr>
          <p:grpSpPr bwMode="auto">
            <a:xfrm>
              <a:off x="4827588" y="2420939"/>
              <a:ext cx="3887787" cy="1335088"/>
              <a:chOff x="2903" y="2377"/>
              <a:chExt cx="2449" cy="841"/>
            </a:xfrm>
          </p:grpSpPr>
          <p:sp>
            <p:nvSpPr>
              <p:cNvPr id="21522" name="Rectangle 18"/>
              <p:cNvSpPr>
                <a:spLocks noChangeArrowheads="1"/>
              </p:cNvSpPr>
              <p:nvPr/>
            </p:nvSpPr>
            <p:spPr bwMode="auto">
              <a:xfrm>
                <a:off x="2903" y="2986"/>
                <a:ext cx="2449" cy="232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  <a:miter lim="800000"/>
              </a:ln>
            </p:spPr>
            <p:txBody>
              <a:bodyPr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0">
                  <a:latin typeface="Calibri" panose="020F0502020204030204" charset="0"/>
                </a:endParaRPr>
              </a:p>
            </p:txBody>
          </p:sp>
          <p:sp>
            <p:nvSpPr>
              <p:cNvPr id="21523" name="Oval 19"/>
              <p:cNvSpPr>
                <a:spLocks noChangeArrowheads="1"/>
              </p:cNvSpPr>
              <p:nvPr/>
            </p:nvSpPr>
            <p:spPr bwMode="auto">
              <a:xfrm>
                <a:off x="3993" y="2881"/>
                <a:ext cx="227" cy="328"/>
              </a:xfrm>
              <a:prstGeom prst="ellipse">
                <a:avLst/>
              </a:prstGeom>
              <a:solidFill>
                <a:srgbClr val="FAC2F5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anchor="ctr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0">
                  <a:latin typeface="Calibri" panose="020F0502020204030204" charset="0"/>
                </a:endParaRPr>
              </a:p>
            </p:txBody>
          </p:sp>
          <p:sp>
            <p:nvSpPr>
              <p:cNvPr id="21524" name="Text Box 20"/>
              <p:cNvSpPr txBox="1">
                <a:spLocks noChangeArrowheads="1"/>
              </p:cNvSpPr>
              <p:nvPr/>
            </p:nvSpPr>
            <p:spPr bwMode="auto">
              <a:xfrm>
                <a:off x="3970" y="2893"/>
                <a:ext cx="27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en-US" altLang="zh-CN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25" name="Text Box 21"/>
              <p:cNvSpPr txBox="1">
                <a:spLocks noChangeArrowheads="1"/>
              </p:cNvSpPr>
              <p:nvPr/>
            </p:nvSpPr>
            <p:spPr bwMode="auto">
              <a:xfrm>
                <a:off x="3649" y="2377"/>
                <a:ext cx="852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100" b="0">
                    <a:solidFill>
                      <a:srgbClr val="FFFF00"/>
                    </a:solidFill>
                    <a:cs typeface="Arial" panose="020B0604020202020204" pitchFamily="34" charset="0"/>
                  </a:rPr>
                  <a:t>Dielectric </a:t>
                </a:r>
              </a:p>
            </p:txBody>
          </p:sp>
        </p:grpSp>
        <p:graphicFrame>
          <p:nvGraphicFramePr>
            <p:cNvPr id="21521" name="Object 132"/>
            <p:cNvGraphicFramePr>
              <a:graphicFrameLocks noChangeAspect="1"/>
            </p:cNvGraphicFramePr>
            <p:nvPr/>
          </p:nvGraphicFramePr>
          <p:xfrm>
            <a:off x="5902774" y="3961551"/>
            <a:ext cx="1737414" cy="8557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2" name="Equation" r:id="rId3" imgW="22555200" imgH="10363200" progId="Equation.DSMT4">
                    <p:embed/>
                  </p:oleObj>
                </mc:Choice>
                <mc:Fallback>
                  <p:oleObj name="Equation" r:id="rId3" imgW="22555200" imgH="10363200" progId="Equation.DSMT4">
                    <p:embed/>
                    <p:pic>
                      <p:nvPicPr>
                        <p:cNvPr id="0" name="Object 1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02774" y="3961551"/>
                          <a:ext cx="1737414" cy="8557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2"/>
          <p:cNvGrpSpPr/>
          <p:nvPr/>
        </p:nvGrpSpPr>
        <p:grpSpPr bwMode="auto">
          <a:xfrm>
            <a:off x="539750" y="2420889"/>
            <a:ext cx="3887788" cy="2366149"/>
            <a:chOff x="539750" y="2420888"/>
            <a:chExt cx="3887788" cy="2366149"/>
          </a:xfrm>
        </p:grpSpPr>
        <p:sp>
          <p:nvSpPr>
            <p:cNvPr id="21515" name="Rectangle 8"/>
            <p:cNvSpPr>
              <a:spLocks noChangeArrowheads="1"/>
            </p:cNvSpPr>
            <p:nvPr/>
          </p:nvSpPr>
          <p:spPr bwMode="auto">
            <a:xfrm>
              <a:off x="539750" y="3397250"/>
              <a:ext cx="3887788" cy="3683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sp>
          <p:nvSpPr>
            <p:cNvPr id="21516" name="Oval 9"/>
            <p:cNvSpPr>
              <a:spLocks noChangeArrowheads="1"/>
            </p:cNvSpPr>
            <p:nvPr/>
          </p:nvSpPr>
          <p:spPr bwMode="auto">
            <a:xfrm>
              <a:off x="2338388" y="3231500"/>
              <a:ext cx="360362" cy="520414"/>
            </a:xfrm>
            <a:prstGeom prst="ellipse">
              <a:avLst/>
            </a:prstGeom>
            <a:solidFill>
              <a:srgbClr val="FAC2F5"/>
            </a:solidFill>
            <a:ln w="9525">
              <a:solidFill>
                <a:srgbClr val="00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>
                <a:latin typeface="Calibri" panose="020F0502020204030204" charset="0"/>
              </a:endParaRPr>
            </a:p>
          </p:txBody>
        </p:sp>
        <p:sp>
          <p:nvSpPr>
            <p:cNvPr id="21517" name="Text Box 10"/>
            <p:cNvSpPr txBox="1">
              <a:spLocks noChangeArrowheads="1"/>
            </p:cNvSpPr>
            <p:nvPr/>
          </p:nvSpPr>
          <p:spPr bwMode="auto">
            <a:xfrm>
              <a:off x="2338388" y="3240088"/>
              <a:ext cx="431800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sz="21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518" name="Object 129"/>
            <p:cNvGraphicFramePr>
              <a:graphicFrameLocks noChangeAspect="1"/>
            </p:cNvGraphicFramePr>
            <p:nvPr/>
          </p:nvGraphicFramePr>
          <p:xfrm>
            <a:off x="1600264" y="3905250"/>
            <a:ext cx="1766759" cy="88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3" name="Equation" r:id="rId5" imgW="20726400" imgH="10363200" progId="Equation.DSMT4">
                    <p:embed/>
                  </p:oleObj>
                </mc:Choice>
                <mc:Fallback>
                  <p:oleObj name="Equation" r:id="rId5" imgW="20726400" imgH="10363200" progId="Equation.DSMT4">
                    <p:embed/>
                    <p:pic>
                      <p:nvPicPr>
                        <p:cNvPr id="0" name="Object 1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00264" y="3905250"/>
                          <a:ext cx="1766759" cy="8817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Text Box 11"/>
            <p:cNvSpPr txBox="1">
              <a:spLocks noChangeArrowheads="1"/>
            </p:cNvSpPr>
            <p:nvPr/>
          </p:nvSpPr>
          <p:spPr bwMode="auto">
            <a:xfrm>
              <a:off x="1547664" y="2420888"/>
              <a:ext cx="1191617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Vacuum</a:t>
              </a:r>
              <a:endParaRPr lang="en-US" altLang="zh-CN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395288" y="387351"/>
            <a:ext cx="5112816" cy="46037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A point charge in a dielectric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339976" y="5373689"/>
            <a:ext cx="4240213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US" altLang="zh-CN" sz="2100" b="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charges</a:t>
            </a:r>
            <a:endParaRPr lang="en-US" altLang="zh-CN" sz="2100" b="0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23"/>
          <p:cNvGrpSpPr/>
          <p:nvPr/>
        </p:nvGrpSpPr>
        <p:grpSpPr bwMode="auto">
          <a:xfrm>
            <a:off x="1331913" y="5757321"/>
            <a:ext cx="6265862" cy="838411"/>
            <a:chOff x="1403648" y="5593807"/>
            <a:chExt cx="6266010" cy="838411"/>
          </a:xfrm>
        </p:grpSpPr>
        <p:graphicFrame>
          <p:nvGraphicFramePr>
            <p:cNvPr id="21512" name="Object 19"/>
            <p:cNvGraphicFramePr>
              <a:graphicFrameLocks noChangeAspect="1"/>
            </p:cNvGraphicFramePr>
            <p:nvPr/>
          </p:nvGraphicFramePr>
          <p:xfrm>
            <a:off x="3918447" y="5593807"/>
            <a:ext cx="1415800" cy="838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" name="Equation" r:id="rId7" imgW="14935200" imgH="9448800" progId="Equation.DSMT4">
                    <p:embed/>
                  </p:oleObj>
                </mc:Choice>
                <mc:Fallback>
                  <p:oleObj name="Equation" r:id="rId7" imgW="14935200" imgH="9448800" progId="Equation.DSMT4">
                    <p:embed/>
                    <p:pic>
                      <p:nvPicPr>
                        <p:cNvPr id="0" name="Object 1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18447" y="5593807"/>
                          <a:ext cx="1415800" cy="8384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3" name="Text Box 14"/>
            <p:cNvSpPr txBox="1">
              <a:spLocks noChangeArrowheads="1"/>
            </p:cNvSpPr>
            <p:nvPr/>
          </p:nvSpPr>
          <p:spPr bwMode="auto">
            <a:xfrm>
              <a:off x="1403648" y="5805264"/>
              <a:ext cx="2270596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Without dielectric</a:t>
              </a:r>
              <a:endParaRPr lang="en-US" altLang="zh-CN" sz="2100" b="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14" name="Text Box 15"/>
            <p:cNvSpPr txBox="1">
              <a:spLocks noChangeArrowheads="1"/>
            </p:cNvSpPr>
            <p:nvPr/>
          </p:nvSpPr>
          <p:spPr bwMode="auto">
            <a:xfrm>
              <a:off x="5652120" y="5805264"/>
              <a:ext cx="2017538" cy="41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100" b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dielectric</a:t>
              </a:r>
              <a:endParaRPr lang="en-US" altLang="zh-CN" sz="2100" b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62" grpId="0" autoUpdateAnimBg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4181" name="Object 69"/>
          <p:cNvGraphicFramePr>
            <a:graphicFrameLocks noChangeAspect="1"/>
          </p:cNvGraphicFramePr>
          <p:nvPr/>
        </p:nvGraphicFramePr>
        <p:xfrm>
          <a:off x="1927225" y="2574925"/>
          <a:ext cx="342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3" imgW="41148000" imgH="9448800" progId="Equation.DSMT4">
                  <p:embed/>
                </p:oleObj>
              </mc:Choice>
              <mc:Fallback>
                <p:oleObj name="Equation" r:id="rId3" imgW="41148000" imgH="9448800" progId="Equation.DSMT4">
                  <p:embed/>
                  <p:pic>
                    <p:nvPicPr>
                      <p:cNvPr id="0" name="Object 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7225" y="2574925"/>
                        <a:ext cx="34290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92" name="Object 76"/>
          <p:cNvGraphicFramePr>
            <a:graphicFrameLocks noChangeAspect="1"/>
          </p:cNvGraphicFramePr>
          <p:nvPr/>
        </p:nvGraphicFramePr>
        <p:xfrm>
          <a:off x="2051050" y="3421063"/>
          <a:ext cx="393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5" imgW="47244000" imgH="10058400" progId="Equation.DSMT4">
                  <p:embed/>
                </p:oleObj>
              </mc:Choice>
              <mc:Fallback>
                <p:oleObj name="Equation" r:id="rId5" imgW="47244000" imgH="10058400" progId="Equation.DSMT4">
                  <p:embed/>
                  <p:pic>
                    <p:nvPicPr>
                      <p:cNvPr id="0" name="Object 7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050" y="3421063"/>
                        <a:ext cx="3937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6" name="Text Box 15"/>
          <p:cNvSpPr txBox="1">
            <a:spLocks noChangeArrowheads="1"/>
          </p:cNvSpPr>
          <p:nvPr/>
        </p:nvSpPr>
        <p:spPr bwMode="auto">
          <a:xfrm>
            <a:off x="269875" y="502660"/>
            <a:ext cx="8740650" cy="1445260"/>
          </a:xfrm>
          <a:prstGeom prst="rect">
            <a:avLst/>
          </a:prstGeom>
          <a:noFill/>
          <a:ln w="6350" algn="ctr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7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parallel-plate capacitor,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C=13.5pF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charged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V=12.5V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then disconnected. A porcelain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瓷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 </a:t>
            </a:r>
            <a:r>
              <a:rPr lang="el-GR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6.5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slipped between the plates.</a:t>
            </a:r>
          </a:p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potential energy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 insertion?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work done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person who inserts the dielectric slab?</a:t>
            </a:r>
          </a:p>
        </p:txBody>
      </p:sp>
      <p:sp>
        <p:nvSpPr>
          <p:cNvPr id="71" name="Text Box 17"/>
          <p:cNvSpPr txBox="1">
            <a:spLocks noChangeArrowheads="1"/>
          </p:cNvSpPr>
          <p:nvPr/>
        </p:nvSpPr>
        <p:spPr bwMode="auto">
          <a:xfrm>
            <a:off x="269876" y="2174876"/>
            <a:ext cx="2124075" cy="42989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    (a)</a:t>
            </a:r>
          </a:p>
        </p:txBody>
      </p:sp>
      <p:sp>
        <p:nvSpPr>
          <p:cNvPr id="75" name="Text Box 17"/>
          <p:cNvSpPr txBox="1">
            <a:spLocks noChangeArrowheads="1"/>
          </p:cNvSpPr>
          <p:nvPr/>
        </p:nvSpPr>
        <p:spPr bwMode="auto">
          <a:xfrm>
            <a:off x="1331914" y="4421188"/>
            <a:ext cx="720725" cy="3987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graphicFrame>
        <p:nvGraphicFramePr>
          <p:cNvPr id="22540" name="Object 70"/>
          <p:cNvGraphicFramePr>
            <a:graphicFrameLocks noChangeAspect="1"/>
          </p:cNvGraphicFramePr>
          <p:nvPr/>
        </p:nvGraphicFramePr>
        <p:xfrm>
          <a:off x="2125664" y="4821238"/>
          <a:ext cx="3862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7" imgW="46329600" imgH="5791200" progId="Equation.DSMT4">
                  <p:embed/>
                </p:oleObj>
              </mc:Choice>
              <mc:Fallback>
                <p:oleObj name="Equation" r:id="rId7" imgW="46329600" imgH="5791200" progId="Equation.DSMT4">
                  <p:embed/>
                  <p:pic>
                    <p:nvPicPr>
                      <p:cNvPr id="0" name="Object 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5664" y="4821238"/>
                        <a:ext cx="3862387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62"/>
          <p:cNvSpPr txBox="1">
            <a:spLocks noChangeArrowheads="1"/>
          </p:cNvSpPr>
          <p:nvPr/>
        </p:nvSpPr>
        <p:spPr bwMode="auto">
          <a:xfrm>
            <a:off x="1498601" y="6097905"/>
            <a:ext cx="573087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capacitor will pull the dielectric slab in.</a:t>
            </a:r>
          </a:p>
        </p:txBody>
      </p:sp>
      <p:graphicFrame>
        <p:nvGraphicFramePr>
          <p:cNvPr id="79" name="Object 72"/>
          <p:cNvGraphicFramePr>
            <a:graphicFrameLocks noChangeAspect="1"/>
          </p:cNvGraphicFramePr>
          <p:nvPr/>
        </p:nvGraphicFramePr>
        <p:xfrm>
          <a:off x="2136775" y="5459413"/>
          <a:ext cx="1930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9" imgW="23164800" imgH="5791200" progId="Equation.DSMT4">
                  <p:embed/>
                </p:oleObj>
              </mc:Choice>
              <mc:Fallback>
                <p:oleObj name="Equation" r:id="rId9" imgW="23164800" imgH="5791200" progId="Equation.DSMT4">
                  <p:embed/>
                  <p:pic>
                    <p:nvPicPr>
                      <p:cNvPr id="0" name="Object 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36775" y="5459413"/>
                        <a:ext cx="1930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7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4"/>
          <p:cNvGrpSpPr/>
          <p:nvPr/>
        </p:nvGrpSpPr>
        <p:grpSpPr bwMode="auto">
          <a:xfrm>
            <a:off x="431081" y="994322"/>
            <a:ext cx="3141663" cy="3500437"/>
            <a:chOff x="-179" y="1125"/>
            <a:chExt cx="1979" cy="2205"/>
          </a:xfrm>
        </p:grpSpPr>
        <p:sp>
          <p:nvSpPr>
            <p:cNvPr id="26649" name="Rectangle 42"/>
            <p:cNvSpPr>
              <a:spLocks noChangeArrowheads="1"/>
            </p:cNvSpPr>
            <p:nvPr/>
          </p:nvSpPr>
          <p:spPr bwMode="auto">
            <a:xfrm>
              <a:off x="0" y="1170"/>
              <a:ext cx="290" cy="189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B9B9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>
                <a:solidFill>
                  <a:srgbClr val="003366"/>
                </a:solidFill>
              </a:endParaRPr>
            </a:p>
          </p:txBody>
        </p:sp>
        <p:sp>
          <p:nvSpPr>
            <p:cNvPr id="2" name="Rectangle 43"/>
            <p:cNvSpPr>
              <a:spLocks noChangeArrowheads="1"/>
            </p:cNvSpPr>
            <p:nvPr/>
          </p:nvSpPr>
          <p:spPr bwMode="auto">
            <a:xfrm>
              <a:off x="233" y="1125"/>
              <a:ext cx="172" cy="189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</a:t>
              </a:r>
            </a:p>
          </p:txBody>
        </p:sp>
        <p:sp>
          <p:nvSpPr>
            <p:cNvPr id="26651" name="Rectangle 44"/>
            <p:cNvSpPr>
              <a:spLocks noChangeArrowheads="1"/>
            </p:cNvSpPr>
            <p:nvPr/>
          </p:nvSpPr>
          <p:spPr bwMode="auto">
            <a:xfrm>
              <a:off x="1473" y="1170"/>
              <a:ext cx="327" cy="189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B9B9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 b="0">
                <a:solidFill>
                  <a:srgbClr val="003366"/>
                </a:solidFill>
              </a:endParaRPr>
            </a:p>
          </p:txBody>
        </p:sp>
        <p:sp>
          <p:nvSpPr>
            <p:cNvPr id="20521" name="Text Box 45"/>
            <p:cNvSpPr txBox="1">
              <a:spLocks noChangeArrowheads="1"/>
            </p:cNvSpPr>
            <p:nvPr/>
          </p:nvSpPr>
          <p:spPr bwMode="auto">
            <a:xfrm>
              <a:off x="1358" y="1125"/>
              <a:ext cx="171" cy="189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  <a:p>
              <a:pPr algn="just" eaLnBrk="1" hangingPunct="1">
                <a:defRPr/>
              </a:pPr>
              <a:r>
                <a: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</a:p>
          </p:txBody>
        </p:sp>
        <p:graphicFrame>
          <p:nvGraphicFramePr>
            <p:cNvPr id="26653" name="Object 34"/>
            <p:cNvGraphicFramePr/>
            <p:nvPr/>
          </p:nvGraphicFramePr>
          <p:xfrm>
            <a:off x="45" y="3060"/>
            <a:ext cx="27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5" name="Equation" r:id="rId4" imgW="215900" imgH="139700" progId="Equation.3">
                    <p:embed/>
                  </p:oleObj>
                </mc:Choice>
                <mc:Fallback>
                  <p:oleObj name="Equation" r:id="rId4" imgW="215900" imgH="139700" progId="Equation.3">
                    <p:embed/>
                    <p:pic>
                      <p:nvPicPr>
                        <p:cNvPr id="0" name="Object 3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" y="3060"/>
                          <a:ext cx="270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4" name="Object 33"/>
            <p:cNvGraphicFramePr/>
            <p:nvPr/>
          </p:nvGraphicFramePr>
          <p:xfrm>
            <a:off x="1350" y="3015"/>
            <a:ext cx="27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6" name="Equation" r:id="rId6" imgW="215900" imgH="114300" progId="Equation.3">
                    <p:embed/>
                  </p:oleObj>
                </mc:Choice>
                <mc:Fallback>
                  <p:oleObj name="Equation" r:id="rId6" imgW="215900" imgH="114300" progId="Equation.3">
                    <p:embed/>
                    <p:pic>
                      <p:nvPicPr>
                        <p:cNvPr id="0" name="Object 3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350" y="3015"/>
                          <a:ext cx="270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5" name="Text Box 46"/>
            <p:cNvSpPr txBox="1">
              <a:spLocks noChangeArrowheads="1"/>
            </p:cNvSpPr>
            <p:nvPr/>
          </p:nvSpPr>
          <p:spPr bwMode="auto">
            <a:xfrm>
              <a:off x="-179" y="2041"/>
              <a:ext cx="23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100">
                  <a:solidFill>
                    <a:srgbClr val="003366"/>
                  </a:solidFill>
                </a:rPr>
                <a:t>A</a:t>
              </a:r>
            </a:p>
          </p:txBody>
        </p:sp>
      </p:grpSp>
      <p:grpSp>
        <p:nvGrpSpPr>
          <p:cNvPr id="6" name="Group 15"/>
          <p:cNvGrpSpPr/>
          <p:nvPr/>
        </p:nvGrpSpPr>
        <p:grpSpPr bwMode="auto">
          <a:xfrm>
            <a:off x="1429619" y="565697"/>
            <a:ext cx="1474787" cy="3500437"/>
            <a:chOff x="-518" y="121"/>
            <a:chExt cx="929" cy="2205"/>
          </a:xfrm>
        </p:grpSpPr>
        <p:sp>
          <p:nvSpPr>
            <p:cNvPr id="26642" name="Text Box 37"/>
            <p:cNvSpPr txBox="1">
              <a:spLocks noChangeArrowheads="1"/>
            </p:cNvSpPr>
            <p:nvPr/>
          </p:nvSpPr>
          <p:spPr bwMode="auto">
            <a:xfrm>
              <a:off x="-440" y="616"/>
              <a:ext cx="195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sz="2100">
                <a:solidFill>
                  <a:srgbClr val="003366"/>
                </a:solidFill>
              </a:endParaRPr>
            </a:p>
          </p:txBody>
        </p:sp>
        <p:grpSp>
          <p:nvGrpSpPr>
            <p:cNvPr id="7" name="Group 38"/>
            <p:cNvGrpSpPr/>
            <p:nvPr/>
          </p:nvGrpSpPr>
          <p:grpSpPr bwMode="auto">
            <a:xfrm>
              <a:off x="-457" y="391"/>
              <a:ext cx="868" cy="1935"/>
              <a:chOff x="1400" y="810"/>
              <a:chExt cx="1050" cy="2069"/>
            </a:xfrm>
          </p:grpSpPr>
          <p:sp>
            <p:nvSpPr>
              <p:cNvPr id="26646" name="Rectangle 39" descr="纸莎草纸"/>
              <p:cNvSpPr>
                <a:spLocks noChangeArrowheads="1"/>
              </p:cNvSpPr>
              <p:nvPr/>
            </p:nvSpPr>
            <p:spPr bwMode="auto">
              <a:xfrm>
                <a:off x="1469" y="858"/>
                <a:ext cx="890" cy="2021"/>
              </a:xfrm>
              <a:prstGeom prst="rect">
                <a:avLst/>
              </a:prstGeom>
              <a:blipFill dpi="0" rotWithShape="0">
                <a:blip r:embed="rId8" cstate="print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en-US" altLang="zh-CN" sz="2100" b="0">
                  <a:solidFill>
                    <a:srgbClr val="003366"/>
                  </a:solidFill>
                </a:endParaRPr>
              </a:p>
            </p:txBody>
          </p:sp>
          <p:sp>
            <p:nvSpPr>
              <p:cNvPr id="4" name="Rectangle 40"/>
              <p:cNvSpPr>
                <a:spLocks noChangeArrowheads="1"/>
              </p:cNvSpPr>
              <p:nvPr/>
            </p:nvSpPr>
            <p:spPr bwMode="auto">
              <a:xfrm>
                <a:off x="1400" y="1004"/>
                <a:ext cx="307" cy="182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</a:t>
                </a: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10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</a:t>
                </a: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</a:t>
                </a: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</a:t>
                </a: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</a:t>
                </a:r>
              </a:p>
              <a:p>
                <a:pPr algn="just" eaLnBrk="1" hangingPunct="1">
                  <a:lnSpc>
                    <a:spcPct val="2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8" name="Rectangle 41"/>
              <p:cNvSpPr>
                <a:spLocks noChangeArrowheads="1"/>
              </p:cNvSpPr>
              <p:nvPr/>
            </p:nvSpPr>
            <p:spPr bwMode="auto">
              <a:xfrm>
                <a:off x="2143" y="810"/>
                <a:ext cx="307" cy="1889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solidFill>
                    <a:srgbClr val="003366"/>
                  </a:solidFill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10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endParaRPr lang="en-US" altLang="zh-CN" sz="210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  <a:p>
                <a:pPr algn="just" eaLnBrk="1" hangingPunct="1">
                  <a:lnSpc>
                    <a:spcPct val="35000"/>
                  </a:lnSpc>
                  <a:spcBef>
                    <a:spcPct val="50000"/>
                  </a:spcBef>
                  <a:defRPr/>
                </a:pPr>
                <a:r>
                  <a:rPr lang="en-US" altLang="zh-CN" sz="210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+</a:t>
                </a:r>
              </a:p>
            </p:txBody>
          </p:sp>
        </p:grpSp>
        <p:graphicFrame>
          <p:nvGraphicFramePr>
            <p:cNvPr id="26644" name="Object 25"/>
            <p:cNvGraphicFramePr>
              <a:graphicFrameLocks noChangeAspect="1"/>
            </p:cNvGraphicFramePr>
            <p:nvPr/>
          </p:nvGraphicFramePr>
          <p:xfrm>
            <a:off x="112" y="126"/>
            <a:ext cx="225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7" name="Equation" r:id="rId9" imgW="114300" imgH="165100" progId="Equation.DSMT4">
                    <p:embed/>
                  </p:oleObj>
                </mc:Choice>
                <mc:Fallback>
                  <p:oleObj name="Equation" r:id="rId9" imgW="114300" imgH="165100" progId="Equation.DSMT4">
                    <p:embed/>
                    <p:pic>
                      <p:nvPicPr>
                        <p:cNvPr id="0" name="Object 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2" y="126"/>
                          <a:ext cx="225" cy="2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5" name="Object 24"/>
            <p:cNvGraphicFramePr>
              <a:graphicFrameLocks noChangeAspect="1"/>
            </p:cNvGraphicFramePr>
            <p:nvPr/>
          </p:nvGraphicFramePr>
          <p:xfrm>
            <a:off x="-518" y="121"/>
            <a:ext cx="34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8" name="Equation" r:id="rId11" imgW="241300" imgH="165100" progId="Equation.DSMT4">
                    <p:embed/>
                  </p:oleObj>
                </mc:Choice>
                <mc:Fallback>
                  <p:oleObj name="Equation" r:id="rId11" imgW="241300" imgH="165100" progId="Equation.DSMT4">
                    <p:embed/>
                    <p:pic>
                      <p:nvPicPr>
                        <p:cNvPr id="0" name="Object 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-518" y="121"/>
                          <a:ext cx="341" cy="2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0390" name="Rectangle 16"/>
          <p:cNvSpPr>
            <a:spLocks noChangeArrowheads="1"/>
          </p:cNvSpPr>
          <p:nvPr/>
        </p:nvSpPr>
        <p:spPr bwMode="auto">
          <a:xfrm>
            <a:off x="1000994" y="1165108"/>
            <a:ext cx="928687" cy="2828277"/>
          </a:xfrm>
          <a:prstGeom prst="rect">
            <a:avLst/>
          </a:prstGeom>
          <a:noFill/>
          <a:ln w="22225">
            <a:solidFill>
              <a:srgbClr val="0033CC"/>
            </a:solidFill>
            <a:prstDash val="lg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100" b="0">
              <a:solidFill>
                <a:srgbClr val="003366"/>
              </a:solidFill>
            </a:endParaRPr>
          </a:p>
        </p:txBody>
      </p:sp>
      <p:sp>
        <p:nvSpPr>
          <p:cNvPr id="570389" name="Text Box 17"/>
          <p:cNvSpPr txBox="1">
            <a:spLocks noChangeArrowheads="1"/>
          </p:cNvSpPr>
          <p:nvPr/>
        </p:nvSpPr>
        <p:spPr bwMode="auto">
          <a:xfrm>
            <a:off x="3821503" y="589478"/>
            <a:ext cx="509079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dielectric, charge on the plate is </a:t>
            </a:r>
            <a:r>
              <a:rPr lang="en-US" altLang="zh-CN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graphicFrame>
        <p:nvGraphicFramePr>
          <p:cNvPr id="570388" name="Object 20"/>
          <p:cNvGraphicFramePr>
            <a:graphicFrameLocks noChangeAspect="1"/>
          </p:cNvGraphicFramePr>
          <p:nvPr/>
        </p:nvGraphicFramePr>
        <p:xfrm>
          <a:off x="4537888" y="2165465"/>
          <a:ext cx="3573212" cy="67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13" imgW="35356800" imgH="6705600" progId="Equation.DSMT4">
                  <p:embed/>
                </p:oleObj>
              </mc:Choice>
              <mc:Fallback>
                <p:oleObj name="Equation" r:id="rId13" imgW="35356800" imgH="67056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37888" y="2165465"/>
                        <a:ext cx="3573212" cy="676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23"/>
          <p:cNvSpPr/>
          <p:nvPr/>
        </p:nvSpPr>
        <p:spPr>
          <a:xfrm>
            <a:off x="3821253" y="4097686"/>
            <a:ext cx="5123629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dielectric</a:t>
            </a:r>
            <a:r>
              <a:rPr lang="zh-CN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</a:t>
            </a:r>
            <a:r>
              <a:rPr lang="en-US" altLang="zh-TW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induced charge </a:t>
            </a:r>
            <a:r>
              <a:rPr lang="zh-CN" altLang="en-US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感应电荷 </a:t>
            </a: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altLang="zh-CN" sz="2100" i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q’</a:t>
            </a: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3835805" y="1183452"/>
            <a:ext cx="305244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Gauss’s Law in Vacuum</a:t>
            </a:r>
          </a:p>
        </p:txBody>
      </p:sp>
      <p:graphicFrame>
        <p:nvGraphicFramePr>
          <p:cNvPr id="28" name="Object 20"/>
          <p:cNvGraphicFramePr>
            <a:graphicFrameLocks noChangeAspect="1"/>
          </p:cNvGraphicFramePr>
          <p:nvPr/>
        </p:nvGraphicFramePr>
        <p:xfrm>
          <a:off x="4537889" y="2957552"/>
          <a:ext cx="1466705" cy="105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Equation" r:id="rId15" imgW="14630400" imgH="10363200" progId="Equation.DSMT4">
                  <p:embed/>
                </p:oleObj>
              </mc:Choice>
              <mc:Fallback>
                <p:oleObj name="Equation" r:id="rId15" imgW="14630400" imgH="103632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37889" y="2957552"/>
                        <a:ext cx="1466705" cy="1052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630786" y="4916858"/>
            <a:ext cx="401637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Gauss’s Law for induced charge</a:t>
            </a:r>
          </a:p>
        </p:txBody>
      </p:sp>
      <p:graphicFrame>
        <p:nvGraphicFramePr>
          <p:cNvPr id="30" name="Object 20"/>
          <p:cNvGraphicFramePr>
            <a:graphicFrameLocks noChangeAspect="1"/>
          </p:cNvGraphicFramePr>
          <p:nvPr/>
        </p:nvGraphicFramePr>
        <p:xfrm>
          <a:off x="636588" y="5624514"/>
          <a:ext cx="39433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Equation" r:id="rId17" imgW="39014400" imgH="6705600" progId="Equation.DSMT4">
                  <p:embed/>
                </p:oleObj>
              </mc:Choice>
              <mc:Fallback>
                <p:oleObj name="Equation" r:id="rId17" imgW="39014400" imgH="67056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6588" y="5624514"/>
                        <a:ext cx="3943350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4860033" y="5436939"/>
            <a:ext cx="2320975" cy="1052512"/>
            <a:chOff x="4860032" y="5436939"/>
            <a:chExt cx="2320975" cy="1052512"/>
          </a:xfrm>
        </p:grpSpPr>
        <p:graphicFrame>
          <p:nvGraphicFramePr>
            <p:cNvPr id="33" name="Object 20"/>
            <p:cNvGraphicFramePr>
              <a:graphicFrameLocks noChangeAspect="1"/>
            </p:cNvGraphicFramePr>
            <p:nvPr/>
          </p:nvGraphicFramePr>
          <p:xfrm>
            <a:off x="5868144" y="5436939"/>
            <a:ext cx="1312863" cy="1052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2" name="Equation" r:id="rId19" imgW="13106400" imgH="10363200" progId="Equation.DSMT4">
                    <p:embed/>
                  </p:oleObj>
                </mc:Choice>
                <mc:Fallback>
                  <p:oleObj name="Equation" r:id="rId19" imgW="13106400" imgH="10363200" progId="Equation.DSMT4">
                    <p:embed/>
                    <p:pic>
                      <p:nvPicPr>
                        <p:cNvPr id="0" name="Object 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868144" y="5436939"/>
                          <a:ext cx="1312863" cy="10525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箭头: 右 8"/>
            <p:cNvSpPr/>
            <p:nvPr/>
          </p:nvSpPr>
          <p:spPr bwMode="auto">
            <a:xfrm>
              <a:off x="4860032" y="5805264"/>
              <a:ext cx="648072" cy="360040"/>
            </a:xfrm>
            <a:prstGeom prst="rightArrow">
              <a:avLst/>
            </a:prstGeom>
            <a:solidFill>
              <a:srgbClr val="99FF99"/>
            </a:solidFill>
            <a:ln w="19050" cap="flat" cmpd="sng" algn="ctr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70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70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90" grpId="0" bldLvl="0" animBg="1"/>
      <p:bldP spid="570389" grpId="0"/>
      <p:bldP spid="44" grpId="0"/>
      <p:bldP spid="27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5572537" y="3325556"/>
            <a:ext cx="18522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free charge</a:t>
            </a:r>
          </a:p>
        </p:txBody>
      </p:sp>
      <p:grpSp>
        <p:nvGrpSpPr>
          <p:cNvPr id="3" name="组合 49"/>
          <p:cNvGrpSpPr/>
          <p:nvPr/>
        </p:nvGrpSpPr>
        <p:grpSpPr bwMode="auto">
          <a:xfrm>
            <a:off x="1640422" y="1941584"/>
            <a:ext cx="5879830" cy="650875"/>
            <a:chOff x="3267225" y="4990636"/>
            <a:chExt cx="5877984" cy="650480"/>
          </a:xfrm>
        </p:grpSpPr>
        <p:sp>
          <p:nvSpPr>
            <p:cNvPr id="4" name="Text Box 35"/>
            <p:cNvSpPr txBox="1">
              <a:spLocks noChangeArrowheads="1"/>
            </p:cNvSpPr>
            <p:nvPr/>
          </p:nvSpPr>
          <p:spPr bwMode="auto">
            <a:xfrm>
              <a:off x="3267225" y="5085184"/>
              <a:ext cx="3519335" cy="46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Gauss’ law with dielectric</a:t>
              </a:r>
            </a:p>
          </p:txBody>
        </p:sp>
        <p:graphicFrame>
          <p:nvGraphicFramePr>
            <p:cNvPr id="5" name="Object 14"/>
            <p:cNvGraphicFramePr>
              <a:graphicFrameLocks noChangeAspect="1"/>
            </p:cNvGraphicFramePr>
            <p:nvPr/>
          </p:nvGraphicFramePr>
          <p:xfrm>
            <a:off x="7102714" y="4990636"/>
            <a:ext cx="2042495" cy="650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7" name="Equation" r:id="rId3" imgW="19812000" imgH="6705600" progId="Equation.DSMT4">
                    <p:embed/>
                  </p:oleObj>
                </mc:Choice>
                <mc:Fallback>
                  <p:oleObj name="Equation" r:id="rId3" imgW="19812000" imgH="6705600" progId="Equation.DSMT4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02714" y="4990636"/>
                          <a:ext cx="2042495" cy="65048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0"/>
          <p:cNvGrpSpPr/>
          <p:nvPr/>
        </p:nvGrpSpPr>
        <p:grpSpPr bwMode="auto">
          <a:xfrm>
            <a:off x="1691660" y="1196753"/>
            <a:ext cx="7056256" cy="562330"/>
            <a:chOff x="1331639" y="5445224"/>
            <a:chExt cx="7056757" cy="561975"/>
          </a:xfrm>
        </p:grpSpPr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3275464" y="5482558"/>
              <a:ext cx="5112932" cy="413759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100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Electric displacement vector </a:t>
              </a:r>
              <a:r>
                <a:rPr lang="zh-CN" altLang="en-US" sz="2100" dirty="0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电位移矢量</a:t>
              </a:r>
              <a:endPara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49"/>
            <p:cNvGraphicFramePr>
              <a:graphicFrameLocks noChangeAspect="1"/>
            </p:cNvGraphicFramePr>
            <p:nvPr/>
          </p:nvGraphicFramePr>
          <p:xfrm>
            <a:off x="1331639" y="5445224"/>
            <a:ext cx="1500930" cy="561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8" name="Equation" r:id="rId5" imgW="749300" imgH="241300" progId="Equation.DSMT4">
                    <p:embed/>
                  </p:oleObj>
                </mc:Choice>
                <mc:Fallback>
                  <p:oleObj name="Equation" r:id="rId5" imgW="749300" imgH="241300" progId="Equation.DSMT4">
                    <p:embed/>
                    <p:pic>
                      <p:nvPicPr>
                        <p:cNvPr id="0" name="Object 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1639" y="5445224"/>
                          <a:ext cx="1500930" cy="561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323529" y="358251"/>
            <a:ext cx="8496943" cy="506789"/>
            <a:chOff x="323528" y="358250"/>
            <a:chExt cx="8496943" cy="506789"/>
          </a:xfrm>
        </p:grpSpPr>
        <p:sp>
          <p:nvSpPr>
            <p:cNvPr id="10" name="Text Box 35"/>
            <p:cNvSpPr txBox="1">
              <a:spLocks noChangeArrowheads="1"/>
            </p:cNvSpPr>
            <p:nvPr/>
          </p:nvSpPr>
          <p:spPr bwMode="auto">
            <a:xfrm>
              <a:off x="323528" y="404664"/>
              <a:ext cx="849694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1. The flux integral involves		, not just  </a:t>
              </a:r>
            </a:p>
          </p:txBody>
        </p:sp>
        <p:graphicFrame>
          <p:nvGraphicFramePr>
            <p:cNvPr id="11" name="Object 49"/>
            <p:cNvGraphicFramePr>
              <a:graphicFrameLocks noChangeAspect="1"/>
            </p:cNvGraphicFramePr>
            <p:nvPr/>
          </p:nvGraphicFramePr>
          <p:xfrm>
            <a:off x="4087810" y="358250"/>
            <a:ext cx="484188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9" name="Equation" r:id="rId7" imgW="5791200" imgH="4876800" progId="Equation.DSMT4">
                    <p:embed/>
                  </p:oleObj>
                </mc:Choice>
                <mc:Fallback>
                  <p:oleObj name="Equation" r:id="rId7" imgW="5791200" imgH="4876800" progId="Equation.DSMT4">
                    <p:embed/>
                    <p:pic>
                      <p:nvPicPr>
                        <p:cNvPr id="0" name="Object 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87810" y="358250"/>
                          <a:ext cx="484188" cy="4730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9"/>
            <p:cNvGraphicFramePr>
              <a:graphicFrameLocks noChangeAspect="1"/>
            </p:cNvGraphicFramePr>
            <p:nvPr/>
          </p:nvGraphicFramePr>
          <p:xfrm>
            <a:off x="6411913" y="360363"/>
            <a:ext cx="3048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0" name="Equation" r:id="rId9" imgW="3657600" imgH="4876800" progId="Equation.DSMT4">
                    <p:embed/>
                  </p:oleObj>
                </mc:Choice>
                <mc:Fallback>
                  <p:oleObj name="Equation" r:id="rId9" imgW="3657600" imgH="4876800" progId="Equation.DSMT4">
                    <p:embed/>
                    <p:pic>
                      <p:nvPicPr>
                        <p:cNvPr id="0" name="Object 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11913" y="360363"/>
                          <a:ext cx="304800" cy="4730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323528" y="2830351"/>
            <a:ext cx="8496943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The charge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enclosed by the Gaussian surface is the </a:t>
            </a:r>
            <a:r>
              <a:rPr lang="en-US" altLang="zh-CN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free charge only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23528" y="3959077"/>
            <a:ext cx="8424389" cy="547894"/>
            <a:chOff x="323527" y="3959077"/>
            <a:chExt cx="8424389" cy="547894"/>
          </a:xfrm>
        </p:grpSpPr>
        <p:sp>
          <p:nvSpPr>
            <p:cNvPr id="18" name="Text Box 35"/>
            <p:cNvSpPr txBox="1">
              <a:spLocks noChangeArrowheads="1"/>
            </p:cNvSpPr>
            <p:nvPr/>
          </p:nvSpPr>
          <p:spPr bwMode="auto">
            <a:xfrm>
              <a:off x="323527" y="3959077"/>
              <a:ext cx="8424389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3. Original statement of Gauss’s law			    in vacuum. </a:t>
              </a:r>
            </a:p>
          </p:txBody>
        </p:sp>
        <p:graphicFrame>
          <p:nvGraphicFramePr>
            <p:cNvPr id="19" name="Object 14"/>
            <p:cNvGraphicFramePr>
              <a:graphicFrameLocks noChangeAspect="1"/>
            </p:cNvGraphicFramePr>
            <p:nvPr/>
          </p:nvGraphicFramePr>
          <p:xfrm>
            <a:off x="5004048" y="3959077"/>
            <a:ext cx="2016224" cy="547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1" name="Equation" r:id="rId11" imgW="22555200" imgH="6705600" progId="Equation.DSMT4">
                    <p:embed/>
                  </p:oleObj>
                </mc:Choice>
                <mc:Fallback>
                  <p:oleObj name="Equation" r:id="rId11" imgW="22555200" imgH="6705600" progId="Equation.DSMT4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04048" y="3959077"/>
                          <a:ext cx="2016224" cy="54789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323527" y="4974268"/>
            <a:ext cx="8424389" cy="829945"/>
            <a:chOff x="323527" y="3959077"/>
            <a:chExt cx="8424389" cy="829945"/>
          </a:xfrm>
        </p:grpSpPr>
        <p:sp>
          <p:nvSpPr>
            <p:cNvPr id="22" name="Text Box 35"/>
            <p:cNvSpPr txBox="1">
              <a:spLocks noChangeArrowheads="1"/>
            </p:cNvSpPr>
            <p:nvPr/>
          </p:nvSpPr>
          <p:spPr bwMode="auto">
            <a:xfrm>
              <a:off x="323527" y="3959077"/>
              <a:ext cx="8424389" cy="829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4. Modified statement of Gauss’s law			        with dielectric.</a:t>
              </a:r>
            </a:p>
          </p:txBody>
        </p:sp>
        <p:graphicFrame>
          <p:nvGraphicFramePr>
            <p:cNvPr id="23" name="Object 14"/>
            <p:cNvGraphicFramePr>
              <a:graphicFrameLocks noChangeAspect="1"/>
            </p:cNvGraphicFramePr>
            <p:nvPr/>
          </p:nvGraphicFramePr>
          <p:xfrm>
            <a:off x="5101813" y="3961761"/>
            <a:ext cx="2179637" cy="547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2" name="Equation" r:id="rId13" imgW="24384000" imgH="6705600" progId="Equation.DSMT4">
                    <p:embed/>
                  </p:oleObj>
                </mc:Choice>
                <mc:Fallback>
                  <p:oleObj name="Equation" r:id="rId13" imgW="24384000" imgH="6705600" progId="Equation.DSMT4">
                    <p:embed/>
                    <p:pic>
                      <p:nvPicPr>
                        <p:cNvPr id="0" name="Object 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01813" y="3961761"/>
                          <a:ext cx="2179637" cy="54768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5" name="Text Box 8"/>
          <p:cNvSpPr txBox="1">
            <a:spLocks noChangeArrowheads="1"/>
          </p:cNvSpPr>
          <p:nvPr/>
        </p:nvSpPr>
        <p:spPr bwMode="auto">
          <a:xfrm>
            <a:off x="142876" y="326594"/>
            <a:ext cx="8893621" cy="10604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8</a:t>
            </a: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conducting sphere of radius </a:t>
            </a:r>
            <a:r>
              <a:rPr lang="en-US" altLang="zh-CN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charge </a:t>
            </a:r>
            <a:r>
              <a:rPr lang="en-US" altLang="zh-CN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surrounded by a </a:t>
            </a: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concentric dielectric spherical shell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radius </a:t>
            </a:r>
            <a:r>
              <a:rPr lang="en-US" altLang="zh-CN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dielectric constant is </a:t>
            </a:r>
            <a:r>
              <a:rPr lang="el-GR" altLang="zh-CN" sz="2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Find the electric field at any point in the space.</a:t>
            </a:r>
          </a:p>
        </p:txBody>
      </p:sp>
      <p:sp>
        <p:nvSpPr>
          <p:cNvPr id="28675" name="Oval 9" descr="信纸"/>
          <p:cNvSpPr>
            <a:spLocks noChangeArrowheads="1"/>
          </p:cNvSpPr>
          <p:nvPr/>
        </p:nvSpPr>
        <p:spPr bwMode="auto">
          <a:xfrm>
            <a:off x="4762270" y="2335897"/>
            <a:ext cx="3500437" cy="3500438"/>
          </a:xfrm>
          <a:prstGeom prst="ellipse">
            <a:avLst/>
          </a:prstGeom>
          <a:blipFill dpi="0" rotWithShape="0">
            <a:blip r:embed="rId3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100" b="0">
              <a:solidFill>
                <a:srgbClr val="003366"/>
              </a:solidFill>
            </a:endParaRPr>
          </a:p>
        </p:txBody>
      </p:sp>
      <p:sp>
        <p:nvSpPr>
          <p:cNvPr id="28676" name="Oval 10"/>
          <p:cNvSpPr>
            <a:spLocks noChangeArrowheads="1"/>
          </p:cNvSpPr>
          <p:nvPr/>
        </p:nvSpPr>
        <p:spPr bwMode="auto">
          <a:xfrm>
            <a:off x="5405207" y="3050273"/>
            <a:ext cx="2143125" cy="2143125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solidFill>
                  <a:srgbClr val="003366"/>
                </a:solidFill>
              </a:rPr>
              <a:t>   o</a:t>
            </a:r>
          </a:p>
        </p:txBody>
      </p:sp>
      <p:sp>
        <p:nvSpPr>
          <p:cNvPr id="22550" name="Oval 11"/>
          <p:cNvSpPr>
            <a:spLocks noChangeArrowheads="1"/>
          </p:cNvSpPr>
          <p:nvPr/>
        </p:nvSpPr>
        <p:spPr bwMode="auto">
          <a:xfrm>
            <a:off x="5762396" y="3373330"/>
            <a:ext cx="1500187" cy="150018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100" b="0">
              <a:solidFill>
                <a:srgbClr val="003366"/>
              </a:solidFill>
            </a:endParaRPr>
          </a:p>
        </p:txBody>
      </p:sp>
      <p:sp>
        <p:nvSpPr>
          <p:cNvPr id="28678" name="Text Box 12"/>
          <p:cNvSpPr txBox="1">
            <a:spLocks noChangeArrowheads="1"/>
          </p:cNvSpPr>
          <p:nvPr/>
        </p:nvSpPr>
        <p:spPr bwMode="auto">
          <a:xfrm>
            <a:off x="6853165" y="4628247"/>
            <a:ext cx="33147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solidFill>
                  <a:srgbClr val="003366"/>
                </a:solidFill>
              </a:rPr>
              <a:t>a</a:t>
            </a:r>
          </a:p>
        </p:txBody>
      </p:sp>
      <p:sp>
        <p:nvSpPr>
          <p:cNvPr id="28679" name="Line 13"/>
          <p:cNvSpPr>
            <a:spLocks noChangeShapeType="1"/>
          </p:cNvSpPr>
          <p:nvPr/>
        </p:nvSpPr>
        <p:spPr bwMode="auto">
          <a:xfrm>
            <a:off x="6484707" y="4053573"/>
            <a:ext cx="849313" cy="7286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3" name="Line 14"/>
          <p:cNvSpPr>
            <a:spLocks noChangeShapeType="1"/>
          </p:cNvSpPr>
          <p:nvPr/>
        </p:nvSpPr>
        <p:spPr bwMode="auto">
          <a:xfrm>
            <a:off x="6484706" y="4053572"/>
            <a:ext cx="706438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4" name="Text Box 15"/>
          <p:cNvSpPr txBox="1">
            <a:spLocks noChangeArrowheads="1"/>
          </p:cNvSpPr>
          <p:nvPr/>
        </p:nvSpPr>
        <p:spPr bwMode="auto">
          <a:xfrm>
            <a:off x="6760615" y="3677336"/>
            <a:ext cx="28638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solidFill>
                  <a:srgbClr val="003366"/>
                </a:solidFill>
              </a:rPr>
              <a:t>r</a:t>
            </a:r>
          </a:p>
        </p:txBody>
      </p:sp>
      <p:sp>
        <p:nvSpPr>
          <p:cNvPr id="22555" name="Oval 16"/>
          <p:cNvSpPr>
            <a:spLocks noChangeArrowheads="1"/>
          </p:cNvSpPr>
          <p:nvPr/>
        </p:nvSpPr>
        <p:spPr bwMode="auto">
          <a:xfrm>
            <a:off x="5048019" y="2693085"/>
            <a:ext cx="2857500" cy="2857500"/>
          </a:xfrm>
          <a:prstGeom prst="ellipse">
            <a:avLst/>
          </a:prstGeom>
          <a:noFill/>
          <a:ln w="38100">
            <a:solidFill>
              <a:srgbClr val="0033CC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100" b="0">
              <a:solidFill>
                <a:srgbClr val="003366"/>
              </a:solidFill>
            </a:endParaRPr>
          </a:p>
        </p:txBody>
      </p:sp>
      <p:sp>
        <p:nvSpPr>
          <p:cNvPr id="22556" name="Line 17"/>
          <p:cNvSpPr>
            <a:spLocks noChangeShapeType="1"/>
          </p:cNvSpPr>
          <p:nvPr/>
        </p:nvSpPr>
        <p:spPr bwMode="auto">
          <a:xfrm flipH="1">
            <a:off x="6365644" y="4053573"/>
            <a:ext cx="119062" cy="1425575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57" name="Text Box 18"/>
          <p:cNvSpPr txBox="1">
            <a:spLocks noChangeArrowheads="1"/>
          </p:cNvSpPr>
          <p:nvPr/>
        </p:nvSpPr>
        <p:spPr bwMode="auto">
          <a:xfrm>
            <a:off x="5992265" y="4991786"/>
            <a:ext cx="28638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solidFill>
                  <a:srgbClr val="003366"/>
                </a:solidFill>
              </a:rPr>
              <a:t>r</a:t>
            </a:r>
          </a:p>
        </p:txBody>
      </p:sp>
      <p:sp>
        <p:nvSpPr>
          <p:cNvPr id="22548" name="Oval 19"/>
          <p:cNvSpPr>
            <a:spLocks noChangeArrowheads="1"/>
          </p:cNvSpPr>
          <p:nvPr/>
        </p:nvSpPr>
        <p:spPr bwMode="auto">
          <a:xfrm>
            <a:off x="4422775" y="1988840"/>
            <a:ext cx="4227016" cy="4183062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100" b="0">
              <a:solidFill>
                <a:srgbClr val="003366"/>
              </a:solidFill>
            </a:endParaRPr>
          </a:p>
        </p:txBody>
      </p:sp>
      <p:sp>
        <p:nvSpPr>
          <p:cNvPr id="566289" name="Text Box 20"/>
          <p:cNvSpPr txBox="1">
            <a:spLocks noChangeArrowheads="1"/>
          </p:cNvSpPr>
          <p:nvPr/>
        </p:nvSpPr>
        <p:spPr bwMode="auto">
          <a:xfrm>
            <a:off x="446597" y="1439936"/>
            <a:ext cx="1162050" cy="41402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defRPr/>
            </a:pPr>
            <a:r>
              <a:rPr lang="en-US" altLang="zh-CN" sz="2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566290" name="Text Box 21"/>
          <p:cNvSpPr txBox="1">
            <a:spLocks noChangeArrowheads="1"/>
          </p:cNvSpPr>
          <p:nvPr/>
        </p:nvSpPr>
        <p:spPr bwMode="auto">
          <a:xfrm>
            <a:off x="406977" y="2582996"/>
            <a:ext cx="372364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Gauss’ law with dielectric </a:t>
            </a:r>
          </a:p>
        </p:txBody>
      </p:sp>
      <p:sp>
        <p:nvSpPr>
          <p:cNvPr id="566291" name="Rectangle 22"/>
          <p:cNvSpPr>
            <a:spLocks noChangeArrowheads="1"/>
          </p:cNvSpPr>
          <p:nvPr/>
        </p:nvSpPr>
        <p:spPr bwMode="auto">
          <a:xfrm>
            <a:off x="2505352" y="1484784"/>
            <a:ext cx="940435" cy="41402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defRPr/>
            </a:pP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 &lt; a</a:t>
            </a:r>
            <a:r>
              <a:rPr lang="zh-CN" altLang="en-US" sz="21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100" baseline="-250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6292" name="Object 20"/>
          <p:cNvGraphicFramePr>
            <a:graphicFrameLocks noChangeAspect="1"/>
          </p:cNvGraphicFramePr>
          <p:nvPr/>
        </p:nvGraphicFramePr>
        <p:xfrm>
          <a:off x="1238844" y="3104125"/>
          <a:ext cx="226218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4" imgW="24993600" imgH="6705600" progId="Equation.DSMT4">
                  <p:embed/>
                </p:oleObj>
              </mc:Choice>
              <mc:Fallback>
                <p:oleObj name="Equation" r:id="rId4" imgW="24993600" imgH="67056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8844" y="3104125"/>
                        <a:ext cx="2262188" cy="6429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CFF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93" name="Text Box 23"/>
          <p:cNvSpPr txBox="1">
            <a:spLocks noChangeArrowheads="1"/>
          </p:cNvSpPr>
          <p:nvPr/>
        </p:nvSpPr>
        <p:spPr bwMode="auto">
          <a:xfrm>
            <a:off x="3550403" y="1484785"/>
            <a:ext cx="64579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E=0</a:t>
            </a:r>
          </a:p>
        </p:txBody>
      </p:sp>
      <p:sp>
        <p:nvSpPr>
          <p:cNvPr id="566294" name="Text Box 24"/>
          <p:cNvSpPr txBox="1">
            <a:spLocks noChangeArrowheads="1"/>
          </p:cNvSpPr>
          <p:nvPr/>
        </p:nvSpPr>
        <p:spPr bwMode="auto">
          <a:xfrm>
            <a:off x="412269" y="2128148"/>
            <a:ext cx="1357630" cy="41402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defRPr/>
            </a:pP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&lt; r &lt; b</a:t>
            </a:r>
            <a:r>
              <a:rPr lang="zh-CN" altLang="en-US" sz="21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100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6295" name="Object 23"/>
          <p:cNvGraphicFramePr>
            <a:graphicFrameLocks noChangeAspect="1"/>
          </p:cNvGraphicFramePr>
          <p:nvPr/>
        </p:nvGraphicFramePr>
        <p:xfrm>
          <a:off x="1256507" y="3889359"/>
          <a:ext cx="20828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6" imgW="1270000" imgH="215900" progId="Equation.DSMT4">
                  <p:embed/>
                </p:oleObj>
              </mc:Choice>
              <mc:Fallback>
                <p:oleObj name="Equation" r:id="rId6" imgW="1270000" imgH="215900" progId="Equation.DSMT4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56507" y="3889359"/>
                        <a:ext cx="2082800" cy="458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96" name="Object 24"/>
          <p:cNvGraphicFramePr>
            <a:graphicFrameLocks noChangeAspect="1"/>
          </p:cNvGraphicFramePr>
          <p:nvPr/>
        </p:nvGraphicFramePr>
        <p:xfrm>
          <a:off x="1395315" y="4422462"/>
          <a:ext cx="16986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8" imgW="1016000" imgH="469900" progId="Equation.DSMT4">
                  <p:embed/>
                </p:oleObj>
              </mc:Choice>
              <mc:Fallback>
                <p:oleObj name="Equation" r:id="rId8" imgW="1016000" imgH="469900" progId="Equation.DSMT4">
                  <p:embed/>
                  <p:pic>
                    <p:nvPicPr>
                      <p:cNvPr id="0" name="Object 24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95315" y="4422462"/>
                        <a:ext cx="1698625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97" name="Text Box 25"/>
          <p:cNvSpPr txBox="1">
            <a:spLocks noChangeArrowheads="1"/>
          </p:cNvSpPr>
          <p:nvPr/>
        </p:nvSpPr>
        <p:spPr bwMode="auto">
          <a:xfrm>
            <a:off x="1106290" y="5654457"/>
            <a:ext cx="688975" cy="41402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defRPr/>
            </a:pPr>
            <a:r>
              <a:rPr lang="en-US" altLang="zh-CN" sz="21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 &gt; b</a:t>
            </a:r>
          </a:p>
        </p:txBody>
      </p:sp>
      <p:graphicFrame>
        <p:nvGraphicFramePr>
          <p:cNvPr id="566299" name="Object 27"/>
          <p:cNvGraphicFramePr>
            <a:graphicFrameLocks noChangeAspect="1"/>
          </p:cNvGraphicFramePr>
          <p:nvPr/>
        </p:nvGraphicFramePr>
        <p:xfrm>
          <a:off x="2197035" y="5479148"/>
          <a:ext cx="15192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0" imgW="901700" imgH="469900" progId="Equation.DSMT4">
                  <p:embed/>
                </p:oleObj>
              </mc:Choice>
              <mc:Fallback>
                <p:oleObj name="Equation" r:id="rId10" imgW="901700" imgH="469900" progId="Equation.DSMT4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97035" y="5479148"/>
                        <a:ext cx="1519237" cy="822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Line 13"/>
          <p:cNvSpPr>
            <a:spLocks noChangeShapeType="1"/>
          </p:cNvSpPr>
          <p:nvPr/>
        </p:nvSpPr>
        <p:spPr bwMode="auto">
          <a:xfrm flipV="1">
            <a:off x="6492644" y="3043923"/>
            <a:ext cx="1439862" cy="1008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7" name="Text Box 12"/>
          <p:cNvSpPr txBox="1">
            <a:spLocks noChangeArrowheads="1"/>
          </p:cNvSpPr>
          <p:nvPr/>
        </p:nvSpPr>
        <p:spPr bwMode="auto">
          <a:xfrm>
            <a:off x="7430063" y="2754998"/>
            <a:ext cx="34607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100">
                <a:solidFill>
                  <a:srgbClr val="003366"/>
                </a:solidFill>
              </a:rPr>
              <a:t>b</a:t>
            </a:r>
          </a:p>
        </p:txBody>
      </p:sp>
      <p:graphicFrame>
        <p:nvGraphicFramePr>
          <p:cNvPr id="26" name="Object 14"/>
          <p:cNvGraphicFramePr>
            <a:graphicFrameLocks noChangeAspect="1"/>
          </p:cNvGraphicFramePr>
          <p:nvPr/>
        </p:nvGraphicFramePr>
        <p:xfrm>
          <a:off x="6651491" y="1155402"/>
          <a:ext cx="217963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2" imgW="24384000" imgH="6705600" progId="Equation.DSMT4">
                  <p:embed/>
                </p:oleObj>
              </mc:Choice>
              <mc:Fallback>
                <p:oleObj name="Equation" r:id="rId12" imgW="24384000" imgH="6705600" progId="Equation.DSMT4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1491" y="1155402"/>
                        <a:ext cx="2179637" cy="5476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6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0" grpId="0" bldLvl="0" animBg="1"/>
      <p:bldP spid="22553" grpId="0" bldLvl="0" animBg="1"/>
      <p:bldP spid="22554" grpId="0"/>
      <p:bldP spid="22555" grpId="0" bldLvl="0" animBg="1"/>
      <p:bldP spid="22556" grpId="0" bldLvl="0" animBg="1"/>
      <p:bldP spid="22557" grpId="0"/>
      <p:bldP spid="22548" grpId="0" bldLvl="0" animBg="1"/>
      <p:bldP spid="566289" grpId="0"/>
      <p:bldP spid="566290" grpId="0"/>
      <p:bldP spid="566291" grpId="0" autoUpdateAnimBg="0"/>
      <p:bldP spid="566293" grpId="0"/>
      <p:bldP spid="566294" grpId="0" autoUpdateAnimBg="0"/>
      <p:bldP spid="56629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371646" y="5709787"/>
            <a:ext cx="300037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TW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Gaussian surface I:</a:t>
            </a:r>
          </a:p>
        </p:txBody>
      </p:sp>
      <p:pic>
        <p:nvPicPr>
          <p:cNvPr id="29700" name="图片 12" descr="F26_17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0"/>
          <a:stretch>
            <a:fillRect/>
          </a:stretch>
        </p:blipFill>
        <p:spPr bwMode="auto">
          <a:xfrm>
            <a:off x="4929189" y="2000250"/>
            <a:ext cx="385762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2"/>
          <p:cNvSpPr txBox="1"/>
          <p:nvPr/>
        </p:nvSpPr>
        <p:spPr>
          <a:xfrm>
            <a:off x="142875" y="301395"/>
            <a:ext cx="8858250" cy="17837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9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parallel-plate capacitor of plate area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115 cm</a:t>
            </a:r>
            <a:r>
              <a:rPr lang="en-US" altLang="zh-CN" sz="2200" baseline="30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plate separation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 = 1.24cm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potential difference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85.5V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applied by connecting a battery. The battery is then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disconnected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dielectric slab of thickness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 = 0.78cm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dielectric constant </a:t>
            </a:r>
            <a:r>
              <a:rPr lang="el-GR" altLang="zh-CN" sz="22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sz="22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=2.61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placed between the plates. </a:t>
            </a:r>
          </a:p>
        </p:txBody>
      </p:sp>
      <p:sp>
        <p:nvSpPr>
          <p:cNvPr id="27660" name="Text Box 13"/>
          <p:cNvSpPr txBox="1">
            <a:spLocks noChangeArrowheads="1"/>
          </p:cNvSpPr>
          <p:nvPr/>
        </p:nvSpPr>
        <p:spPr bwMode="auto">
          <a:xfrm>
            <a:off x="142875" y="2143126"/>
            <a:ext cx="46434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capacitance C</a:t>
            </a:r>
            <a:r>
              <a:rPr lang="en-US" altLang="zh-CN" sz="2200" b="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dielectric slab is inserted?</a:t>
            </a:r>
          </a:p>
        </p:txBody>
      </p:sp>
      <p:graphicFrame>
        <p:nvGraphicFramePr>
          <p:cNvPr id="566296" name="Object 24"/>
          <p:cNvGraphicFramePr>
            <a:graphicFrameLocks noChangeAspect="1"/>
          </p:cNvGraphicFramePr>
          <p:nvPr/>
        </p:nvGraphicFramePr>
        <p:xfrm>
          <a:off x="928688" y="2857501"/>
          <a:ext cx="24701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4" imgW="1524000" imgH="419100" progId="Equation.DSMT4">
                  <p:embed/>
                </p:oleObj>
              </mc:Choice>
              <mc:Fallback>
                <p:oleObj name="Equation" r:id="rId4" imgW="1524000" imgH="419100" progId="Equation.DSMT4">
                  <p:embed/>
                  <p:pic>
                    <p:nvPicPr>
                      <p:cNvPr id="0" name="Object 2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8688" y="2857501"/>
                        <a:ext cx="2470150" cy="747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142875" y="3548064"/>
            <a:ext cx="46434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free charge appearing on the plates?</a:t>
            </a: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928689" y="4214814"/>
          <a:ext cx="23399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6" imgW="1435100" imgH="203200" progId="Equation.DSMT4">
                  <p:embed/>
                </p:oleObj>
              </mc:Choice>
              <mc:Fallback>
                <p:oleObj name="Equation" r:id="rId6" imgW="1435100" imgH="2032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8689" y="4214814"/>
                        <a:ext cx="2339975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262463" y="4781171"/>
            <a:ext cx="846157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electric field E</a:t>
            </a:r>
            <a:r>
              <a:rPr lang="en-US" altLang="zh-CN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gaps between the plates and the dielectric slab?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3684934" y="5651501"/>
          <a:ext cx="1391122" cy="481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8" imgW="17983200" imgH="5486400" progId="Equation.DSMT4">
                  <p:embed/>
                </p:oleObj>
              </mc:Choice>
              <mc:Fallback>
                <p:oleObj name="Equation" r:id="rId8" imgW="17983200" imgH="54864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84934" y="5651501"/>
                        <a:ext cx="1391122" cy="4810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5580112" y="5443158"/>
          <a:ext cx="2667148" cy="88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0" imgW="34137600" imgH="10363200" progId="Equation.DSMT4">
                  <p:embed/>
                </p:oleObj>
              </mc:Choice>
              <mc:Fallback>
                <p:oleObj name="Equation" r:id="rId10" imgW="34137600" imgH="103632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80112" y="5443158"/>
                        <a:ext cx="2667148" cy="884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/>
      <p:bldP spid="27660" grpId="0"/>
      <p:bldP spid="29710" grpId="0"/>
      <p:bldP spid="297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323851" y="836614"/>
            <a:ext cx="300037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TW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For Gaussian surface II:</a:t>
            </a:r>
          </a:p>
        </p:txBody>
      </p:sp>
      <p:pic>
        <p:nvPicPr>
          <p:cNvPr id="30723" name="图片 10" descr="F26_17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0"/>
          <a:stretch>
            <a:fillRect/>
          </a:stretch>
        </p:blipFill>
        <p:spPr bwMode="auto">
          <a:xfrm>
            <a:off x="4429126" y="571500"/>
            <a:ext cx="44291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 Box 9"/>
          <p:cNvSpPr txBox="1">
            <a:spLocks noChangeArrowheads="1"/>
          </p:cNvSpPr>
          <p:nvPr/>
        </p:nvSpPr>
        <p:spPr bwMode="auto">
          <a:xfrm>
            <a:off x="250826" y="260351"/>
            <a:ext cx="673417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electric field E</a:t>
            </a:r>
            <a:r>
              <a:rPr lang="en-US" altLang="zh-CN" sz="22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dielectric slab?</a:t>
            </a:r>
          </a:p>
        </p:txBody>
      </p:sp>
      <p:graphicFrame>
        <p:nvGraphicFramePr>
          <p:cNvPr id="566296" name="Object 2"/>
          <p:cNvGraphicFramePr>
            <a:graphicFrameLocks noChangeAspect="1"/>
          </p:cNvGraphicFramePr>
          <p:nvPr/>
        </p:nvGraphicFramePr>
        <p:xfrm>
          <a:off x="436562" y="1433641"/>
          <a:ext cx="41354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4" imgW="44500800" imgH="6705600" progId="Equation.DSMT4">
                  <p:embed/>
                </p:oleObj>
              </mc:Choice>
              <mc:Fallback>
                <p:oleObj name="Equation" r:id="rId4" imgW="44500800" imgH="67056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6562" y="1433641"/>
                        <a:ext cx="4135438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4"/>
          <p:cNvGraphicFramePr>
            <a:graphicFrameLocks noChangeAspect="1"/>
          </p:cNvGraphicFramePr>
          <p:nvPr/>
        </p:nvGraphicFramePr>
        <p:xfrm>
          <a:off x="357188" y="2322514"/>
          <a:ext cx="37068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6" imgW="2336800" imgH="469900" progId="Equation.DSMT4">
                  <p:embed/>
                </p:oleObj>
              </mc:Choice>
              <mc:Fallback>
                <p:oleObj name="Equation" r:id="rId6" imgW="2336800" imgH="469900" progId="Equation.DSMT4">
                  <p:embed/>
                  <p:pic>
                    <p:nvPicPr>
                      <p:cNvPr id="0" name="Object 2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7188" y="2322514"/>
                        <a:ext cx="3706812" cy="820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250825" y="3573464"/>
            <a:ext cx="853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altLang="zh-CN" sz="2200" b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potential difference V between plates after the slab has been introduced?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061276" y="4191661"/>
          <a:ext cx="6223125" cy="727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8" imgW="70104000" imgH="7924800" progId="Equation.DSMT4">
                  <p:embed/>
                </p:oleObj>
              </mc:Choice>
              <mc:Fallback>
                <p:oleObj name="Equation" r:id="rId8" imgW="70104000" imgH="7924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61276" y="4191661"/>
                        <a:ext cx="6223125" cy="72750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323850" y="5013326"/>
            <a:ext cx="84613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altLang="zh-C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capacitance C with the slab in place between the plates of the capacitor?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19475" y="5589589"/>
          <a:ext cx="4065588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0" imgW="2578100" imgH="457200" progId="Equation.DSMT4">
                  <p:embed/>
                </p:oleObj>
              </mc:Choice>
              <mc:Fallback>
                <p:oleObj name="Equation" r:id="rId10" imgW="2578100" imgH="4572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19475" y="5589589"/>
                        <a:ext cx="4065588" cy="795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30730" grpId="0"/>
      <p:bldP spid="307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4"/>
          <p:cNvSpPr txBox="1"/>
          <p:nvPr/>
        </p:nvSpPr>
        <p:spPr>
          <a:xfrm>
            <a:off x="900114" y="620713"/>
            <a:ext cx="7102475" cy="64516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</a:rPr>
              <a:t>Chapter 26  Current and Resistance</a:t>
            </a:r>
          </a:p>
        </p:txBody>
      </p:sp>
      <p:sp>
        <p:nvSpPr>
          <p:cNvPr id="14338" name="sections"/>
          <p:cNvSpPr txBox="1"/>
          <p:nvPr/>
        </p:nvSpPr>
        <p:spPr>
          <a:xfrm>
            <a:off x="827088" y="1595439"/>
            <a:ext cx="7620000" cy="32905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Current 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Density 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电流密度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and Resistivity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电阻和电阻率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欧姆定律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in Electric Circuits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电流的功率</a:t>
            </a: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" y="304800"/>
            <a:ext cx="85344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current,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of charge carriers, Conduction electrons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density, Current density vector, Streamlines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 speed, Carrier charge density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Resistance, Resistivity, Conductivity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Ohm’s law, Mean free time, Mean free distance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in electric circuits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Semiconductor, Superconductor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8"/>
          <p:cNvGrpSpPr/>
          <p:nvPr/>
        </p:nvGrpSpPr>
        <p:grpSpPr>
          <a:xfrm>
            <a:off x="539553" y="430636"/>
            <a:ext cx="1836737" cy="1757363"/>
            <a:chOff x="1150938" y="3384551"/>
            <a:chExt cx="1836737" cy="1757363"/>
          </a:xfrm>
        </p:grpSpPr>
        <p:sp>
          <p:nvSpPr>
            <p:cNvPr id="9" name="Rectangle 43"/>
            <p:cNvSpPr/>
            <p:nvPr/>
          </p:nvSpPr>
          <p:spPr>
            <a:xfrm>
              <a:off x="1150938" y="3875881"/>
              <a:ext cx="309880" cy="368300"/>
            </a:xfrm>
            <a:prstGeom prst="rect">
              <a:avLst/>
            </a:prstGeom>
            <a:solidFill>
              <a:srgbClr val="EDF2BE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41"/>
            <p:cNvSpPr txBox="1"/>
            <p:nvPr/>
          </p:nvSpPr>
          <p:spPr>
            <a:xfrm>
              <a:off x="1366838" y="4773613"/>
              <a:ext cx="1331912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Area A</a:t>
              </a:r>
            </a:p>
          </p:txBody>
        </p:sp>
        <p:sp>
          <p:nvSpPr>
            <p:cNvPr id="11" name="Line 42"/>
            <p:cNvSpPr/>
            <p:nvPr/>
          </p:nvSpPr>
          <p:spPr>
            <a:xfrm flipV="1">
              <a:off x="2122488" y="4689475"/>
              <a:ext cx="466725" cy="1793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" name="Line 44"/>
            <p:cNvSpPr/>
            <p:nvPr/>
          </p:nvSpPr>
          <p:spPr>
            <a:xfrm>
              <a:off x="2592388" y="3465513"/>
              <a:ext cx="0" cy="11890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3" name="Group 101"/>
            <p:cNvGrpSpPr/>
            <p:nvPr/>
          </p:nvGrpSpPr>
          <p:grpSpPr>
            <a:xfrm>
              <a:off x="1773238" y="3384551"/>
              <a:ext cx="1214437" cy="1343025"/>
              <a:chOff x="1185" y="2381"/>
              <a:chExt cx="765" cy="846"/>
            </a:xfrm>
          </p:grpSpPr>
          <p:grpSp>
            <p:nvGrpSpPr>
              <p:cNvPr id="14" name="Group 8"/>
              <p:cNvGrpSpPr/>
              <p:nvPr/>
            </p:nvGrpSpPr>
            <p:grpSpPr>
              <a:xfrm>
                <a:off x="1366" y="2899"/>
                <a:ext cx="231" cy="328"/>
                <a:chOff x="1820" y="2519"/>
                <a:chExt cx="231" cy="328"/>
              </a:xfrm>
            </p:grpSpPr>
            <p:sp>
              <p:nvSpPr>
                <p:cNvPr id="28" name="Oval 9"/>
                <p:cNvSpPr/>
                <p:nvPr/>
              </p:nvSpPr>
              <p:spPr>
                <a:xfrm>
                  <a:off x="1853" y="2519"/>
                  <a:ext cx="181" cy="328"/>
                </a:xfrm>
                <a:prstGeom prst="ellipse">
                  <a:avLst/>
                </a:prstGeom>
                <a:solidFill>
                  <a:srgbClr val="B3B7EB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/>
                <a:p>
                  <a:endParaRPr lang="zh-CN" altLang="zh-CN" dirty="0">
                    <a:latin typeface="Calibri" panose="020F050202020403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Text Box 10"/>
                <p:cNvSpPr txBox="1"/>
                <p:nvPr/>
              </p:nvSpPr>
              <p:spPr>
                <a:xfrm>
                  <a:off x="1820" y="2547"/>
                  <a:ext cx="231" cy="2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r>
                    <a:rPr lang="en-US" altLang="zh-CN" dirty="0">
                      <a:latin typeface="Calibri" panose="020F0502020204030204" charset="0"/>
                      <a:ea typeface="宋体" panose="02010600030101010101" pitchFamily="2" charset="-122"/>
                    </a:rPr>
                    <a:t>-e</a:t>
                  </a:r>
                </a:p>
              </p:txBody>
            </p:sp>
          </p:grpSp>
          <p:grpSp>
            <p:nvGrpSpPr>
              <p:cNvPr id="15" name="Group 11"/>
              <p:cNvGrpSpPr/>
              <p:nvPr/>
            </p:nvGrpSpPr>
            <p:grpSpPr>
              <a:xfrm>
                <a:off x="1360" y="2381"/>
                <a:ext cx="231" cy="328"/>
                <a:chOff x="1820" y="2518"/>
                <a:chExt cx="231" cy="328"/>
              </a:xfrm>
            </p:grpSpPr>
            <p:sp>
              <p:nvSpPr>
                <p:cNvPr id="26" name="Oval 12"/>
                <p:cNvSpPr/>
                <p:nvPr/>
              </p:nvSpPr>
              <p:spPr>
                <a:xfrm>
                  <a:off x="1853" y="2518"/>
                  <a:ext cx="181" cy="328"/>
                </a:xfrm>
                <a:prstGeom prst="ellipse">
                  <a:avLst/>
                </a:prstGeom>
                <a:solidFill>
                  <a:srgbClr val="B3B7EB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/>
                <a:p>
                  <a:endParaRPr lang="zh-CN" altLang="zh-CN" dirty="0">
                    <a:latin typeface="Calibri" panose="020F050202020403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Text Box 13"/>
                <p:cNvSpPr txBox="1"/>
                <p:nvPr/>
              </p:nvSpPr>
              <p:spPr>
                <a:xfrm>
                  <a:off x="1820" y="2547"/>
                  <a:ext cx="231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r>
                    <a:rPr lang="en-US" altLang="zh-CN" dirty="0">
                      <a:latin typeface="Calibri" panose="020F0502020204030204" charset="0"/>
                      <a:ea typeface="宋体" panose="02010600030101010101" pitchFamily="2" charset="-122"/>
                    </a:rPr>
                    <a:t>-e</a:t>
                  </a:r>
                </a:p>
              </p:txBody>
            </p:sp>
          </p:grpSp>
          <p:grpSp>
            <p:nvGrpSpPr>
              <p:cNvPr id="16" name="Group 14"/>
              <p:cNvGrpSpPr/>
              <p:nvPr/>
            </p:nvGrpSpPr>
            <p:grpSpPr>
              <a:xfrm>
                <a:off x="1185" y="2472"/>
                <a:ext cx="231" cy="328"/>
                <a:chOff x="1820" y="2519"/>
                <a:chExt cx="231" cy="328"/>
              </a:xfrm>
            </p:grpSpPr>
            <p:sp>
              <p:nvSpPr>
                <p:cNvPr id="24" name="Oval 15"/>
                <p:cNvSpPr/>
                <p:nvPr/>
              </p:nvSpPr>
              <p:spPr>
                <a:xfrm>
                  <a:off x="1853" y="2519"/>
                  <a:ext cx="181" cy="328"/>
                </a:xfrm>
                <a:prstGeom prst="ellipse">
                  <a:avLst/>
                </a:prstGeom>
                <a:solidFill>
                  <a:srgbClr val="B3B7EB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/>
                <a:p>
                  <a:endParaRPr lang="zh-CN" altLang="zh-CN" dirty="0">
                    <a:latin typeface="Calibri" panose="020F050202020403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Text Box 16"/>
                <p:cNvSpPr txBox="1"/>
                <p:nvPr/>
              </p:nvSpPr>
              <p:spPr>
                <a:xfrm>
                  <a:off x="1820" y="2547"/>
                  <a:ext cx="231" cy="2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r>
                    <a:rPr lang="en-US" altLang="zh-CN" dirty="0">
                      <a:latin typeface="Calibri" panose="020F0502020204030204" charset="0"/>
                      <a:ea typeface="宋体" panose="02010600030101010101" pitchFamily="2" charset="-122"/>
                    </a:rPr>
                    <a:t>-e</a:t>
                  </a:r>
                </a:p>
              </p:txBody>
            </p:sp>
          </p:grpSp>
          <p:grpSp>
            <p:nvGrpSpPr>
              <p:cNvPr id="17" name="Group 45"/>
              <p:cNvGrpSpPr/>
              <p:nvPr/>
            </p:nvGrpSpPr>
            <p:grpSpPr>
              <a:xfrm>
                <a:off x="1253" y="2672"/>
                <a:ext cx="231" cy="328"/>
                <a:chOff x="1820" y="2519"/>
                <a:chExt cx="231" cy="328"/>
              </a:xfrm>
            </p:grpSpPr>
            <p:sp>
              <p:nvSpPr>
                <p:cNvPr id="22" name="Oval 46"/>
                <p:cNvSpPr/>
                <p:nvPr/>
              </p:nvSpPr>
              <p:spPr>
                <a:xfrm>
                  <a:off x="1853" y="2519"/>
                  <a:ext cx="181" cy="328"/>
                </a:xfrm>
                <a:prstGeom prst="ellipse">
                  <a:avLst/>
                </a:prstGeom>
                <a:solidFill>
                  <a:srgbClr val="B3B7EB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/>
                <a:p>
                  <a:endParaRPr lang="zh-CN" altLang="zh-CN" dirty="0">
                    <a:latin typeface="Calibri" panose="020F050202020403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Text Box 47"/>
                <p:cNvSpPr txBox="1"/>
                <p:nvPr/>
              </p:nvSpPr>
              <p:spPr>
                <a:xfrm>
                  <a:off x="1820" y="2547"/>
                  <a:ext cx="231" cy="2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r>
                    <a:rPr lang="en-US" altLang="zh-CN" dirty="0">
                      <a:latin typeface="Calibri" panose="020F0502020204030204" charset="0"/>
                      <a:ea typeface="宋体" panose="02010600030101010101" pitchFamily="2" charset="-122"/>
                    </a:rPr>
                    <a:t>-e</a:t>
                  </a:r>
                </a:p>
              </p:txBody>
            </p:sp>
          </p:grpSp>
          <p:sp>
            <p:nvSpPr>
              <p:cNvPr id="18" name="Line 48"/>
              <p:cNvSpPr/>
              <p:nvPr/>
            </p:nvSpPr>
            <p:spPr>
              <a:xfrm>
                <a:off x="1565" y="2546"/>
                <a:ext cx="272" cy="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19" name="Line 49"/>
              <p:cNvSpPr/>
              <p:nvPr/>
            </p:nvSpPr>
            <p:spPr>
              <a:xfrm>
                <a:off x="1383" y="2659"/>
                <a:ext cx="227" cy="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20" name="Line 50"/>
              <p:cNvSpPr/>
              <p:nvPr/>
            </p:nvSpPr>
            <p:spPr>
              <a:xfrm>
                <a:off x="1451" y="2840"/>
                <a:ext cx="272" cy="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21" name="Line 51"/>
              <p:cNvSpPr/>
              <p:nvPr/>
            </p:nvSpPr>
            <p:spPr>
              <a:xfrm>
                <a:off x="1565" y="3067"/>
                <a:ext cx="385" cy="0"/>
              </a:xfrm>
              <a:prstGeom prst="line">
                <a:avLst/>
              </a:prstGeom>
              <a:ln w="952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</p:grpSp>
      <p:sp>
        <p:nvSpPr>
          <p:cNvPr id="31" name="Text Box 12"/>
          <p:cNvSpPr txBox="1"/>
          <p:nvPr/>
        </p:nvSpPr>
        <p:spPr>
          <a:xfrm>
            <a:off x="539552" y="4460261"/>
            <a:ext cx="6705054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passes through surface A from t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16"/>
          <p:cNvGraphicFramePr>
            <a:graphicFrameLocks noChangeAspect="1"/>
          </p:cNvGraphicFramePr>
          <p:nvPr/>
        </p:nvGraphicFramePr>
        <p:xfrm>
          <a:off x="5746837" y="5081652"/>
          <a:ext cx="1168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r:id="rId3" imgW="584200" imgH="495300" progId="Equation.DSMT4">
                  <p:embed/>
                </p:oleObj>
              </mc:Choice>
              <mc:Fallback>
                <p:oleObj r:id="rId3" imgW="584200" imgH="4953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46837" y="5081652"/>
                        <a:ext cx="1168400" cy="9906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9"/>
          <p:cNvGraphicFramePr>
            <a:graphicFrameLocks noChangeAspect="1"/>
          </p:cNvGraphicFramePr>
          <p:nvPr/>
        </p:nvGraphicFramePr>
        <p:xfrm>
          <a:off x="4786325" y="2949202"/>
          <a:ext cx="3128373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5" imgW="1637665" imgH="393700" progId="Equation.DSMT4">
                  <p:embed/>
                </p:oleObj>
              </mc:Choice>
              <mc:Fallback>
                <p:oleObj name="Equation" r:id="rId5" imgW="1637665" imgH="393700" progId="Equation.DSMT4">
                  <p:embed/>
                  <p:pic>
                    <p:nvPicPr>
                      <p:cNvPr id="0" name="Object 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6325" y="2949202"/>
                        <a:ext cx="3128373" cy="7508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3511987" y="399064"/>
            <a:ext cx="5227146" cy="1896255"/>
            <a:chOff x="3511987" y="399063"/>
            <a:chExt cx="5227146" cy="1896255"/>
          </a:xfrm>
        </p:grpSpPr>
        <p:graphicFrame>
          <p:nvGraphicFramePr>
            <p:cNvPr id="30" name="Object 54"/>
            <p:cNvGraphicFramePr>
              <a:graphicFrameLocks noChangeAspect="1"/>
            </p:cNvGraphicFramePr>
            <p:nvPr/>
          </p:nvGraphicFramePr>
          <p:xfrm>
            <a:off x="5724128" y="1317418"/>
            <a:ext cx="1041400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2" r:id="rId7" imgW="419100" imgH="393700" progId="Equation.DSMT4">
                    <p:embed/>
                  </p:oleObj>
                </mc:Choice>
                <mc:Fallback>
                  <p:oleObj r:id="rId7" imgW="419100" imgH="393700" progId="Equation.DSMT4">
                    <p:embed/>
                    <p:pic>
                      <p:nvPicPr>
                        <p:cNvPr id="0" name="Object 5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24128" y="1317418"/>
                          <a:ext cx="1041400" cy="977900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FF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文本框 34"/>
            <p:cNvSpPr txBox="1"/>
            <p:nvPr/>
          </p:nvSpPr>
          <p:spPr>
            <a:xfrm>
              <a:off x="3511987" y="399063"/>
              <a:ext cx="5227146" cy="1014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Charge </a:t>
              </a:r>
              <a:r>
                <a:rPr lang="en-US" altLang="zh-CN" sz="2000" b="1" i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dq</a:t>
              </a:r>
              <a:r>
                <a:rPr lang="en-US" altLang="zh-CN" sz="2000" b="1" i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passes through a hypothetical plane in </a:t>
              </a:r>
              <a:r>
                <a:rPr lang="en-US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time </a:t>
              </a:r>
              <a:r>
                <a:rPr lang="en-US" altLang="zh-CN" sz="2000" b="1" i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dt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, then the current </a:t>
              </a:r>
              <a:r>
                <a:rPr lang="en-US" altLang="zh-CN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zh-CN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through that plane is defined as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Text Box 12"/>
          <p:cNvSpPr txBox="1"/>
          <p:nvPr/>
        </p:nvSpPr>
        <p:spPr>
          <a:xfrm>
            <a:off x="568288" y="3128584"/>
            <a:ext cx="3448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电荷的时间微分是电流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Box 12"/>
          <p:cNvSpPr txBox="1"/>
          <p:nvPr/>
        </p:nvSpPr>
        <p:spPr>
          <a:xfrm>
            <a:off x="539552" y="5260427"/>
            <a:ext cx="3448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电流的时间积分是电荷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851" y="692150"/>
            <a:ext cx="8448675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We determine the resistance between any two points of a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conductor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by applying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potential difference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between those points and measuring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that results.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resistance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is defined as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5" name="Object 41"/>
          <p:cNvGraphicFramePr>
            <a:graphicFrameLocks noChangeAspect="1"/>
          </p:cNvGraphicFramePr>
          <p:nvPr/>
        </p:nvGraphicFramePr>
        <p:xfrm>
          <a:off x="974726" y="2251076"/>
          <a:ext cx="9366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r:id="rId4" imgW="431800" imgH="393700" progId="Equation.DSMT4">
                  <p:embed/>
                </p:oleObj>
              </mc:Choice>
              <mc:Fallback>
                <p:oleObj r:id="rId4" imgW="431800" imgH="393700" progId="Equation.DSMT4">
                  <p:embed/>
                  <p:pic>
                    <p:nvPicPr>
                      <p:cNvPr id="0" name="Object 4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4726" y="2251076"/>
                        <a:ext cx="936625" cy="854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3"/>
          <p:cNvGrpSpPr/>
          <p:nvPr/>
        </p:nvGrpSpPr>
        <p:grpSpPr>
          <a:xfrm>
            <a:off x="4922838" y="2446338"/>
            <a:ext cx="3187700" cy="463550"/>
            <a:chOff x="4768235" y="2952951"/>
            <a:chExt cx="3187074" cy="463550"/>
          </a:xfrm>
        </p:grpSpPr>
        <p:sp>
          <p:nvSpPr>
            <p:cNvPr id="31748" name="Freeform 62"/>
            <p:cNvSpPr/>
            <p:nvPr/>
          </p:nvSpPr>
          <p:spPr>
            <a:xfrm>
              <a:off x="7020272" y="2952951"/>
              <a:ext cx="935037" cy="46355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49" name="Text Box 63"/>
            <p:cNvSpPr txBox="1"/>
            <p:nvPr/>
          </p:nvSpPr>
          <p:spPr>
            <a:xfrm>
              <a:off x="4768235" y="2954836"/>
              <a:ext cx="216024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Resistor</a:t>
              </a:r>
              <a:r>
                <a:rPr lang="en-US" altLang="zh-CN" sz="2400" dirty="0">
                  <a:solidFill>
                    <a:srgbClr val="002060"/>
                  </a:solidFill>
                  <a:latin typeface="Calibri" panose="020F0502020204030204" charset="0"/>
                  <a:ea typeface="宋体" panose="02010600030101010101" pitchFamily="2" charset="-122"/>
                </a:rPr>
                <a:t> symbol</a:t>
              </a:r>
              <a:endParaRPr lang="en-US" altLang="zh-CN" sz="2400" baseline="-25000" dirty="0">
                <a:solidFill>
                  <a:srgbClr val="00206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2982914" y="2513014"/>
          <a:ext cx="158908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r:id="rId6" imgW="760730" imgH="165100" progId="Equation.DSMT4">
                  <p:embed/>
                </p:oleObj>
              </mc:Choice>
              <mc:Fallback>
                <p:oleObj r:id="rId6" imgW="760730" imgH="165100" progId="Equation.DSMT4">
                  <p:embed/>
                  <p:pic>
                    <p:nvPicPr>
                      <p:cNvPr id="0" name="Object 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82914" y="2513014"/>
                        <a:ext cx="1589087" cy="3444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93738" y="3663951"/>
            <a:ext cx="62407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resistivity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电阻率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of a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material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is defined as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1055689" y="4359275"/>
          <a:ext cx="9366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r:id="rId8" imgW="431800" imgH="393700" progId="Equation.DSMT4">
                  <p:embed/>
                </p:oleObj>
              </mc:Choice>
              <mc:Fallback>
                <p:oleObj r:id="rId8" imgW="431800" imgH="3937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5689" y="4359275"/>
                        <a:ext cx="936625" cy="852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411760" y="4565373"/>
            <a:ext cx="62785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The unit of resistivity in SI is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ohm-meter (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Ω·</a:t>
            </a:r>
            <a:r>
              <a:rPr lang="en-US" altLang="zh-CN" sz="2400" dirty="0">
                <a:latin typeface="TimesTen-Roman"/>
              </a:rPr>
              <a:t>m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7563" y="5492751"/>
            <a:ext cx="29470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Conductivity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电导率 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4160839" y="5270501"/>
          <a:ext cx="9366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r:id="rId10" imgW="431800" imgH="419100" progId="Equation.DSMT4">
                  <p:embed/>
                </p:oleObj>
              </mc:Choice>
              <mc:Fallback>
                <p:oleObj r:id="rId10" imgW="431800" imgH="4191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60839" y="5270501"/>
                        <a:ext cx="936625" cy="906463"/>
                      </a:xfrm>
                      <a:prstGeom prst="rect">
                        <a:avLst/>
                      </a:prstGeom>
                      <a:solidFill>
                        <a:srgbClr val="B9CDE5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6084889" y="5445126"/>
          <a:ext cx="13160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r:id="rId12" imgW="507365" imgH="215900" progId="Equation.DSMT4">
                  <p:embed/>
                </p:oleObj>
              </mc:Choice>
              <mc:Fallback>
                <p:oleObj r:id="rId12" imgW="507365" imgH="2159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84889" y="5445126"/>
                        <a:ext cx="1316037" cy="5572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1530" y="1124744"/>
            <a:ext cx="84609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current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Charge carriers move randomly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net motion in any direction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1530" y="1845692"/>
            <a:ext cx="85509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current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Charge carriers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move randomly, but tend to </a:t>
            </a:r>
            <a:r>
              <a:rPr lang="en-US" altLang="zh-CN" sz="20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A net motion in a direction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195737" y="2364348"/>
            <a:ext cx="5139801" cy="1868895"/>
            <a:chOff x="3059832" y="1833498"/>
            <a:chExt cx="5139801" cy="1868895"/>
          </a:xfrm>
        </p:grpSpPr>
        <p:sp>
          <p:nvSpPr>
            <p:cNvPr id="7" name="文本框 6"/>
            <p:cNvSpPr txBox="1"/>
            <p:nvPr/>
          </p:nvSpPr>
          <p:spPr>
            <a:xfrm>
              <a:off x="6633459" y="2171799"/>
              <a:ext cx="1566174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Drift speed </a:t>
              </a:r>
              <a:r>
                <a:rPr lang="en-US" altLang="zh-CN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漂移速率</a:t>
              </a:r>
            </a:p>
          </p:txBody>
        </p:sp>
        <p:pic>
          <p:nvPicPr>
            <p:cNvPr id="13314" name="Picture 2" descr="See the source imag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832" y="1833498"/>
              <a:ext cx="3242865" cy="1868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secTitle"/>
          <p:cNvSpPr txBox="1"/>
          <p:nvPr/>
        </p:nvSpPr>
        <p:spPr>
          <a:xfrm>
            <a:off x="539751" y="404813"/>
            <a:ext cx="70199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Microscopic view of conduction in metals</a:t>
            </a:r>
          </a:p>
        </p:txBody>
      </p:sp>
      <p:sp>
        <p:nvSpPr>
          <p:cNvPr id="9" name="矩形 5"/>
          <p:cNvSpPr/>
          <p:nvPr/>
        </p:nvSpPr>
        <p:spPr>
          <a:xfrm>
            <a:off x="337744" y="5445225"/>
            <a:ext cx="6894766" cy="860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ts val="3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Random-motion speed of an electron:	</a:t>
            </a:r>
            <a:r>
              <a:rPr lang="en-US" altLang="zh-CN" sz="2000" i="1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~ 10</a:t>
            </a:r>
            <a:r>
              <a:rPr lang="en-US" altLang="zh-CN" sz="20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m/s</a:t>
            </a:r>
          </a:p>
          <a:p>
            <a:pPr eaLnBrk="0" hangingPunct="0">
              <a:lnSpc>
                <a:spcPts val="3000"/>
              </a:lnSpc>
            </a:pP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Drift speed </a:t>
            </a: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漂移速率 </a:t>
            </a:r>
            <a:r>
              <a:rPr lang="en-US" altLang="zh-CN" sz="2000" b="1" dirty="0">
                <a:solidFill>
                  <a:srgbClr val="0066FF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of an electron: 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i="1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i="1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~ 10</a:t>
            </a:r>
            <a:r>
              <a:rPr lang="en-US" altLang="zh-CN" sz="20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-4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to 10</a:t>
            </a:r>
            <a:r>
              <a:rPr lang="en-US" altLang="zh-CN" sz="20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-5</a:t>
            </a:r>
            <a:r>
              <a:rPr lang="en-US" altLang="zh-CN" sz="2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m/s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41684" y="4282906"/>
            <a:ext cx="4158010" cy="508000"/>
            <a:chOff x="539750" y="4331233"/>
            <a:chExt cx="4158010" cy="508000"/>
          </a:xfrm>
        </p:grpSpPr>
        <p:graphicFrame>
          <p:nvGraphicFramePr>
            <p:cNvPr id="11" name="Object 4"/>
            <p:cNvGraphicFramePr>
              <a:graphicFrameLocks noChangeAspect="1"/>
            </p:cNvGraphicFramePr>
            <p:nvPr/>
          </p:nvGraphicFramePr>
          <p:xfrm>
            <a:off x="539750" y="4331233"/>
            <a:ext cx="11938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6" name="Equation" r:id="rId4" imgW="14325600" imgH="6096000" progId="Equation.DSMT4">
                    <p:embed/>
                  </p:oleObj>
                </mc:Choice>
                <mc:Fallback>
                  <p:oleObj name="Equation" r:id="rId4" imgW="14325600" imgH="60960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39750" y="4331233"/>
                          <a:ext cx="1193800" cy="5080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/>
            <p:cNvSpPr txBox="1"/>
            <p:nvPr/>
          </p:nvSpPr>
          <p:spPr>
            <a:xfrm>
              <a:off x="2051720" y="4382565"/>
              <a:ext cx="264604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ne </a:t>
              </a:r>
              <a:r>
                <a:rPr lang="en-US" altLang="zh-CN" dirty="0">
                  <a:latin typeface="Times New Roman" panose="02020603050405020304" pitchFamily="18" charset="0"/>
                  <a:ea typeface="Arial Unicode MS" pitchFamily="34" charset="-122"/>
                  <a:cs typeface="Times New Roman" panose="02020603050405020304" pitchFamily="18" charset="0"/>
                </a:rPr>
                <a:t>carrier charge density 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1" y="606425"/>
            <a:ext cx="4176713" cy="36718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Object 41"/>
          <p:cNvGraphicFramePr>
            <a:graphicFrameLocks noChangeAspect="1"/>
          </p:cNvGraphicFramePr>
          <p:nvPr/>
        </p:nvGraphicFramePr>
        <p:xfrm>
          <a:off x="4286421" y="804069"/>
          <a:ext cx="416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r:id="rId4" imgW="2082800" imgH="393700" progId="Equation.DSMT4">
                  <p:embed/>
                </p:oleObj>
              </mc:Choice>
              <mc:Fallback>
                <p:oleObj r:id="rId4" imgW="2082800" imgH="393700" progId="Equation.DSMT4">
                  <p:embed/>
                  <p:pic>
                    <p:nvPicPr>
                      <p:cNvPr id="0" name="Object 4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6421" y="804069"/>
                        <a:ext cx="41656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4690269" y="1985169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r:id="rId6" imgW="1790700" imgH="228600" progId="Equation.DSMT4">
                  <p:embed/>
                </p:oleObj>
              </mc:Choice>
              <mc:Fallback>
                <p:oleObj r:id="rId6" imgW="1790700" imgH="2286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90269" y="1985169"/>
                        <a:ext cx="3581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284663" y="3021013"/>
          <a:ext cx="439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Equation" r:id="rId8" imgW="52730400" imgH="10058400" progId="Equation.DSMT4">
                  <p:embed/>
                </p:oleObj>
              </mc:Choice>
              <mc:Fallback>
                <p:oleObj name="Equation" r:id="rId8" imgW="52730400" imgH="10058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84663" y="3021013"/>
                        <a:ext cx="4394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784725" y="4143375"/>
          <a:ext cx="3302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r:id="rId10" imgW="1651000" imgH="393700" progId="Equation.DSMT4">
                  <p:embed/>
                </p:oleObj>
              </mc:Choice>
              <mc:Fallback>
                <p:oleObj r:id="rId10" imgW="1651000" imgH="3937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84725" y="4143375"/>
                        <a:ext cx="33020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657188" y="5353914"/>
            <a:ext cx="8066162" cy="70675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free time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electrons in metals are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the electric field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metals obey Ohm’s law.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11189" y="908050"/>
            <a:ext cx="3995737" cy="3607118"/>
            <a:chOff x="358775" y="760413"/>
            <a:chExt cx="3995738" cy="3607117"/>
          </a:xfrm>
        </p:grpSpPr>
        <p:sp>
          <p:nvSpPr>
            <p:cNvPr id="43010" name="Rectangle 4"/>
            <p:cNvSpPr/>
            <p:nvPr/>
          </p:nvSpPr>
          <p:spPr>
            <a:xfrm>
              <a:off x="358775" y="2438400"/>
              <a:ext cx="3995738" cy="368300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11" name="Text Box 11"/>
            <p:cNvSpPr txBox="1"/>
            <p:nvPr/>
          </p:nvSpPr>
          <p:spPr>
            <a:xfrm>
              <a:off x="395288" y="3352800"/>
              <a:ext cx="3924300" cy="10147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the rate of electric energy transfer from the battery to the device.</a:t>
              </a:r>
            </a:p>
          </p:txBody>
        </p:sp>
        <p:sp>
          <p:nvSpPr>
            <p:cNvPr id="43012" name="Line 15"/>
            <p:cNvSpPr/>
            <p:nvPr/>
          </p:nvSpPr>
          <p:spPr>
            <a:xfrm>
              <a:off x="1081088" y="2178050"/>
              <a:ext cx="5048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3" name="Line 20"/>
            <p:cNvSpPr/>
            <p:nvPr/>
          </p:nvSpPr>
          <p:spPr>
            <a:xfrm>
              <a:off x="1189038" y="2249488"/>
              <a:ext cx="28733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4" name="Text Box 22"/>
            <p:cNvSpPr txBox="1"/>
            <p:nvPr/>
          </p:nvSpPr>
          <p:spPr>
            <a:xfrm>
              <a:off x="649288" y="1997075"/>
              <a:ext cx="5397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15" name="Line 24"/>
            <p:cNvSpPr/>
            <p:nvPr/>
          </p:nvSpPr>
          <p:spPr>
            <a:xfrm>
              <a:off x="1441450" y="1998663"/>
              <a:ext cx="144463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6" name="Line 25"/>
            <p:cNvSpPr/>
            <p:nvPr/>
          </p:nvSpPr>
          <p:spPr>
            <a:xfrm>
              <a:off x="1514475" y="1928813"/>
              <a:ext cx="0" cy="14287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7" name="Line 26"/>
            <p:cNvSpPr/>
            <p:nvPr/>
          </p:nvSpPr>
          <p:spPr>
            <a:xfrm>
              <a:off x="1441450" y="2359025"/>
              <a:ext cx="144463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8" name="Rectangle 27"/>
            <p:cNvSpPr/>
            <p:nvPr/>
          </p:nvSpPr>
          <p:spPr>
            <a:xfrm>
              <a:off x="2268538" y="2035969"/>
              <a:ext cx="1154112" cy="368300"/>
            </a:xfrm>
            <a:prstGeom prst="rect">
              <a:avLst/>
            </a:prstGeom>
            <a:solidFill>
              <a:srgbClr val="D8F4D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19" name="Line 28"/>
            <p:cNvSpPr/>
            <p:nvPr/>
          </p:nvSpPr>
          <p:spPr>
            <a:xfrm flipV="1">
              <a:off x="1333500" y="1157288"/>
              <a:ext cx="0" cy="10080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0" name="Text Box 29"/>
            <p:cNvSpPr txBox="1"/>
            <p:nvPr/>
          </p:nvSpPr>
          <p:spPr>
            <a:xfrm>
              <a:off x="2268538" y="2022475"/>
              <a:ext cx="1152525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Device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21" name="Oval 30"/>
            <p:cNvSpPr/>
            <p:nvPr/>
          </p:nvSpPr>
          <p:spPr>
            <a:xfrm>
              <a:off x="2808288" y="1401113"/>
              <a:ext cx="385962" cy="520414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22" name="Oval 31"/>
            <p:cNvSpPr/>
            <p:nvPr/>
          </p:nvSpPr>
          <p:spPr>
            <a:xfrm>
              <a:off x="2809875" y="2518714"/>
              <a:ext cx="385962" cy="520414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23" name="Line 32"/>
            <p:cNvSpPr/>
            <p:nvPr/>
          </p:nvSpPr>
          <p:spPr>
            <a:xfrm flipV="1">
              <a:off x="1333500" y="2238375"/>
              <a:ext cx="0" cy="10080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4" name="Line 33"/>
            <p:cNvSpPr/>
            <p:nvPr/>
          </p:nvSpPr>
          <p:spPr>
            <a:xfrm flipV="1">
              <a:off x="2844800" y="2778125"/>
              <a:ext cx="0" cy="4683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5" name="Line 34"/>
            <p:cNvSpPr/>
            <p:nvPr/>
          </p:nvSpPr>
          <p:spPr>
            <a:xfrm>
              <a:off x="1333500" y="3227388"/>
              <a:ext cx="15113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6" name="Line 35"/>
            <p:cNvSpPr/>
            <p:nvPr/>
          </p:nvSpPr>
          <p:spPr>
            <a:xfrm flipV="1">
              <a:off x="2844800" y="1157288"/>
              <a:ext cx="0" cy="4683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7" name="Line 36"/>
            <p:cNvSpPr/>
            <p:nvPr/>
          </p:nvSpPr>
          <p:spPr>
            <a:xfrm>
              <a:off x="1333500" y="1176338"/>
              <a:ext cx="15113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28" name="Line 37"/>
            <p:cNvSpPr/>
            <p:nvPr/>
          </p:nvSpPr>
          <p:spPr>
            <a:xfrm>
              <a:off x="1836738" y="1174750"/>
              <a:ext cx="46831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3029" name="Text Box 38"/>
            <p:cNvSpPr txBox="1"/>
            <p:nvPr/>
          </p:nvSpPr>
          <p:spPr>
            <a:xfrm>
              <a:off x="1765300" y="760413"/>
              <a:ext cx="5397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30" name="Line 39"/>
            <p:cNvSpPr/>
            <p:nvPr/>
          </p:nvSpPr>
          <p:spPr>
            <a:xfrm>
              <a:off x="1836738" y="3225800"/>
              <a:ext cx="46831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43031" name="Text Box 40"/>
            <p:cNvSpPr txBox="1"/>
            <p:nvPr/>
          </p:nvSpPr>
          <p:spPr>
            <a:xfrm>
              <a:off x="1836738" y="2824163"/>
              <a:ext cx="5397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3032" name="Line 41"/>
            <p:cNvSpPr/>
            <p:nvPr/>
          </p:nvSpPr>
          <p:spPr>
            <a:xfrm flipV="1">
              <a:off x="3708400" y="1336675"/>
              <a:ext cx="0" cy="17287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43033" name="Text Box 42"/>
            <p:cNvSpPr txBox="1"/>
            <p:nvPr/>
          </p:nvSpPr>
          <p:spPr>
            <a:xfrm>
              <a:off x="3636963" y="1995488"/>
              <a:ext cx="5397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3"/>
          <p:cNvGrpSpPr/>
          <p:nvPr/>
        </p:nvGrpSpPr>
        <p:grpSpPr>
          <a:xfrm>
            <a:off x="5222875" y="2925764"/>
            <a:ext cx="2870200" cy="1476664"/>
            <a:chOff x="941387" y="4746683"/>
            <a:chExt cx="2870200" cy="1476606"/>
          </a:xfrm>
        </p:grpSpPr>
        <p:graphicFrame>
          <p:nvGraphicFramePr>
            <p:cNvPr id="43035" name="Object 69"/>
            <p:cNvGraphicFramePr>
              <a:graphicFrameLocks noChangeAspect="1"/>
            </p:cNvGraphicFramePr>
            <p:nvPr/>
          </p:nvGraphicFramePr>
          <p:xfrm>
            <a:off x="1610116" y="4746683"/>
            <a:ext cx="1389062" cy="573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" r:id="rId4" imgW="431165" imgH="177800" progId="Equation.DSMT4">
                    <p:embed/>
                  </p:oleObj>
                </mc:Choice>
                <mc:Fallback>
                  <p:oleObj r:id="rId4" imgW="431165" imgH="177800" progId="Equation.DSMT4">
                    <p:embed/>
                    <p:pic>
                      <p:nvPicPr>
                        <p:cNvPr id="0" name="Object 6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10116" y="4746683"/>
                          <a:ext cx="1389062" cy="57308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6" name="Rectangle 57"/>
            <p:cNvSpPr/>
            <p:nvPr/>
          </p:nvSpPr>
          <p:spPr>
            <a:xfrm>
              <a:off x="941387" y="5516562"/>
              <a:ext cx="2870200" cy="7067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any device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(resistor, motor, capacitor)</a:t>
              </a:r>
            </a:p>
          </p:txBody>
        </p:sp>
      </p:grpSp>
      <p:grpSp>
        <p:nvGrpSpPr>
          <p:cNvPr id="4" name="组合 5"/>
          <p:cNvGrpSpPr/>
          <p:nvPr/>
        </p:nvGrpSpPr>
        <p:grpSpPr>
          <a:xfrm>
            <a:off x="1765301" y="5229225"/>
            <a:ext cx="5165725" cy="838200"/>
            <a:chOff x="2771800" y="5552500"/>
            <a:chExt cx="5165653" cy="838200"/>
          </a:xfrm>
        </p:grpSpPr>
        <p:sp>
          <p:nvSpPr>
            <p:cNvPr id="43038" name="Rectangle 58"/>
            <p:cNvSpPr/>
            <p:nvPr/>
          </p:nvSpPr>
          <p:spPr>
            <a:xfrm>
              <a:off x="5197150" y="5771575"/>
              <a:ext cx="2740303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a resistor only</a:t>
              </a:r>
            </a:p>
          </p:txBody>
        </p:sp>
        <p:graphicFrame>
          <p:nvGraphicFramePr>
            <p:cNvPr id="43039" name="Object 6"/>
            <p:cNvGraphicFramePr>
              <a:graphicFrameLocks noChangeAspect="1"/>
            </p:cNvGraphicFramePr>
            <p:nvPr/>
          </p:nvGraphicFramePr>
          <p:xfrm>
            <a:off x="2771800" y="5552500"/>
            <a:ext cx="22606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8" r:id="rId6" imgW="1130300" imgH="419100" progId="Equation.DSMT4">
                    <p:embed/>
                  </p:oleObj>
                </mc:Choice>
                <mc:Fallback>
                  <p:oleObj r:id="rId6" imgW="1130300" imgH="419100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71800" y="5552500"/>
                          <a:ext cx="2260600" cy="838200"/>
                        </a:xfrm>
                        <a:prstGeom prst="rect">
                          <a:avLst/>
                        </a:prstGeom>
                        <a:solidFill>
                          <a:srgbClr val="B7DEE8"/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59"/>
          <p:cNvGraphicFramePr>
            <a:graphicFrameLocks noChangeAspect="1"/>
          </p:cNvGraphicFramePr>
          <p:nvPr/>
        </p:nvGraphicFramePr>
        <p:xfrm>
          <a:off x="5900738" y="987425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r:id="rId8" imgW="698500" imgH="203200" progId="Equation.DSMT4">
                  <p:embed/>
                </p:oleObj>
              </mc:Choice>
              <mc:Fallback>
                <p:oleObj r:id="rId8" imgW="698500" imgH="203200" progId="Equation.DSMT4">
                  <p:embed/>
                  <p:pic>
                    <p:nvPicPr>
                      <p:cNvPr id="0" name="Object 5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00738" y="987425"/>
                        <a:ext cx="1397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"/>
          <p:cNvGraphicFramePr>
            <a:graphicFrameLocks noChangeAspect="1"/>
          </p:cNvGraphicFramePr>
          <p:nvPr/>
        </p:nvGraphicFramePr>
        <p:xfrm>
          <a:off x="5668963" y="1714500"/>
          <a:ext cx="220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r:id="rId10" imgW="1104900" imgH="393700" progId="Equation.DSMT4">
                  <p:embed/>
                </p:oleObj>
              </mc:Choice>
              <mc:Fallback>
                <p:oleObj r:id="rId10" imgW="1104900" imgH="3937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68963" y="1714500"/>
                        <a:ext cx="22098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ections"/>
          <p:cNvSpPr txBox="1"/>
          <p:nvPr/>
        </p:nvSpPr>
        <p:spPr>
          <a:xfrm>
            <a:off x="971551" y="1628775"/>
            <a:ext cx="7273925" cy="32905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Emf and Emf Devices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电动势和电源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Single-Loop Circuit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单环路电路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Resistances in Series and in Parallel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Multiloop Circuits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多环路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Circuits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848100"/>
            <a:ext cx="7315200" cy="2476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19100" y="620688"/>
            <a:ext cx="8305800" cy="648072"/>
          </a:xfrm>
          <a:prstGeom prst="rect">
            <a:avLst/>
          </a:prstGeom>
          <a:solidFill>
            <a:srgbClr val="FFFF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solidFill>
                  <a:srgbClr val="0000FF"/>
                </a:solidFill>
                <a:ea typeface="宋体" panose="02010600030101010101" pitchFamily="2" charset="-122"/>
              </a:rPr>
              <a:t>27 Circuits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304800"/>
            <a:ext cx="8534400" cy="567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Electromotive force (emf)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电动势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emf device,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emf device, Real emf device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potential in traversing a resistance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potential in traversing an ideal emf device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in series, Resistance in parallel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difference across a real battery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Loop rule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环路定则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Kirchhoff’s junction rule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结点定则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of energy transfer, Power of energy dissipation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Ammeter, Voltmeter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 circuit, capacitive time constant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3"/>
          <p:cNvSpPr txBox="1"/>
          <p:nvPr/>
        </p:nvSpPr>
        <p:spPr>
          <a:xfrm>
            <a:off x="3119438" y="3001963"/>
            <a:ext cx="6127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latin typeface="Euclid Math One" panose="05050601010101010101" pitchFamily="18" charset="2"/>
                <a:ea typeface="宋体" panose="02010600030101010101" pitchFamily="2" charset="-122"/>
              </a:rPr>
              <a:t>E</a:t>
            </a:r>
            <a:endParaRPr lang="en-US" altLang="zh-CN" baseline="-25000" dirty="0">
              <a:solidFill>
                <a:srgbClr val="FF3300"/>
              </a:solidFill>
              <a:latin typeface="Euclid Math One" panose="05050601010101010101" pitchFamily="18" charset="2"/>
              <a:ea typeface="宋体" panose="02010600030101010101" pitchFamily="2" charset="-122"/>
            </a:endParaRPr>
          </a:p>
        </p:txBody>
      </p:sp>
      <p:sp>
        <p:nvSpPr>
          <p:cNvPr id="23554" name="Line 4"/>
          <p:cNvSpPr/>
          <p:nvPr/>
        </p:nvSpPr>
        <p:spPr>
          <a:xfrm flipV="1">
            <a:off x="3932238" y="3425825"/>
            <a:ext cx="0" cy="539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55" name="Freeform 5"/>
          <p:cNvSpPr/>
          <p:nvPr/>
        </p:nvSpPr>
        <p:spPr>
          <a:xfrm rot="5400000">
            <a:off x="4902200" y="2955925"/>
            <a:ext cx="936625" cy="3810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589" h="292">
                <a:moveTo>
                  <a:pt x="0" y="148"/>
                </a:moveTo>
                <a:lnTo>
                  <a:pt x="142" y="148"/>
                </a:lnTo>
                <a:lnTo>
                  <a:pt x="170" y="0"/>
                </a:lnTo>
                <a:lnTo>
                  <a:pt x="220" y="292"/>
                </a:lnTo>
                <a:lnTo>
                  <a:pt x="270" y="0"/>
                </a:lnTo>
                <a:lnTo>
                  <a:pt x="319" y="292"/>
                </a:lnTo>
                <a:lnTo>
                  <a:pt x="369" y="0"/>
                </a:lnTo>
                <a:lnTo>
                  <a:pt x="418" y="292"/>
                </a:lnTo>
                <a:lnTo>
                  <a:pt x="447" y="148"/>
                </a:lnTo>
                <a:lnTo>
                  <a:pt x="589" y="148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56" name="Text Box 6"/>
          <p:cNvSpPr txBox="1"/>
          <p:nvPr/>
        </p:nvSpPr>
        <p:spPr>
          <a:xfrm>
            <a:off x="5462588" y="2887663"/>
            <a:ext cx="539750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7" name="Line 7"/>
          <p:cNvSpPr/>
          <p:nvPr/>
        </p:nvSpPr>
        <p:spPr>
          <a:xfrm rot="5400000">
            <a:off x="3308350" y="3125788"/>
            <a:ext cx="53975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</p:spPr>
      </p:sp>
      <p:sp>
        <p:nvSpPr>
          <p:cNvPr id="23558" name="Oval 8"/>
          <p:cNvSpPr/>
          <p:nvPr/>
        </p:nvSpPr>
        <p:spPr>
          <a:xfrm>
            <a:off x="3503613" y="3359150"/>
            <a:ext cx="144462" cy="144463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zh-CN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grpSp>
        <p:nvGrpSpPr>
          <p:cNvPr id="23559" name="Group 9"/>
          <p:cNvGrpSpPr/>
          <p:nvPr/>
        </p:nvGrpSpPr>
        <p:grpSpPr>
          <a:xfrm>
            <a:off x="3681413" y="2894013"/>
            <a:ext cx="504825" cy="541337"/>
            <a:chOff x="1497" y="1184"/>
            <a:chExt cx="318" cy="341"/>
          </a:xfrm>
        </p:grpSpPr>
        <p:grpSp>
          <p:nvGrpSpPr>
            <p:cNvPr id="23560" name="Group 10"/>
            <p:cNvGrpSpPr/>
            <p:nvPr/>
          </p:nvGrpSpPr>
          <p:grpSpPr>
            <a:xfrm>
              <a:off x="1497" y="1185"/>
              <a:ext cx="318" cy="340"/>
              <a:chOff x="453" y="1117"/>
              <a:chExt cx="318" cy="340"/>
            </a:xfrm>
          </p:grpSpPr>
          <p:sp>
            <p:nvSpPr>
              <p:cNvPr id="23561" name="Line 11"/>
              <p:cNvSpPr/>
              <p:nvPr/>
            </p:nvSpPr>
            <p:spPr>
              <a:xfrm>
                <a:off x="453" y="1261"/>
                <a:ext cx="31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62" name="Line 12"/>
              <p:cNvSpPr/>
              <p:nvPr/>
            </p:nvSpPr>
            <p:spPr>
              <a:xfrm>
                <a:off x="521" y="1306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63" name="Line 13"/>
              <p:cNvSpPr/>
              <p:nvPr/>
            </p:nvSpPr>
            <p:spPr>
              <a:xfrm flipV="1">
                <a:off x="612" y="1117"/>
                <a:ext cx="0" cy="1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564" name="Line 14"/>
              <p:cNvSpPr/>
              <p:nvPr/>
            </p:nvSpPr>
            <p:spPr>
              <a:xfrm flipV="1">
                <a:off x="612" y="1298"/>
                <a:ext cx="0" cy="15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3565" name="Line 15"/>
            <p:cNvSpPr/>
            <p:nvPr/>
          </p:nvSpPr>
          <p:spPr>
            <a:xfrm rot="-5400000">
              <a:off x="1517" y="1228"/>
              <a:ext cx="91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6" name="Line 16"/>
            <p:cNvSpPr/>
            <p:nvPr/>
          </p:nvSpPr>
          <p:spPr>
            <a:xfrm rot="-5400000">
              <a:off x="1565" y="1185"/>
              <a:ext cx="0" cy="9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7" name="Line 17"/>
            <p:cNvSpPr/>
            <p:nvPr/>
          </p:nvSpPr>
          <p:spPr>
            <a:xfrm rot="10800000">
              <a:off x="1519" y="1479"/>
              <a:ext cx="91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3568" name="Line 18"/>
          <p:cNvSpPr/>
          <p:nvPr/>
        </p:nvSpPr>
        <p:spPr>
          <a:xfrm flipH="1">
            <a:off x="3932238" y="2381250"/>
            <a:ext cx="14398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69" name="Line 19"/>
          <p:cNvSpPr/>
          <p:nvPr/>
        </p:nvSpPr>
        <p:spPr>
          <a:xfrm flipH="1" flipV="1">
            <a:off x="3932238" y="2381250"/>
            <a:ext cx="0" cy="539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70" name="Text Box 20"/>
          <p:cNvSpPr txBox="1"/>
          <p:nvPr/>
        </p:nvSpPr>
        <p:spPr>
          <a:xfrm>
            <a:off x="4329113" y="1966913"/>
            <a:ext cx="539750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71" name="Line 21"/>
          <p:cNvSpPr/>
          <p:nvPr/>
        </p:nvSpPr>
        <p:spPr>
          <a:xfrm rot="10800000">
            <a:off x="4437063" y="2381250"/>
            <a:ext cx="468312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round/>
            <a:headEnd type="arrow" w="med" len="med"/>
            <a:tailEnd type="none" w="med" len="med"/>
          </a:ln>
        </p:spPr>
      </p:sp>
      <p:sp>
        <p:nvSpPr>
          <p:cNvPr id="23572" name="Line 22"/>
          <p:cNvSpPr/>
          <p:nvPr/>
        </p:nvSpPr>
        <p:spPr>
          <a:xfrm flipH="1" flipV="1">
            <a:off x="5372100" y="2381250"/>
            <a:ext cx="0" cy="36036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73" name="Line 23"/>
          <p:cNvSpPr/>
          <p:nvPr/>
        </p:nvSpPr>
        <p:spPr>
          <a:xfrm flipH="1">
            <a:off x="3932238" y="3965575"/>
            <a:ext cx="14398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574" name="Line 24"/>
          <p:cNvSpPr/>
          <p:nvPr/>
        </p:nvSpPr>
        <p:spPr>
          <a:xfrm flipH="1" flipV="1">
            <a:off x="5372100" y="3605213"/>
            <a:ext cx="0" cy="360362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7914" name="Text Box 26"/>
          <p:cNvSpPr txBox="1"/>
          <p:nvPr/>
        </p:nvSpPr>
        <p:spPr>
          <a:xfrm>
            <a:off x="393700" y="3810000"/>
            <a:ext cx="3263900" cy="711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Start here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 point a.  Call the potential here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677916" name="Oval 28"/>
          <p:cNvSpPr/>
          <p:nvPr/>
        </p:nvSpPr>
        <p:spPr>
          <a:xfrm>
            <a:off x="4618038" y="3925888"/>
            <a:ext cx="71437" cy="71437"/>
          </a:xfrm>
          <a:prstGeom prst="ellipse">
            <a:avLst/>
          </a:prstGeom>
          <a:solidFill>
            <a:srgbClr val="009900"/>
          </a:solidFill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zh-CN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77921" name="Arc 33"/>
          <p:cNvSpPr/>
          <p:nvPr/>
        </p:nvSpPr>
        <p:spPr>
          <a:xfrm flipH="1" flipV="1">
            <a:off x="4292600" y="2778125"/>
            <a:ext cx="719138" cy="687388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43200" h="36089" fill="none">
                <a:moveTo>
                  <a:pt x="37619" y="0"/>
                </a:moveTo>
                <a:cubicBezTo>
                  <a:pt x="41211" y="3971"/>
                  <a:pt x="43200" y="9134"/>
                  <a:pt x="43200" y="14489"/>
                </a:cubicBezTo>
                <a:cubicBezTo>
                  <a:pt x="43200" y="26418"/>
                  <a:pt x="33529" y="36089"/>
                  <a:pt x="21600" y="36089"/>
                </a:cubicBezTo>
                <a:cubicBezTo>
                  <a:pt x="9670" y="36089"/>
                  <a:pt x="0" y="26418"/>
                  <a:pt x="0" y="14489"/>
                </a:cubicBezTo>
                <a:cubicBezTo>
                  <a:pt x="-1" y="10725"/>
                  <a:pt x="983" y="7026"/>
                  <a:pt x="2853" y="3760"/>
                </a:cubicBezTo>
              </a:path>
              <a:path w="43200" h="36089" stroke="0">
                <a:moveTo>
                  <a:pt x="37619" y="0"/>
                </a:moveTo>
                <a:cubicBezTo>
                  <a:pt x="41211" y="3971"/>
                  <a:pt x="43200" y="9134"/>
                  <a:pt x="43200" y="14489"/>
                </a:cubicBezTo>
                <a:cubicBezTo>
                  <a:pt x="43200" y="26418"/>
                  <a:pt x="33529" y="36089"/>
                  <a:pt x="21600" y="36089"/>
                </a:cubicBezTo>
                <a:cubicBezTo>
                  <a:pt x="9670" y="36089"/>
                  <a:pt x="0" y="26418"/>
                  <a:pt x="0" y="14489"/>
                </a:cubicBezTo>
                <a:cubicBezTo>
                  <a:pt x="-1" y="10725"/>
                  <a:pt x="983" y="7026"/>
                  <a:pt x="2853" y="3760"/>
                </a:cubicBezTo>
                <a:lnTo>
                  <a:pt x="21600" y="14489"/>
                </a:lnTo>
                <a:lnTo>
                  <a:pt x="37619" y="0"/>
                </a:lnTo>
                <a:close/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7922" name="Line 34"/>
          <p:cNvSpPr/>
          <p:nvPr/>
        </p:nvSpPr>
        <p:spPr>
          <a:xfrm rot="-10800000" flipH="1">
            <a:off x="4868863" y="3362325"/>
            <a:ext cx="107950" cy="180975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arrow" w="med" len="med"/>
            <a:tailEnd type="none" w="med" len="med"/>
          </a:ln>
        </p:spPr>
      </p:sp>
      <p:sp>
        <p:nvSpPr>
          <p:cNvPr id="677924" name="Oval 36"/>
          <p:cNvSpPr/>
          <p:nvPr/>
        </p:nvSpPr>
        <p:spPr>
          <a:xfrm>
            <a:off x="4156075" y="2344738"/>
            <a:ext cx="71438" cy="71437"/>
          </a:xfrm>
          <a:prstGeom prst="ellipse">
            <a:avLst/>
          </a:prstGeom>
          <a:solidFill>
            <a:srgbClr val="009900"/>
          </a:solidFill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endParaRPr lang="zh-CN" altLang="zh-CN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77926" name="Text Box 38"/>
          <p:cNvSpPr txBox="1"/>
          <p:nvPr/>
        </p:nvSpPr>
        <p:spPr>
          <a:xfrm>
            <a:off x="623888" y="1716088"/>
            <a:ext cx="2925762" cy="711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Thus the potential here is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altLang="zh-CN" sz="2000" dirty="0">
                <a:latin typeface="Euclid Math One" panose="05050601010101010101" pitchFamily="18" charset="2"/>
                <a:ea typeface="宋体" panose="02010600030101010101" pitchFamily="2" charset="-122"/>
                <a:sym typeface="Wingdings" panose="05000000000000000000" pitchFamily="2" charset="2"/>
              </a:rPr>
              <a:t>E</a:t>
            </a:r>
            <a:endParaRPr lang="en-US" altLang="zh-CN" sz="2000" dirty="0">
              <a:latin typeface="Calibri" panose="020F050202020403020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77928" name="Text Box 40"/>
          <p:cNvSpPr txBox="1"/>
          <p:nvPr/>
        </p:nvSpPr>
        <p:spPr>
          <a:xfrm>
            <a:off x="5033963" y="4035425"/>
            <a:ext cx="3878262" cy="10160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potential here is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altLang="zh-CN" sz="2000" dirty="0">
                <a:latin typeface="Euclid Math One" panose="05050601010101010101" pitchFamily="18" charset="2"/>
                <a:ea typeface="宋体" panose="02010600030101010101" pitchFamily="2" charset="-122"/>
                <a:sym typeface="Wingdings" panose="05000000000000000000" pitchFamily="2" charset="2"/>
              </a:rPr>
              <a:t>E</a:t>
            </a:r>
            <a:r>
              <a:rPr lang="en-US" altLang="zh-CN" sz="2000" dirty="0">
                <a:latin typeface="Calibri" panose="020F0502020204030204" charset="0"/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i R</a:t>
            </a:r>
            <a:r>
              <a:rPr lang="en-US" altLang="zh-CN" sz="2000" dirty="0">
                <a:latin typeface="Calibri" panose="020F0502020204030204" charset="0"/>
                <a:ea typeface="宋体" panose="02010600030101010101" pitchFamily="2" charset="-122"/>
                <a:sym typeface="Wingdings" panose="05000000000000000000" pitchFamily="2" charset="2"/>
              </a:rPr>
              <a:t>.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But this the same as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altLang="zh-CN" sz="2000" dirty="0">
                <a:latin typeface="Euclid Math One" panose="05050601010101010101" pitchFamily="18" charset="2"/>
                <a:ea typeface="宋体" panose="02010600030101010101" pitchFamily="2" charset="-122"/>
                <a:sym typeface="Wingdings" panose="05000000000000000000" pitchFamily="2" charset="2"/>
              </a:rPr>
              <a:t>E</a:t>
            </a:r>
            <a:r>
              <a:rPr lang="en-US" altLang="zh-CN" sz="2000" dirty="0">
                <a:latin typeface="Calibri" panose="020F0502020204030204" charset="0"/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 i R = 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</a:p>
        </p:txBody>
      </p:sp>
      <p:sp>
        <p:nvSpPr>
          <p:cNvPr id="677932" name="Rectangle 44"/>
          <p:cNvSpPr/>
          <p:nvPr/>
        </p:nvSpPr>
        <p:spPr>
          <a:xfrm>
            <a:off x="3417888" y="4621213"/>
            <a:ext cx="1622560" cy="5847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l-GR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ε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- i R = 0 </a:t>
            </a:r>
            <a:endParaRPr lang="en-US" altLang="zh-CN" sz="2400" i="1" dirty="0">
              <a:latin typeface="Times New Roman" panose="02020603050405020304" pitchFamily="18" charset="0"/>
              <a:ea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77934" name="Rectangle 46"/>
          <p:cNvSpPr/>
          <p:nvPr/>
        </p:nvSpPr>
        <p:spPr>
          <a:xfrm>
            <a:off x="338138" y="2719388"/>
            <a:ext cx="3146425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 we move across the battery, the potential 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increases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by </a:t>
            </a:r>
            <a:r>
              <a:rPr lang="en-US" altLang="zh-CN" dirty="0">
                <a:solidFill>
                  <a:srgbClr val="009900"/>
                </a:solidFill>
                <a:latin typeface="Euclid Math One" panose="05050601010101010101" pitchFamily="18" charset="2"/>
                <a:ea typeface="宋体" panose="02010600030101010101" pitchFamily="2" charset="-122"/>
                <a:sym typeface="Wingdings" panose="05000000000000000000" pitchFamily="2" charset="2"/>
              </a:rPr>
              <a:t>E</a:t>
            </a:r>
            <a:r>
              <a:rPr lang="en-US" altLang="zh-CN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  <a:sym typeface="Wingdings" panose="05000000000000000000" pitchFamily="2" charset="2"/>
              </a:rPr>
              <a:t> . </a:t>
            </a:r>
          </a:p>
        </p:txBody>
      </p:sp>
      <p:sp>
        <p:nvSpPr>
          <p:cNvPr id="677935" name="Rectangle 47"/>
          <p:cNvSpPr/>
          <p:nvPr/>
        </p:nvSpPr>
        <p:spPr>
          <a:xfrm>
            <a:off x="5748338" y="2741613"/>
            <a:ext cx="334010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 we move across the resistor, the potential 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decreases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by </a:t>
            </a:r>
            <a:r>
              <a:rPr lang="en-US" altLang="zh-CN" dirty="0" err="1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iR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.</a:t>
            </a:r>
          </a:p>
        </p:txBody>
      </p:sp>
      <p:sp>
        <p:nvSpPr>
          <p:cNvPr id="23585" name="Rectangle 48"/>
          <p:cNvSpPr/>
          <p:nvPr/>
        </p:nvSpPr>
        <p:spPr>
          <a:xfrm>
            <a:off x="239713" y="1620838"/>
            <a:ext cx="8724775" cy="4838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/>
          <a:p>
            <a:endParaRPr lang="zh-CN" altLang="zh-CN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77937" name="Line 49"/>
          <p:cNvSpPr/>
          <p:nvPr/>
        </p:nvSpPr>
        <p:spPr>
          <a:xfrm flipV="1">
            <a:off x="3657600" y="3963988"/>
            <a:ext cx="998538" cy="230187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7939" name="Rectangle 51"/>
          <p:cNvSpPr/>
          <p:nvPr/>
        </p:nvSpPr>
        <p:spPr>
          <a:xfrm>
            <a:off x="5683250" y="1827213"/>
            <a:ext cx="3225800" cy="650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 a resistor, the current flows from higher to lower potential.</a:t>
            </a:r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677940" name="Line 52"/>
          <p:cNvSpPr/>
          <p:nvPr/>
        </p:nvSpPr>
        <p:spPr>
          <a:xfrm>
            <a:off x="4656138" y="3963988"/>
            <a:ext cx="320675" cy="187325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7941" name="Line 53"/>
          <p:cNvSpPr/>
          <p:nvPr/>
        </p:nvSpPr>
        <p:spPr>
          <a:xfrm>
            <a:off x="3773488" y="2005013"/>
            <a:ext cx="422275" cy="384175"/>
          </a:xfrm>
          <a:prstGeom prst="line">
            <a:avLst/>
          </a:prstGeom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7942" name="Text Box 54"/>
          <p:cNvSpPr txBox="1"/>
          <p:nvPr/>
        </p:nvSpPr>
        <p:spPr>
          <a:xfrm>
            <a:off x="4502150" y="3579813"/>
            <a:ext cx="307975" cy="366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</a:p>
        </p:txBody>
      </p:sp>
      <p:sp>
        <p:nvSpPr>
          <p:cNvPr id="23591" name="secTitle"/>
          <p:cNvSpPr txBox="1"/>
          <p:nvPr/>
        </p:nvSpPr>
        <p:spPr>
          <a:xfrm>
            <a:off x="2143174" y="313721"/>
            <a:ext cx="4857651" cy="52322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Single-Loop Circuit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单环路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1" name="pageTitle"/>
          <p:cNvSpPr txBox="1"/>
          <p:nvPr/>
        </p:nvSpPr>
        <p:spPr>
          <a:xfrm>
            <a:off x="323850" y="981075"/>
            <a:ext cx="5605463" cy="430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b="1" dirty="0">
                <a:solidFill>
                  <a:srgbClr val="E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method to analyze electric circuits</a:t>
            </a:r>
          </a:p>
        </p:txBody>
      </p:sp>
      <p:sp>
        <p:nvSpPr>
          <p:cNvPr id="50" name="Rectangle 76"/>
          <p:cNvSpPr/>
          <p:nvPr/>
        </p:nvSpPr>
        <p:spPr>
          <a:xfrm>
            <a:off x="417512" y="5292725"/>
            <a:ext cx="6386735" cy="101566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Kirchhoff’s loop rule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基尔霍夫环路定理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algebraic sum 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代数和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of the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changes in potential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encountered in a complete traversal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遍历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of any loop of a circuit must be zero.</a:t>
            </a:r>
          </a:p>
        </p:txBody>
      </p:sp>
      <p:graphicFrame>
        <p:nvGraphicFramePr>
          <p:cNvPr id="51" name="Object 79"/>
          <p:cNvGraphicFramePr>
            <a:graphicFrameLocks noChangeAspect="1"/>
          </p:cNvGraphicFramePr>
          <p:nvPr/>
        </p:nvGraphicFramePr>
        <p:xfrm>
          <a:off x="7215188" y="5445125"/>
          <a:ext cx="1320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4" imgW="660400" imgH="355600" progId="Equation.DSMT4">
                  <p:embed/>
                </p:oleObj>
              </mc:Choice>
              <mc:Fallback>
                <p:oleObj r:id="rId4" imgW="660400" imgH="355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15188" y="5445125"/>
                        <a:ext cx="13208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14" grpId="0" bldLvl="0" animBg="1"/>
      <p:bldP spid="677916" grpId="0" bldLvl="0" animBg="1"/>
      <p:bldP spid="677924" grpId="0" bldLvl="0" animBg="1"/>
      <p:bldP spid="677926" grpId="0" bldLvl="0" animBg="1"/>
      <p:bldP spid="677928" grpId="0" bldLvl="0" animBg="1"/>
      <p:bldP spid="677932" grpId="0" bldLvl="0" animBg="1"/>
      <p:bldP spid="677934" grpId="0"/>
      <p:bldP spid="677935" grpId="0"/>
      <p:bldP spid="677939" grpId="0" bldLvl="0" animBg="1"/>
      <p:bldP spid="677942" grpId="0"/>
      <p:bldP spid="50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0825" y="968375"/>
            <a:ext cx="3087688" cy="4703913"/>
            <a:chOff x="188913" y="1014413"/>
            <a:chExt cx="3384550" cy="5623486"/>
          </a:xfrm>
        </p:grpSpPr>
        <p:sp>
          <p:nvSpPr>
            <p:cNvPr id="27650" name="Text Box 3"/>
            <p:cNvSpPr txBox="1"/>
            <p:nvPr/>
          </p:nvSpPr>
          <p:spPr>
            <a:xfrm>
              <a:off x="225425" y="2622550"/>
              <a:ext cx="46990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Euclid Math One" panose="05050601010101010101" pitchFamily="18" charset="2"/>
                  <a:ea typeface="宋体" panose="02010600030101010101" pitchFamily="2" charset="-122"/>
                </a:rPr>
                <a:t>E</a:t>
              </a:r>
              <a:endParaRPr lang="en-US" altLang="zh-CN" baseline="-25000" dirty="0">
                <a:solidFill>
                  <a:srgbClr val="FF3300"/>
                </a:solidFill>
                <a:latin typeface="Euclid Math One" panose="05050601010101010101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651" name="Line 4"/>
            <p:cNvSpPr/>
            <p:nvPr/>
          </p:nvSpPr>
          <p:spPr>
            <a:xfrm flipH="1" flipV="1">
              <a:off x="1089025" y="3081338"/>
              <a:ext cx="0" cy="11509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52" name="Freeform 5"/>
            <p:cNvSpPr/>
            <p:nvPr/>
          </p:nvSpPr>
          <p:spPr>
            <a:xfrm rot="5400000">
              <a:off x="2072480" y="3574255"/>
              <a:ext cx="935037" cy="3810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3" name="Text Box 6"/>
            <p:cNvSpPr txBox="1"/>
            <p:nvPr/>
          </p:nvSpPr>
          <p:spPr>
            <a:xfrm>
              <a:off x="1846263" y="2551113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54" name="Line 7"/>
            <p:cNvSpPr/>
            <p:nvPr/>
          </p:nvSpPr>
          <p:spPr>
            <a:xfrm rot="5400000">
              <a:off x="390525" y="2667000"/>
              <a:ext cx="53975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655" name="Oval 8"/>
            <p:cNvSpPr/>
            <p:nvPr/>
          </p:nvSpPr>
          <p:spPr>
            <a:xfrm>
              <a:off x="585788" y="2661519"/>
              <a:ext cx="423070" cy="62215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grpSp>
          <p:nvGrpSpPr>
            <p:cNvPr id="27656" name="Group 9"/>
            <p:cNvGrpSpPr/>
            <p:nvPr/>
          </p:nvGrpSpPr>
          <p:grpSpPr>
            <a:xfrm>
              <a:off x="839788" y="2546350"/>
              <a:ext cx="504825" cy="541338"/>
              <a:chOff x="1497" y="1184"/>
              <a:chExt cx="318" cy="341"/>
            </a:xfrm>
          </p:grpSpPr>
          <p:grpSp>
            <p:nvGrpSpPr>
              <p:cNvPr id="27657" name="Group 10"/>
              <p:cNvGrpSpPr/>
              <p:nvPr/>
            </p:nvGrpSpPr>
            <p:grpSpPr>
              <a:xfrm>
                <a:off x="1497" y="1185"/>
                <a:ext cx="318" cy="340"/>
                <a:chOff x="453" y="1117"/>
                <a:chExt cx="318" cy="340"/>
              </a:xfrm>
            </p:grpSpPr>
            <p:sp>
              <p:nvSpPr>
                <p:cNvPr id="27658" name="Line 11"/>
                <p:cNvSpPr/>
                <p:nvPr/>
              </p:nvSpPr>
              <p:spPr>
                <a:xfrm>
                  <a:off x="453" y="1261"/>
                  <a:ext cx="3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59" name="Line 12"/>
                <p:cNvSpPr/>
                <p:nvPr/>
              </p:nvSpPr>
              <p:spPr>
                <a:xfrm>
                  <a:off x="521" y="1306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60" name="Line 13"/>
                <p:cNvSpPr/>
                <p:nvPr/>
              </p:nvSpPr>
              <p:spPr>
                <a:xfrm flipV="1">
                  <a:off x="612" y="1117"/>
                  <a:ext cx="0" cy="13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61" name="Line 14"/>
                <p:cNvSpPr/>
                <p:nvPr/>
              </p:nvSpPr>
              <p:spPr>
                <a:xfrm flipV="1">
                  <a:off x="612" y="1298"/>
                  <a:ext cx="0" cy="15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62" name="Line 15"/>
              <p:cNvSpPr/>
              <p:nvPr/>
            </p:nvSpPr>
            <p:spPr>
              <a:xfrm rot="-5400000">
                <a:off x="1517" y="1228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3" name="Line 16"/>
              <p:cNvSpPr/>
              <p:nvPr/>
            </p:nvSpPr>
            <p:spPr>
              <a:xfrm rot="-5400000">
                <a:off x="1565" y="1185"/>
                <a:ext cx="0" cy="9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64" name="Line 17"/>
              <p:cNvSpPr/>
              <p:nvPr/>
            </p:nvSpPr>
            <p:spPr>
              <a:xfrm rot="10800000">
                <a:off x="1519" y="1479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65" name="Line 18"/>
            <p:cNvSpPr/>
            <p:nvPr/>
          </p:nvSpPr>
          <p:spPr>
            <a:xfrm flipH="1">
              <a:off x="1090613" y="1443038"/>
              <a:ext cx="1439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6" name="Line 19"/>
            <p:cNvSpPr/>
            <p:nvPr/>
          </p:nvSpPr>
          <p:spPr>
            <a:xfrm flipH="1" flipV="1">
              <a:off x="1089025" y="1423988"/>
              <a:ext cx="0" cy="11525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7" name="Text Box 20"/>
            <p:cNvSpPr txBox="1"/>
            <p:nvPr/>
          </p:nvSpPr>
          <p:spPr>
            <a:xfrm>
              <a:off x="1701800" y="102870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68" name="Line 21"/>
            <p:cNvSpPr/>
            <p:nvPr/>
          </p:nvSpPr>
          <p:spPr>
            <a:xfrm rot="10800000">
              <a:off x="1809750" y="1443038"/>
              <a:ext cx="468313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669" name="Line 22"/>
            <p:cNvSpPr/>
            <p:nvPr/>
          </p:nvSpPr>
          <p:spPr>
            <a:xfrm flipH="1">
              <a:off x="1090613" y="4216400"/>
              <a:ext cx="1439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70" name="Text Box 23"/>
            <p:cNvSpPr txBox="1"/>
            <p:nvPr/>
          </p:nvSpPr>
          <p:spPr>
            <a:xfrm>
              <a:off x="1341438" y="417195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a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Oval 24"/>
            <p:cNvSpPr/>
            <p:nvPr/>
          </p:nvSpPr>
          <p:spPr>
            <a:xfrm>
              <a:off x="1595438" y="3902944"/>
              <a:ext cx="423070" cy="622150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Text Box 25"/>
            <p:cNvSpPr txBox="1"/>
            <p:nvPr/>
          </p:nvSpPr>
          <p:spPr>
            <a:xfrm>
              <a:off x="1341438" y="1014413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3" name="Oval 26"/>
            <p:cNvSpPr/>
            <p:nvPr/>
          </p:nvSpPr>
          <p:spPr>
            <a:xfrm>
              <a:off x="1558925" y="1131169"/>
              <a:ext cx="423070" cy="622150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4" name="Text Box 28"/>
            <p:cNvSpPr txBox="1"/>
            <p:nvPr/>
          </p:nvSpPr>
          <p:spPr>
            <a:xfrm>
              <a:off x="1846263" y="165100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5" name="Freeform 29"/>
            <p:cNvSpPr/>
            <p:nvPr/>
          </p:nvSpPr>
          <p:spPr>
            <a:xfrm rot="5400000">
              <a:off x="2072481" y="1702594"/>
              <a:ext cx="935038" cy="3810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Freeform 30"/>
            <p:cNvSpPr/>
            <p:nvPr/>
          </p:nvSpPr>
          <p:spPr>
            <a:xfrm rot="5400000">
              <a:off x="2072481" y="2639219"/>
              <a:ext cx="935038" cy="3810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Text Box 31"/>
            <p:cNvSpPr txBox="1"/>
            <p:nvPr/>
          </p:nvSpPr>
          <p:spPr>
            <a:xfrm>
              <a:off x="1809750" y="352425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78" name="Text Box 32"/>
            <p:cNvSpPr txBox="1"/>
            <p:nvPr/>
          </p:nvSpPr>
          <p:spPr>
            <a:xfrm>
              <a:off x="188913" y="5321300"/>
              <a:ext cx="46990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Euclid Math One" panose="05050601010101010101" pitchFamily="18" charset="2"/>
                  <a:ea typeface="宋体" panose="02010600030101010101" pitchFamily="2" charset="-122"/>
                </a:rPr>
                <a:t>E</a:t>
              </a:r>
              <a:endParaRPr lang="en-US" altLang="zh-CN" baseline="-25000" dirty="0">
                <a:solidFill>
                  <a:srgbClr val="FF3300"/>
                </a:solidFill>
                <a:latin typeface="Euclid Math One" panose="05050601010101010101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679" name="Line 33"/>
            <p:cNvSpPr/>
            <p:nvPr/>
          </p:nvSpPr>
          <p:spPr>
            <a:xfrm flipH="1" flipV="1">
              <a:off x="1052513" y="5959475"/>
              <a:ext cx="0" cy="360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80" name="Text Box 34"/>
            <p:cNvSpPr txBox="1"/>
            <p:nvPr/>
          </p:nvSpPr>
          <p:spPr>
            <a:xfrm>
              <a:off x="2601913" y="5465763"/>
              <a:ext cx="684212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eq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Line 35"/>
            <p:cNvSpPr/>
            <p:nvPr/>
          </p:nvSpPr>
          <p:spPr>
            <a:xfrm rot="5400000">
              <a:off x="354013" y="5545138"/>
              <a:ext cx="53975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682" name="Oval 36"/>
            <p:cNvSpPr/>
            <p:nvPr/>
          </p:nvSpPr>
          <p:spPr>
            <a:xfrm>
              <a:off x="549275" y="5539658"/>
              <a:ext cx="423070" cy="62215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grpSp>
          <p:nvGrpSpPr>
            <p:cNvPr id="27683" name="Group 37"/>
            <p:cNvGrpSpPr/>
            <p:nvPr/>
          </p:nvGrpSpPr>
          <p:grpSpPr>
            <a:xfrm>
              <a:off x="798513" y="5424488"/>
              <a:ext cx="504825" cy="541337"/>
              <a:chOff x="1497" y="1184"/>
              <a:chExt cx="318" cy="341"/>
            </a:xfrm>
          </p:grpSpPr>
          <p:grpSp>
            <p:nvGrpSpPr>
              <p:cNvPr id="27684" name="Group 38"/>
              <p:cNvGrpSpPr/>
              <p:nvPr/>
            </p:nvGrpSpPr>
            <p:grpSpPr>
              <a:xfrm>
                <a:off x="1497" y="1185"/>
                <a:ext cx="318" cy="340"/>
                <a:chOff x="453" y="1117"/>
                <a:chExt cx="318" cy="340"/>
              </a:xfrm>
            </p:grpSpPr>
            <p:sp>
              <p:nvSpPr>
                <p:cNvPr id="27685" name="Line 39"/>
                <p:cNvSpPr/>
                <p:nvPr/>
              </p:nvSpPr>
              <p:spPr>
                <a:xfrm>
                  <a:off x="453" y="1261"/>
                  <a:ext cx="3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86" name="Line 40"/>
                <p:cNvSpPr/>
                <p:nvPr/>
              </p:nvSpPr>
              <p:spPr>
                <a:xfrm>
                  <a:off x="521" y="1306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87" name="Line 41"/>
                <p:cNvSpPr/>
                <p:nvPr/>
              </p:nvSpPr>
              <p:spPr>
                <a:xfrm flipV="1">
                  <a:off x="612" y="1117"/>
                  <a:ext cx="0" cy="13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688" name="Line 42"/>
                <p:cNvSpPr/>
                <p:nvPr/>
              </p:nvSpPr>
              <p:spPr>
                <a:xfrm flipV="1">
                  <a:off x="612" y="1298"/>
                  <a:ext cx="0" cy="15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89" name="Line 43"/>
              <p:cNvSpPr/>
              <p:nvPr/>
            </p:nvSpPr>
            <p:spPr>
              <a:xfrm rot="-5400000">
                <a:off x="1517" y="1228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90" name="Line 44"/>
              <p:cNvSpPr/>
              <p:nvPr/>
            </p:nvSpPr>
            <p:spPr>
              <a:xfrm rot="-5400000">
                <a:off x="1565" y="1185"/>
                <a:ext cx="0" cy="9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91" name="Line 45"/>
              <p:cNvSpPr/>
              <p:nvPr/>
            </p:nvSpPr>
            <p:spPr>
              <a:xfrm rot="10800000">
                <a:off x="1519" y="1479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692" name="Line 46"/>
            <p:cNvSpPr/>
            <p:nvPr/>
          </p:nvSpPr>
          <p:spPr>
            <a:xfrm flipH="1">
              <a:off x="1054100" y="5113338"/>
              <a:ext cx="14398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3" name="Line 47"/>
            <p:cNvSpPr/>
            <p:nvPr/>
          </p:nvSpPr>
          <p:spPr>
            <a:xfrm flipH="1" flipV="1">
              <a:off x="1052513" y="5095875"/>
              <a:ext cx="0" cy="360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4" name="Text Box 48"/>
            <p:cNvSpPr txBox="1"/>
            <p:nvPr/>
          </p:nvSpPr>
          <p:spPr>
            <a:xfrm>
              <a:off x="1665288" y="4735513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95" name="Line 49"/>
            <p:cNvSpPr/>
            <p:nvPr/>
          </p:nvSpPr>
          <p:spPr>
            <a:xfrm rot="10800000">
              <a:off x="1773238" y="5113338"/>
              <a:ext cx="46831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696" name="Line 50"/>
            <p:cNvSpPr/>
            <p:nvPr/>
          </p:nvSpPr>
          <p:spPr>
            <a:xfrm flipH="1">
              <a:off x="1054100" y="6299200"/>
              <a:ext cx="14398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7" name="Text Box 51"/>
            <p:cNvSpPr txBox="1"/>
            <p:nvPr/>
          </p:nvSpPr>
          <p:spPr>
            <a:xfrm>
              <a:off x="1377950" y="619760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a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98" name="Oval 52"/>
            <p:cNvSpPr/>
            <p:nvPr/>
          </p:nvSpPr>
          <p:spPr>
            <a:xfrm>
              <a:off x="1631950" y="5985744"/>
              <a:ext cx="423070" cy="622150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699" name="Text Box 53"/>
            <p:cNvSpPr txBox="1"/>
            <p:nvPr/>
          </p:nvSpPr>
          <p:spPr>
            <a:xfrm>
              <a:off x="1414463" y="4691063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00" name="Oval 54"/>
            <p:cNvSpPr/>
            <p:nvPr/>
          </p:nvSpPr>
          <p:spPr>
            <a:xfrm>
              <a:off x="1630363" y="4801469"/>
              <a:ext cx="423070" cy="622150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01" name="Freeform 55"/>
            <p:cNvSpPr/>
            <p:nvPr/>
          </p:nvSpPr>
          <p:spPr>
            <a:xfrm rot="5400000">
              <a:off x="2026443" y="5491955"/>
              <a:ext cx="935037" cy="3810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2" name="Line 56"/>
            <p:cNvSpPr/>
            <p:nvPr/>
          </p:nvSpPr>
          <p:spPr>
            <a:xfrm flipH="1" flipV="1">
              <a:off x="2493963" y="6130925"/>
              <a:ext cx="0" cy="1889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03" name="Line 57"/>
            <p:cNvSpPr/>
            <p:nvPr/>
          </p:nvSpPr>
          <p:spPr>
            <a:xfrm flipH="1" flipV="1">
              <a:off x="2493963" y="5097463"/>
              <a:ext cx="0" cy="2143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04" name="Line 58"/>
            <p:cNvSpPr/>
            <p:nvPr/>
          </p:nvSpPr>
          <p:spPr>
            <a:xfrm>
              <a:off x="1592263" y="1471613"/>
              <a:ext cx="38100" cy="270033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05" name="Text Box 59"/>
            <p:cNvSpPr txBox="1"/>
            <p:nvPr/>
          </p:nvSpPr>
          <p:spPr>
            <a:xfrm>
              <a:off x="1341438" y="2622550"/>
              <a:ext cx="539750" cy="4402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06" name="Line 60"/>
            <p:cNvSpPr/>
            <p:nvPr/>
          </p:nvSpPr>
          <p:spPr>
            <a:xfrm>
              <a:off x="2997200" y="2371725"/>
              <a:ext cx="0" cy="900113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07" name="Line 61"/>
            <p:cNvSpPr/>
            <p:nvPr/>
          </p:nvSpPr>
          <p:spPr>
            <a:xfrm>
              <a:off x="2997200" y="1506538"/>
              <a:ext cx="0" cy="90011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08" name="Line 62"/>
            <p:cNvSpPr/>
            <p:nvPr/>
          </p:nvSpPr>
          <p:spPr>
            <a:xfrm>
              <a:off x="2997200" y="3270250"/>
              <a:ext cx="0" cy="900113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09" name="Text Box 63"/>
            <p:cNvSpPr txBox="1"/>
            <p:nvPr/>
          </p:nvSpPr>
          <p:spPr>
            <a:xfrm>
              <a:off x="2962275" y="1758950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7710" name="Text Box 64"/>
            <p:cNvSpPr txBox="1"/>
            <p:nvPr/>
          </p:nvSpPr>
          <p:spPr>
            <a:xfrm>
              <a:off x="2962275" y="2587625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7711" name="Text Box 65"/>
            <p:cNvSpPr txBox="1"/>
            <p:nvPr/>
          </p:nvSpPr>
          <p:spPr>
            <a:xfrm>
              <a:off x="2997200" y="3521075"/>
              <a:ext cx="539750" cy="440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7712" name="Line 66"/>
            <p:cNvSpPr/>
            <p:nvPr/>
          </p:nvSpPr>
          <p:spPr>
            <a:xfrm>
              <a:off x="1665288" y="5143500"/>
              <a:ext cx="1587" cy="1152525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13" name="Text Box 67"/>
            <p:cNvSpPr txBox="1"/>
            <p:nvPr/>
          </p:nvSpPr>
          <p:spPr>
            <a:xfrm>
              <a:off x="1377950" y="5514975"/>
              <a:ext cx="539750" cy="4402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14" name="Rectangle 68"/>
            <p:cNvSpPr/>
            <p:nvPr/>
          </p:nvSpPr>
          <p:spPr>
            <a:xfrm>
              <a:off x="1377949" y="5445637"/>
              <a:ext cx="2195514" cy="440299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15" name="Line 69"/>
            <p:cNvSpPr/>
            <p:nvPr/>
          </p:nvSpPr>
          <p:spPr>
            <a:xfrm flipV="1">
              <a:off x="2817813" y="4567238"/>
              <a:ext cx="0" cy="18097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6" name="Rectangle 70"/>
            <p:cNvSpPr/>
            <p:nvPr/>
          </p:nvSpPr>
          <p:spPr>
            <a:xfrm>
              <a:off x="1341438" y="2569087"/>
              <a:ext cx="2232025" cy="440299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314" name="Object 72"/>
          <p:cNvGraphicFramePr>
            <a:graphicFrameLocks noChangeAspect="1"/>
          </p:cNvGraphicFramePr>
          <p:nvPr/>
        </p:nvGraphicFramePr>
        <p:xfrm>
          <a:off x="941388" y="5948363"/>
          <a:ext cx="2362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Equation" r:id="rId4" imgW="28346400" imgH="5791200" progId="Equation.DSMT4">
                  <p:embed/>
                </p:oleObj>
              </mc:Choice>
              <mc:Fallback>
                <p:oleObj name="Equation" r:id="rId4" imgW="28346400" imgH="5791200" progId="Equation.DSMT4">
                  <p:embed/>
                  <p:pic>
                    <p:nvPicPr>
                      <p:cNvPr id="0" name="Object 7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1388" y="5948363"/>
                        <a:ext cx="2362200" cy="4826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18" name="secTitle"/>
          <p:cNvSpPr txBox="1"/>
          <p:nvPr/>
        </p:nvSpPr>
        <p:spPr>
          <a:xfrm>
            <a:off x="1455738" y="282576"/>
            <a:ext cx="5924550" cy="52197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Resistances in Series and in Parallel</a:t>
            </a:r>
          </a:p>
        </p:txBody>
      </p:sp>
      <p:graphicFrame>
        <p:nvGraphicFramePr>
          <p:cNvPr id="77" name="Object 74"/>
          <p:cNvGraphicFramePr>
            <a:graphicFrameLocks noChangeAspect="1"/>
          </p:cNvGraphicFramePr>
          <p:nvPr/>
        </p:nvGraphicFramePr>
        <p:xfrm>
          <a:off x="5468938" y="5541963"/>
          <a:ext cx="269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Equation" r:id="rId6" imgW="32308800" imgH="10668000" progId="Equation.DSMT4">
                  <p:embed/>
                </p:oleObj>
              </mc:Choice>
              <mc:Fallback>
                <p:oleObj name="Equation" r:id="rId6" imgW="32308800" imgH="10668000" progId="Equation.DSMT4">
                  <p:embed/>
                  <p:pic>
                    <p:nvPicPr>
                      <p:cNvPr id="0" name="Object 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68938" y="5541963"/>
                        <a:ext cx="2692400" cy="8890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77"/>
          <p:cNvGrpSpPr/>
          <p:nvPr/>
        </p:nvGrpSpPr>
        <p:grpSpPr>
          <a:xfrm>
            <a:off x="3922713" y="1025525"/>
            <a:ext cx="4464050" cy="4005362"/>
            <a:chOff x="107950" y="1016000"/>
            <a:chExt cx="4897438" cy="4691063"/>
          </a:xfrm>
        </p:grpSpPr>
        <p:grpSp>
          <p:nvGrpSpPr>
            <p:cNvPr id="27721" name="Group 40"/>
            <p:cNvGrpSpPr/>
            <p:nvPr/>
          </p:nvGrpSpPr>
          <p:grpSpPr>
            <a:xfrm>
              <a:off x="107950" y="4173538"/>
              <a:ext cx="1114425" cy="1223962"/>
              <a:chOff x="22" y="3241"/>
              <a:chExt cx="702" cy="771"/>
            </a:xfrm>
          </p:grpSpPr>
          <p:sp>
            <p:nvSpPr>
              <p:cNvPr id="27722" name="Text Box 41"/>
              <p:cNvSpPr txBox="1"/>
              <p:nvPr/>
            </p:nvSpPr>
            <p:spPr>
              <a:xfrm>
                <a:off x="22" y="3383"/>
                <a:ext cx="296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27723" name="Line 42"/>
              <p:cNvSpPr/>
              <p:nvPr/>
            </p:nvSpPr>
            <p:spPr>
              <a:xfrm flipH="1" flipV="1">
                <a:off x="566" y="3785"/>
                <a:ext cx="0" cy="22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24" name="Line 43"/>
              <p:cNvSpPr/>
              <p:nvPr/>
            </p:nvSpPr>
            <p:spPr>
              <a:xfrm rot="5400000">
                <a:off x="126" y="3524"/>
                <a:ext cx="34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27725" name="Oval 44"/>
              <p:cNvSpPr/>
              <p:nvPr/>
            </p:nvSpPr>
            <p:spPr>
              <a:xfrm>
                <a:off x="249" y="3525"/>
                <a:ext cx="267" cy="384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7726" name="Group 45"/>
              <p:cNvGrpSpPr/>
              <p:nvPr/>
            </p:nvGrpSpPr>
            <p:grpSpPr>
              <a:xfrm>
                <a:off x="406" y="3448"/>
                <a:ext cx="318" cy="341"/>
                <a:chOff x="1497" y="1184"/>
                <a:chExt cx="318" cy="341"/>
              </a:xfrm>
            </p:grpSpPr>
            <p:grpSp>
              <p:nvGrpSpPr>
                <p:cNvPr id="27727" name="Group 46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27728" name="Line 47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29" name="Line 48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30" name="Line 49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31" name="Line 50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32" name="Line 51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33" name="Line 52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34" name="Line 53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35" name="Line 54"/>
              <p:cNvSpPr/>
              <p:nvPr/>
            </p:nvSpPr>
            <p:spPr>
              <a:xfrm flipH="1" flipV="1">
                <a:off x="566" y="3241"/>
                <a:ext cx="0" cy="22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736" name="Group 120"/>
            <p:cNvGrpSpPr/>
            <p:nvPr/>
          </p:nvGrpSpPr>
          <p:grpSpPr>
            <a:xfrm>
              <a:off x="973138" y="3768725"/>
              <a:ext cx="2232025" cy="1938338"/>
              <a:chOff x="613" y="2374"/>
              <a:chExt cx="1406" cy="1221"/>
            </a:xfrm>
          </p:grpSpPr>
          <p:sp>
            <p:nvSpPr>
              <p:cNvPr id="27737" name="Line 62"/>
              <p:cNvSpPr/>
              <p:nvPr/>
            </p:nvSpPr>
            <p:spPr>
              <a:xfrm flipH="1">
                <a:off x="613" y="2640"/>
                <a:ext cx="90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38" name="Line 65"/>
              <p:cNvSpPr/>
              <p:nvPr/>
            </p:nvSpPr>
            <p:spPr>
              <a:xfrm flipH="1">
                <a:off x="613" y="3387"/>
                <a:ext cx="90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39" name="Text Box 56"/>
              <p:cNvSpPr txBox="1"/>
              <p:nvPr/>
            </p:nvSpPr>
            <p:spPr>
              <a:xfrm>
                <a:off x="771" y="3323"/>
                <a:ext cx="34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9900"/>
                    </a:solidFill>
                    <a:latin typeface="Calibri" panose="020F0502020204030204" charset="0"/>
                    <a:ea typeface="宋体" panose="02010600030101010101" pitchFamily="2" charset="-122"/>
                  </a:rPr>
                  <a:t>a</a:t>
                </a:r>
                <a:endPara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0" name="Text Box 57"/>
              <p:cNvSpPr txBox="1"/>
              <p:nvPr/>
            </p:nvSpPr>
            <p:spPr>
              <a:xfrm>
                <a:off x="793" y="2374"/>
                <a:ext cx="34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9900"/>
                    </a:solidFill>
                    <a:latin typeface="Calibri" panose="020F0502020204030204" charset="0"/>
                    <a:ea typeface="宋体" panose="02010600030101010101" pitchFamily="2" charset="-122"/>
                  </a:rPr>
                  <a:t>b</a:t>
                </a:r>
                <a:endPara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1" name="Oval 58"/>
              <p:cNvSpPr/>
              <p:nvPr/>
            </p:nvSpPr>
            <p:spPr>
              <a:xfrm>
                <a:off x="930" y="3194"/>
                <a:ext cx="267" cy="384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2" name="Oval 59"/>
              <p:cNvSpPr/>
              <p:nvPr/>
            </p:nvSpPr>
            <p:spPr>
              <a:xfrm>
                <a:off x="929" y="2448"/>
                <a:ext cx="267" cy="384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3" name="Line 60"/>
              <p:cNvSpPr/>
              <p:nvPr/>
            </p:nvSpPr>
            <p:spPr>
              <a:xfrm>
                <a:off x="951" y="2659"/>
                <a:ext cx="1" cy="726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  <p:sp>
            <p:nvSpPr>
              <p:cNvPr id="27744" name="Text Box 61"/>
              <p:cNvSpPr txBox="1"/>
              <p:nvPr/>
            </p:nvSpPr>
            <p:spPr>
              <a:xfrm>
                <a:off x="1588" y="2862"/>
                <a:ext cx="431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Calibri" panose="020F0502020204030204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baseline="-25000" dirty="0">
                    <a:latin typeface="Calibri" panose="020F0502020204030204" charset="0"/>
                    <a:ea typeface="宋体" panose="02010600030101010101" pitchFamily="2" charset="-122"/>
                  </a:rPr>
                  <a:t>eq</a:t>
                </a:r>
                <a:endParaRPr lang="en-US" altLang="zh-CN" baseline="-25000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5" name="Text Box 63"/>
              <p:cNvSpPr txBox="1"/>
              <p:nvPr/>
            </p:nvSpPr>
            <p:spPr>
              <a:xfrm>
                <a:off x="1112" y="2402"/>
                <a:ext cx="34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Calibri" panose="020F0502020204030204" charset="0"/>
                    <a:ea typeface="宋体" panose="02010600030101010101" pitchFamily="2" charset="-122"/>
                  </a:rPr>
                  <a:t>i</a:t>
                </a:r>
                <a:endParaRPr lang="en-US" altLang="zh-CN" baseline="-25000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46" name="Line 64"/>
              <p:cNvSpPr/>
              <p:nvPr/>
            </p:nvSpPr>
            <p:spPr>
              <a:xfrm rot="10800000">
                <a:off x="1180" y="2640"/>
                <a:ext cx="295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27747" name="Freeform 66"/>
              <p:cNvSpPr/>
              <p:nvPr/>
            </p:nvSpPr>
            <p:spPr>
              <a:xfrm rot="5400000">
                <a:off x="1224" y="2877"/>
                <a:ext cx="589" cy="24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2" y="7"/>
                  </a:cxn>
                  <a:cxn ang="0">
                    <a:pos x="170" y="0"/>
                  </a:cxn>
                  <a:cxn ang="0">
                    <a:pos x="220" y="13"/>
                  </a:cxn>
                  <a:cxn ang="0">
                    <a:pos x="270" y="0"/>
                  </a:cxn>
                  <a:cxn ang="0">
                    <a:pos x="319" y="13"/>
                  </a:cxn>
                  <a:cxn ang="0">
                    <a:pos x="369" y="0"/>
                  </a:cxn>
                  <a:cxn ang="0">
                    <a:pos x="418" y="13"/>
                  </a:cxn>
                  <a:cxn ang="0">
                    <a:pos x="447" y="7"/>
                  </a:cxn>
                  <a:cxn ang="0">
                    <a:pos x="589" y="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8" name="Line 67"/>
              <p:cNvSpPr/>
              <p:nvPr/>
            </p:nvSpPr>
            <p:spPr>
              <a:xfrm flipH="1" flipV="1">
                <a:off x="1520" y="3281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49" name="Line 68"/>
              <p:cNvSpPr/>
              <p:nvPr/>
            </p:nvSpPr>
            <p:spPr>
              <a:xfrm flipH="1" flipV="1">
                <a:off x="1520" y="2630"/>
                <a:ext cx="0" cy="13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50" name="Text Box 69"/>
              <p:cNvSpPr txBox="1"/>
              <p:nvPr/>
            </p:nvSpPr>
            <p:spPr>
              <a:xfrm>
                <a:off x="771" y="2893"/>
                <a:ext cx="340" cy="27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9900"/>
                    </a:solidFill>
                    <a:latin typeface="Calibri" panose="020F0502020204030204" charset="0"/>
                    <a:ea typeface="宋体" panose="02010600030101010101" pitchFamily="2" charset="-122"/>
                  </a:rPr>
                  <a:t>V</a:t>
                </a:r>
                <a:endParaRPr lang="en-US" altLang="zh-CN" baseline="-25000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7751" name="Rectangle 70"/>
            <p:cNvSpPr/>
            <p:nvPr/>
          </p:nvSpPr>
          <p:spPr>
            <a:xfrm>
              <a:off x="1727200" y="4600005"/>
              <a:ext cx="1765300" cy="431351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52" name="Line 71"/>
            <p:cNvSpPr/>
            <p:nvPr/>
          </p:nvSpPr>
          <p:spPr>
            <a:xfrm flipV="1">
              <a:off x="2771775" y="3644900"/>
              <a:ext cx="0" cy="18097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53" name="Rectangle 72"/>
            <p:cNvSpPr/>
            <p:nvPr/>
          </p:nvSpPr>
          <p:spPr>
            <a:xfrm>
              <a:off x="1727200" y="2096518"/>
              <a:ext cx="3276599" cy="431351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54" name="Text Box 77"/>
            <p:cNvSpPr txBox="1"/>
            <p:nvPr/>
          </p:nvSpPr>
          <p:spPr>
            <a:xfrm>
              <a:off x="179388" y="1916113"/>
              <a:ext cx="46990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Euclid Math One" panose="05050601010101010101" pitchFamily="18" charset="2"/>
                  <a:ea typeface="宋体" panose="02010600030101010101" pitchFamily="2" charset="-122"/>
                </a:rPr>
                <a:t>E</a:t>
              </a:r>
              <a:endParaRPr lang="en-US" altLang="zh-CN" baseline="-25000" dirty="0">
                <a:solidFill>
                  <a:srgbClr val="FF3300"/>
                </a:solidFill>
                <a:latin typeface="Euclid Math One" panose="05050601010101010101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755" name="Line 78"/>
            <p:cNvSpPr/>
            <p:nvPr/>
          </p:nvSpPr>
          <p:spPr>
            <a:xfrm flipH="1" flipV="1">
              <a:off x="1008063" y="2384425"/>
              <a:ext cx="0" cy="7191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56" name="Text Box 79"/>
            <p:cNvSpPr txBox="1"/>
            <p:nvPr/>
          </p:nvSpPr>
          <p:spPr>
            <a:xfrm>
              <a:off x="2808289" y="2024063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57" name="Line 80"/>
            <p:cNvSpPr/>
            <p:nvPr/>
          </p:nvSpPr>
          <p:spPr>
            <a:xfrm rot="5400000">
              <a:off x="309563" y="2185988"/>
              <a:ext cx="53975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758" name="Oval 81"/>
            <p:cNvSpPr/>
            <p:nvPr/>
          </p:nvSpPr>
          <p:spPr>
            <a:xfrm>
              <a:off x="504825" y="2223342"/>
              <a:ext cx="423433" cy="609506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grpSp>
          <p:nvGrpSpPr>
            <p:cNvPr id="27759" name="Group 82"/>
            <p:cNvGrpSpPr/>
            <p:nvPr/>
          </p:nvGrpSpPr>
          <p:grpSpPr>
            <a:xfrm>
              <a:off x="758825" y="2024063"/>
              <a:ext cx="504825" cy="541337"/>
              <a:chOff x="1497" y="1184"/>
              <a:chExt cx="318" cy="341"/>
            </a:xfrm>
          </p:grpSpPr>
          <p:grpSp>
            <p:nvGrpSpPr>
              <p:cNvPr id="27760" name="Group 83"/>
              <p:cNvGrpSpPr/>
              <p:nvPr/>
            </p:nvGrpSpPr>
            <p:grpSpPr>
              <a:xfrm>
                <a:off x="1497" y="1185"/>
                <a:ext cx="318" cy="340"/>
                <a:chOff x="453" y="1117"/>
                <a:chExt cx="318" cy="340"/>
              </a:xfrm>
            </p:grpSpPr>
            <p:sp>
              <p:nvSpPr>
                <p:cNvPr id="27761" name="Line 84"/>
                <p:cNvSpPr/>
                <p:nvPr/>
              </p:nvSpPr>
              <p:spPr>
                <a:xfrm>
                  <a:off x="453" y="1261"/>
                  <a:ext cx="3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62" name="Line 85"/>
                <p:cNvSpPr/>
                <p:nvPr/>
              </p:nvSpPr>
              <p:spPr>
                <a:xfrm>
                  <a:off x="521" y="1306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63" name="Line 86"/>
                <p:cNvSpPr/>
                <p:nvPr/>
              </p:nvSpPr>
              <p:spPr>
                <a:xfrm flipV="1">
                  <a:off x="612" y="1117"/>
                  <a:ext cx="0" cy="13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7764" name="Line 87"/>
                <p:cNvSpPr/>
                <p:nvPr/>
              </p:nvSpPr>
              <p:spPr>
                <a:xfrm flipV="1">
                  <a:off x="612" y="1298"/>
                  <a:ext cx="0" cy="15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65" name="Line 88"/>
              <p:cNvSpPr/>
              <p:nvPr/>
            </p:nvSpPr>
            <p:spPr>
              <a:xfrm rot="-5400000">
                <a:off x="1517" y="1228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66" name="Line 89"/>
              <p:cNvSpPr/>
              <p:nvPr/>
            </p:nvSpPr>
            <p:spPr>
              <a:xfrm rot="-5400000">
                <a:off x="1565" y="1185"/>
                <a:ext cx="0" cy="9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67" name="Line 90"/>
              <p:cNvSpPr/>
              <p:nvPr/>
            </p:nvSpPr>
            <p:spPr>
              <a:xfrm rot="10800000">
                <a:off x="1519" y="1479"/>
                <a:ext cx="91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7768" name="Line 91"/>
            <p:cNvSpPr/>
            <p:nvPr/>
          </p:nvSpPr>
          <p:spPr>
            <a:xfrm flipH="1">
              <a:off x="1009650" y="1447800"/>
              <a:ext cx="3527425" cy="79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69" name="Line 92"/>
            <p:cNvSpPr/>
            <p:nvPr/>
          </p:nvSpPr>
          <p:spPr>
            <a:xfrm flipH="1" flipV="1">
              <a:off x="1008063" y="1436688"/>
              <a:ext cx="0" cy="7191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70" name="Text Box 93"/>
            <p:cNvSpPr txBox="1"/>
            <p:nvPr/>
          </p:nvSpPr>
          <p:spPr>
            <a:xfrm>
              <a:off x="1728789" y="1016000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1" name="Line 94"/>
            <p:cNvSpPr/>
            <p:nvPr/>
          </p:nvSpPr>
          <p:spPr>
            <a:xfrm rot="10800000">
              <a:off x="1792288" y="1454150"/>
              <a:ext cx="46831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27772" name="Line 95"/>
            <p:cNvSpPr/>
            <p:nvPr/>
          </p:nvSpPr>
          <p:spPr>
            <a:xfrm flipH="1">
              <a:off x="1008063" y="3105150"/>
              <a:ext cx="352901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73" name="Text Box 96"/>
            <p:cNvSpPr txBox="1"/>
            <p:nvPr/>
          </p:nvSpPr>
          <p:spPr>
            <a:xfrm>
              <a:off x="1258888" y="3079750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a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4" name="Oval 97"/>
            <p:cNvSpPr/>
            <p:nvPr/>
          </p:nvSpPr>
          <p:spPr>
            <a:xfrm>
              <a:off x="1514475" y="2799603"/>
              <a:ext cx="423433" cy="609506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5" name="Text Box 98"/>
            <p:cNvSpPr txBox="1"/>
            <p:nvPr/>
          </p:nvSpPr>
          <p:spPr>
            <a:xfrm>
              <a:off x="1223963" y="1027113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6" name="Oval 99"/>
            <p:cNvSpPr/>
            <p:nvPr/>
          </p:nvSpPr>
          <p:spPr>
            <a:xfrm>
              <a:off x="1476375" y="1150192"/>
              <a:ext cx="423433" cy="609506"/>
            </a:xfrm>
            <a:prstGeom prst="ellipse">
              <a:avLst/>
            </a:prstGeom>
            <a:solidFill>
              <a:srgbClr val="009900"/>
            </a:solidFill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zh-CN" dirty="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7" name="Text Box 101"/>
            <p:cNvSpPr txBox="1"/>
            <p:nvPr/>
          </p:nvSpPr>
          <p:spPr>
            <a:xfrm>
              <a:off x="1801813" y="1998663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78" name="Freeform 102"/>
            <p:cNvSpPr/>
            <p:nvPr/>
          </p:nvSpPr>
          <p:spPr>
            <a:xfrm rot="5400000">
              <a:off x="1980406" y="2096293"/>
              <a:ext cx="935037" cy="35877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9" name="Text Box 103"/>
            <p:cNvSpPr txBox="1"/>
            <p:nvPr/>
          </p:nvSpPr>
          <p:spPr>
            <a:xfrm>
              <a:off x="3852863" y="2024063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80" name="Line 104"/>
            <p:cNvSpPr/>
            <p:nvPr/>
          </p:nvSpPr>
          <p:spPr>
            <a:xfrm>
              <a:off x="1509713" y="1484313"/>
              <a:ext cx="38100" cy="162083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7781" name="Text Box 105"/>
            <p:cNvSpPr txBox="1"/>
            <p:nvPr/>
          </p:nvSpPr>
          <p:spPr>
            <a:xfrm>
              <a:off x="1258888" y="1987550"/>
              <a:ext cx="539750" cy="431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9900"/>
                  </a:solidFill>
                  <a:latin typeface="Calibri" panose="020F0502020204030204" charset="0"/>
                  <a:ea typeface="宋体" panose="02010600030101010101" pitchFamily="2" charset="-122"/>
                </a:rPr>
                <a:t>V</a:t>
              </a:r>
              <a:endParaRPr lang="en-US" altLang="zh-CN" baseline="-25000" dirty="0">
                <a:solidFill>
                  <a:srgbClr val="0099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82" name="Line 106"/>
            <p:cNvSpPr/>
            <p:nvPr/>
          </p:nvSpPr>
          <p:spPr>
            <a:xfrm flipH="1" flipV="1">
              <a:off x="2447925" y="1447800"/>
              <a:ext cx="0" cy="360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83" name="Line 107"/>
            <p:cNvSpPr/>
            <p:nvPr/>
          </p:nvSpPr>
          <p:spPr>
            <a:xfrm flipH="1" flipV="1">
              <a:off x="2447925" y="2744788"/>
              <a:ext cx="0" cy="3603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84" name="Freeform 108"/>
            <p:cNvSpPr/>
            <p:nvPr/>
          </p:nvSpPr>
          <p:spPr>
            <a:xfrm rot="5400000">
              <a:off x="2990056" y="2096293"/>
              <a:ext cx="935037" cy="35877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5" name="Line 109"/>
            <p:cNvSpPr/>
            <p:nvPr/>
          </p:nvSpPr>
          <p:spPr>
            <a:xfrm flipH="1" flipV="1">
              <a:off x="3457575" y="1447800"/>
              <a:ext cx="0" cy="360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86" name="Line 110"/>
            <p:cNvSpPr/>
            <p:nvPr/>
          </p:nvSpPr>
          <p:spPr>
            <a:xfrm flipH="1" flipV="1">
              <a:off x="3457575" y="2744788"/>
              <a:ext cx="0" cy="3603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87" name="Freeform 111"/>
            <p:cNvSpPr/>
            <p:nvPr/>
          </p:nvSpPr>
          <p:spPr>
            <a:xfrm rot="5400000">
              <a:off x="4069556" y="2096293"/>
              <a:ext cx="935037" cy="35877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589" h="292">
                  <a:moveTo>
                    <a:pt x="0" y="148"/>
                  </a:moveTo>
                  <a:lnTo>
                    <a:pt x="142" y="148"/>
                  </a:lnTo>
                  <a:lnTo>
                    <a:pt x="170" y="0"/>
                  </a:lnTo>
                  <a:lnTo>
                    <a:pt x="220" y="292"/>
                  </a:lnTo>
                  <a:lnTo>
                    <a:pt x="270" y="0"/>
                  </a:lnTo>
                  <a:lnTo>
                    <a:pt x="319" y="292"/>
                  </a:lnTo>
                  <a:lnTo>
                    <a:pt x="369" y="0"/>
                  </a:lnTo>
                  <a:lnTo>
                    <a:pt x="418" y="292"/>
                  </a:lnTo>
                  <a:lnTo>
                    <a:pt x="447" y="148"/>
                  </a:lnTo>
                  <a:lnTo>
                    <a:pt x="589" y="148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88" name="Line 112"/>
            <p:cNvSpPr/>
            <p:nvPr/>
          </p:nvSpPr>
          <p:spPr>
            <a:xfrm flipH="1" flipV="1">
              <a:off x="4537075" y="1447800"/>
              <a:ext cx="0" cy="360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89" name="Line 113"/>
            <p:cNvSpPr/>
            <p:nvPr/>
          </p:nvSpPr>
          <p:spPr>
            <a:xfrm flipH="1" flipV="1">
              <a:off x="4537075" y="2744788"/>
              <a:ext cx="0" cy="36036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90" name="Line 114"/>
            <p:cNvSpPr/>
            <p:nvPr/>
          </p:nvSpPr>
          <p:spPr>
            <a:xfrm>
              <a:off x="2449513" y="1520825"/>
              <a:ext cx="0" cy="42545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7791" name="Line 115"/>
            <p:cNvSpPr/>
            <p:nvPr/>
          </p:nvSpPr>
          <p:spPr>
            <a:xfrm>
              <a:off x="3455988" y="1520825"/>
              <a:ext cx="0" cy="42545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7792" name="Line 116"/>
            <p:cNvSpPr/>
            <p:nvPr/>
          </p:nvSpPr>
          <p:spPr>
            <a:xfrm>
              <a:off x="4535488" y="1484313"/>
              <a:ext cx="0" cy="42545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7793" name="Text Box 117"/>
            <p:cNvSpPr txBox="1"/>
            <p:nvPr/>
          </p:nvSpPr>
          <p:spPr>
            <a:xfrm>
              <a:off x="2376488" y="1422400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94" name="Text Box 118"/>
            <p:cNvSpPr txBox="1"/>
            <p:nvPr/>
          </p:nvSpPr>
          <p:spPr>
            <a:xfrm>
              <a:off x="3384549" y="1447800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27795" name="Text Box 119"/>
            <p:cNvSpPr txBox="1"/>
            <p:nvPr/>
          </p:nvSpPr>
          <p:spPr>
            <a:xfrm>
              <a:off x="4465638" y="1458913"/>
              <a:ext cx="539750" cy="4313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Calibri" panose="020F0502020204030204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latin typeface="Calibri" panose="020F0502020204030204" charset="0"/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solidFill>
                  <a:srgbClr val="FF33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64" name="Text Box 84"/>
          <p:cNvSpPr txBox="1"/>
          <p:nvPr/>
        </p:nvSpPr>
        <p:spPr>
          <a:xfrm>
            <a:off x="439739" y="4824414"/>
            <a:ext cx="302577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rule at junction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b="1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4966" name="Object 86"/>
          <p:cNvGraphicFramePr>
            <a:graphicFrameLocks noChangeAspect="1"/>
          </p:cNvGraphicFramePr>
          <p:nvPr/>
        </p:nvGraphicFramePr>
        <p:xfrm>
          <a:off x="3333750" y="4810125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4" imgW="19812000" imgH="5486400" progId="Equation.DSMT4">
                  <p:embed/>
                </p:oleObj>
              </mc:Choice>
              <mc:Fallback>
                <p:oleObj name="Equation" r:id="rId4" imgW="19812000" imgH="5486400" progId="Equation.DSMT4">
                  <p:embed/>
                  <p:pic>
                    <p:nvPicPr>
                      <p:cNvPr id="0" name="Object 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33750" y="4810125"/>
                        <a:ext cx="1651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7" name="组合 2"/>
          <p:cNvGrpSpPr/>
          <p:nvPr/>
        </p:nvGrpSpPr>
        <p:grpSpPr>
          <a:xfrm>
            <a:off x="439738" y="1501776"/>
            <a:ext cx="4970462" cy="3281680"/>
            <a:chOff x="1906588" y="1106488"/>
            <a:chExt cx="4970462" cy="3281679"/>
          </a:xfrm>
        </p:grpSpPr>
        <p:sp>
          <p:nvSpPr>
            <p:cNvPr id="31748" name="Text Box 64"/>
            <p:cNvSpPr txBox="1"/>
            <p:nvPr/>
          </p:nvSpPr>
          <p:spPr>
            <a:xfrm>
              <a:off x="3415785" y="3989387"/>
              <a:ext cx="53975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1749" name="组合 1"/>
            <p:cNvGrpSpPr/>
            <p:nvPr/>
          </p:nvGrpSpPr>
          <p:grpSpPr>
            <a:xfrm>
              <a:off x="1906588" y="1106488"/>
              <a:ext cx="4970462" cy="3135630"/>
              <a:chOff x="1906588" y="1106488"/>
              <a:chExt cx="4970462" cy="3135630"/>
            </a:xfrm>
          </p:grpSpPr>
          <p:sp>
            <p:nvSpPr>
              <p:cNvPr id="31750" name="Text Box 3"/>
              <p:cNvSpPr txBox="1"/>
              <p:nvPr/>
            </p:nvSpPr>
            <p:spPr>
              <a:xfrm>
                <a:off x="2881313" y="1250950"/>
                <a:ext cx="539750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51" name="Text Box 4"/>
              <p:cNvSpPr txBox="1"/>
              <p:nvPr/>
            </p:nvSpPr>
            <p:spPr>
              <a:xfrm>
                <a:off x="1906588" y="2547938"/>
                <a:ext cx="46990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r>
                  <a:rPr lang="en-US" altLang="zh-CN" baseline="-25000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1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1752" name="Line 5"/>
              <p:cNvSpPr/>
              <p:nvPr/>
            </p:nvSpPr>
            <p:spPr>
              <a:xfrm flipV="1">
                <a:off x="2787650" y="3086100"/>
                <a:ext cx="1588" cy="757238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53" name="Line 6"/>
              <p:cNvSpPr/>
              <p:nvPr/>
            </p:nvSpPr>
            <p:spPr>
              <a:xfrm rot="5400000">
                <a:off x="2144713" y="2743200"/>
                <a:ext cx="53975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754" name="Oval 7"/>
              <p:cNvSpPr/>
              <p:nvPr/>
            </p:nvSpPr>
            <p:spPr>
              <a:xfrm>
                <a:off x="2339975" y="2825100"/>
                <a:ext cx="385962" cy="520414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1755" name="Group 8"/>
              <p:cNvGrpSpPr/>
              <p:nvPr/>
            </p:nvGrpSpPr>
            <p:grpSpPr>
              <a:xfrm>
                <a:off x="2536825" y="2581275"/>
                <a:ext cx="504825" cy="541338"/>
                <a:chOff x="1497" y="1184"/>
                <a:chExt cx="318" cy="341"/>
              </a:xfrm>
            </p:grpSpPr>
            <p:grpSp>
              <p:nvGrpSpPr>
                <p:cNvPr id="31756" name="Group 9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31757" name="Line 10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rgbClr val="E81AE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58" name="Line 11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rgbClr val="E81AE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59" name="Line 12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rgbClr val="E81AE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60" name="Line 13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rgbClr val="E81AE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761" name="Line 14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E81AE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762" name="Line 15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rgbClr val="E81AE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763" name="Line 16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E81AE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764" name="Line 17"/>
              <p:cNvSpPr/>
              <p:nvPr/>
            </p:nvSpPr>
            <p:spPr>
              <a:xfrm flipH="1" flipV="1">
                <a:off x="2787650" y="1682750"/>
                <a:ext cx="1588" cy="900113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5" name="Line 18"/>
              <p:cNvSpPr/>
              <p:nvPr/>
            </p:nvSpPr>
            <p:spPr>
              <a:xfrm flipH="1">
                <a:off x="4429125" y="3843338"/>
                <a:ext cx="1655763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6" name="Text Box 19"/>
              <p:cNvSpPr txBox="1"/>
              <p:nvPr/>
            </p:nvSpPr>
            <p:spPr>
              <a:xfrm>
                <a:off x="3348038" y="1106488"/>
                <a:ext cx="539750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7" name="Freeform 20"/>
              <p:cNvSpPr/>
              <p:nvPr/>
            </p:nvSpPr>
            <p:spPr>
              <a:xfrm>
                <a:off x="3133725" y="1501775"/>
                <a:ext cx="935038" cy="358775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Line 21"/>
              <p:cNvSpPr/>
              <p:nvPr/>
            </p:nvSpPr>
            <p:spPr>
              <a:xfrm flipH="1">
                <a:off x="2771775" y="1682750"/>
                <a:ext cx="360363" cy="0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9" name="Freeform 22"/>
              <p:cNvSpPr/>
              <p:nvPr/>
            </p:nvSpPr>
            <p:spPr>
              <a:xfrm>
                <a:off x="3133725" y="3660775"/>
                <a:ext cx="935038" cy="358775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0" name="Line 23"/>
              <p:cNvSpPr/>
              <p:nvPr/>
            </p:nvSpPr>
            <p:spPr>
              <a:xfrm flipH="1">
                <a:off x="4068763" y="3843338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1" name="Freeform 24"/>
              <p:cNvSpPr/>
              <p:nvPr/>
            </p:nvSpPr>
            <p:spPr>
              <a:xfrm rot="5400000">
                <a:off x="3961605" y="2332830"/>
                <a:ext cx="935038" cy="358775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2" name="Line 25"/>
              <p:cNvSpPr/>
              <p:nvPr/>
            </p:nvSpPr>
            <p:spPr>
              <a:xfrm rot="5400000" flipH="1">
                <a:off x="4248942" y="1862930"/>
                <a:ext cx="36036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3" name="Line 26"/>
              <p:cNvSpPr/>
              <p:nvPr/>
            </p:nvSpPr>
            <p:spPr>
              <a:xfrm rot="5400000" flipH="1">
                <a:off x="4248942" y="3663155"/>
                <a:ext cx="36036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4" name="Line 27"/>
              <p:cNvSpPr/>
              <p:nvPr/>
            </p:nvSpPr>
            <p:spPr>
              <a:xfrm flipH="1">
                <a:off x="4068763" y="1684338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5" name="Freeform 28"/>
              <p:cNvSpPr/>
              <p:nvPr/>
            </p:nvSpPr>
            <p:spPr>
              <a:xfrm>
                <a:off x="4789488" y="1501775"/>
                <a:ext cx="935037" cy="358775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6" name="Line 29"/>
              <p:cNvSpPr/>
              <p:nvPr/>
            </p:nvSpPr>
            <p:spPr>
              <a:xfrm flipH="1">
                <a:off x="4427538" y="1684338"/>
                <a:ext cx="360362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7" name="Line 30"/>
              <p:cNvSpPr/>
              <p:nvPr/>
            </p:nvSpPr>
            <p:spPr>
              <a:xfrm flipH="1">
                <a:off x="5724525" y="1682750"/>
                <a:ext cx="360363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8" name="Text Box 31"/>
              <p:cNvSpPr txBox="1"/>
              <p:nvPr/>
            </p:nvSpPr>
            <p:spPr>
              <a:xfrm>
                <a:off x="5003800" y="1106488"/>
                <a:ext cx="539750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79" name="Text Box 32"/>
              <p:cNvSpPr txBox="1"/>
              <p:nvPr/>
            </p:nvSpPr>
            <p:spPr>
              <a:xfrm>
                <a:off x="6192838" y="2870200"/>
                <a:ext cx="539750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80" name="Text Box 33"/>
              <p:cNvSpPr txBox="1"/>
              <p:nvPr/>
            </p:nvSpPr>
            <p:spPr>
              <a:xfrm>
                <a:off x="3816350" y="2162175"/>
                <a:ext cx="539750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81" name="Line 34"/>
              <p:cNvSpPr/>
              <p:nvPr/>
            </p:nvSpPr>
            <p:spPr>
              <a:xfrm>
                <a:off x="2916238" y="1682750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782" name="Oval 35"/>
              <p:cNvSpPr/>
              <p:nvPr/>
            </p:nvSpPr>
            <p:spPr>
              <a:xfrm>
                <a:off x="4392613" y="3583925"/>
                <a:ext cx="385962" cy="520414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3" name="Text Box 36"/>
              <p:cNvSpPr txBox="1"/>
              <p:nvPr/>
            </p:nvSpPr>
            <p:spPr>
              <a:xfrm>
                <a:off x="4284663" y="3843338"/>
                <a:ext cx="360362" cy="398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2000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1784" name="Group 37"/>
              <p:cNvGrpSpPr/>
              <p:nvPr/>
            </p:nvGrpSpPr>
            <p:grpSpPr>
              <a:xfrm>
                <a:off x="4284657" y="1287464"/>
                <a:ext cx="493711" cy="657226"/>
                <a:chOff x="2676" y="799"/>
                <a:chExt cx="311" cy="414"/>
              </a:xfrm>
            </p:grpSpPr>
            <p:sp>
              <p:nvSpPr>
                <p:cNvPr id="31785" name="Oval 38"/>
                <p:cNvSpPr/>
                <p:nvPr/>
              </p:nvSpPr>
              <p:spPr>
                <a:xfrm>
                  <a:off x="2744" y="885"/>
                  <a:ext cx="243" cy="328"/>
                </a:xfrm>
                <a:prstGeom prst="ellipse">
                  <a:avLst/>
                </a:prstGeom>
                <a:solidFill>
                  <a:srgbClr val="009900"/>
                </a:solidFill>
                <a:ln w="3810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/>
                <a:p>
                  <a:endParaRPr lang="zh-CN" altLang="zh-CN" dirty="0">
                    <a:latin typeface="Calibri" panose="020F050202020403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86" name="Text Box 39"/>
                <p:cNvSpPr txBox="1"/>
                <p:nvPr/>
              </p:nvSpPr>
              <p:spPr>
                <a:xfrm>
                  <a:off x="2676" y="799"/>
                  <a:ext cx="227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2000" baseline="-2500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787" name="Line 40"/>
              <p:cNvSpPr/>
              <p:nvPr/>
            </p:nvSpPr>
            <p:spPr>
              <a:xfrm rot="-5400000">
                <a:off x="4248944" y="1899444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788" name="Text Box 41"/>
              <p:cNvSpPr txBox="1"/>
              <p:nvPr/>
            </p:nvSpPr>
            <p:spPr>
              <a:xfrm>
                <a:off x="4392613" y="1682750"/>
                <a:ext cx="539750" cy="3990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89" name="Freeform 42"/>
              <p:cNvSpPr/>
              <p:nvPr/>
            </p:nvSpPr>
            <p:spPr>
              <a:xfrm rot="5400000">
                <a:off x="5601493" y="2870993"/>
                <a:ext cx="935037" cy="358775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790" name="Group 43"/>
              <p:cNvGrpSpPr/>
              <p:nvPr/>
            </p:nvGrpSpPr>
            <p:grpSpPr>
              <a:xfrm>
                <a:off x="4175125" y="2978150"/>
                <a:ext cx="504825" cy="541338"/>
                <a:chOff x="1497" y="1184"/>
                <a:chExt cx="318" cy="341"/>
              </a:xfrm>
            </p:grpSpPr>
            <p:grpSp>
              <p:nvGrpSpPr>
                <p:cNvPr id="31791" name="Group 44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31792" name="Line 45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93" name="Line 46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94" name="Line 47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795" name="Line 48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796" name="Line 49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797" name="Line 50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798" name="Line 51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1799" name="Group 52"/>
              <p:cNvGrpSpPr/>
              <p:nvPr/>
            </p:nvGrpSpPr>
            <p:grpSpPr>
              <a:xfrm>
                <a:off x="5816600" y="2041525"/>
                <a:ext cx="504825" cy="541338"/>
                <a:chOff x="1497" y="1184"/>
                <a:chExt cx="318" cy="341"/>
              </a:xfrm>
            </p:grpSpPr>
            <p:grpSp>
              <p:nvGrpSpPr>
                <p:cNvPr id="31800" name="Group 53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31801" name="Line 54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802" name="Line 55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803" name="Line 56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1804" name="Line 57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1805" name="Line 58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806" name="Line 59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1807" name="Line 60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808" name="Line 61"/>
              <p:cNvSpPr/>
              <p:nvPr/>
            </p:nvSpPr>
            <p:spPr>
              <a:xfrm flipH="1" flipV="1">
                <a:off x="6069013" y="3482975"/>
                <a:ext cx="0" cy="360363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809" name="Line 62"/>
              <p:cNvSpPr/>
              <p:nvPr/>
            </p:nvSpPr>
            <p:spPr>
              <a:xfrm flipH="1" flipV="1">
                <a:off x="6069013" y="1682750"/>
                <a:ext cx="0" cy="360363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810" name="Line 63"/>
              <p:cNvSpPr/>
              <p:nvPr/>
            </p:nvSpPr>
            <p:spPr>
              <a:xfrm flipH="1">
                <a:off x="2771775" y="3843338"/>
                <a:ext cx="360363" cy="0"/>
              </a:xfrm>
              <a:prstGeom prst="line">
                <a:avLst/>
              </a:prstGeom>
              <a:ln w="38100" cap="flat" cmpd="sng">
                <a:solidFill>
                  <a:srgbClr val="E81AE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811" name="Text Box 65"/>
              <p:cNvSpPr txBox="1"/>
              <p:nvPr/>
            </p:nvSpPr>
            <p:spPr>
              <a:xfrm>
                <a:off x="4714875" y="2954338"/>
                <a:ext cx="469900" cy="3685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r>
                  <a:rPr lang="en-US" altLang="zh-CN" baseline="-25000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2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1812" name="Line 66"/>
              <p:cNvSpPr/>
              <p:nvPr/>
            </p:nvSpPr>
            <p:spPr>
              <a:xfrm rot="5400000">
                <a:off x="4484688" y="3105150"/>
                <a:ext cx="53975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813" name="Oval 67"/>
              <p:cNvSpPr/>
              <p:nvPr/>
            </p:nvSpPr>
            <p:spPr>
              <a:xfrm>
                <a:off x="4679950" y="3186938"/>
                <a:ext cx="144463" cy="520638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14" name="Line 68"/>
              <p:cNvSpPr/>
              <p:nvPr/>
            </p:nvSpPr>
            <p:spPr>
              <a:xfrm>
                <a:off x="5653088" y="1682750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815" name="Text Box 69"/>
              <p:cNvSpPr txBox="1"/>
              <p:nvPr/>
            </p:nvSpPr>
            <p:spPr>
              <a:xfrm>
                <a:off x="5653088" y="1287463"/>
                <a:ext cx="539750" cy="3990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816" name="Text Box 70"/>
              <p:cNvSpPr txBox="1"/>
              <p:nvPr/>
            </p:nvSpPr>
            <p:spPr>
              <a:xfrm>
                <a:off x="6407150" y="2054225"/>
                <a:ext cx="469900" cy="3685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r>
                  <a:rPr lang="en-US" altLang="zh-CN" baseline="-25000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3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1817" name="Line 71"/>
              <p:cNvSpPr/>
              <p:nvPr/>
            </p:nvSpPr>
            <p:spPr>
              <a:xfrm rot="5400000">
                <a:off x="6176963" y="2205038"/>
                <a:ext cx="53975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818" name="Oval 72"/>
              <p:cNvSpPr/>
              <p:nvPr/>
            </p:nvSpPr>
            <p:spPr>
              <a:xfrm>
                <a:off x="6372225" y="2286826"/>
                <a:ext cx="144463" cy="520638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19" name="Text Box 73"/>
              <p:cNvSpPr txBox="1"/>
              <p:nvPr/>
            </p:nvSpPr>
            <p:spPr>
              <a:xfrm>
                <a:off x="2808288" y="3411538"/>
                <a:ext cx="539750" cy="3990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820" name="Line 74"/>
              <p:cNvSpPr/>
              <p:nvPr/>
            </p:nvSpPr>
            <p:spPr>
              <a:xfrm>
                <a:off x="2844800" y="3843338"/>
                <a:ext cx="360363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31821" name="Line 75"/>
              <p:cNvSpPr/>
              <p:nvPr/>
            </p:nvSpPr>
            <p:spPr>
              <a:xfrm>
                <a:off x="4932363" y="3843338"/>
                <a:ext cx="36036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31822" name="Text Box 76"/>
              <p:cNvSpPr txBox="1"/>
              <p:nvPr/>
            </p:nvSpPr>
            <p:spPr>
              <a:xfrm>
                <a:off x="4752975" y="3411538"/>
                <a:ext cx="539750" cy="3990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823" name="Arc 87"/>
              <p:cNvSpPr/>
              <p:nvPr/>
            </p:nvSpPr>
            <p:spPr>
              <a:xfrm flipH="1" flipV="1">
                <a:off x="3240088" y="2270125"/>
                <a:ext cx="719137" cy="687388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43200" h="36089" fill="none">
                    <a:moveTo>
                      <a:pt x="37619" y="0"/>
                    </a:moveTo>
                    <a:cubicBezTo>
                      <a:pt x="41211" y="3971"/>
                      <a:pt x="43200" y="9134"/>
                      <a:pt x="43200" y="14489"/>
                    </a:cubicBezTo>
                    <a:cubicBezTo>
                      <a:pt x="43200" y="26418"/>
                      <a:pt x="33529" y="36089"/>
                      <a:pt x="21600" y="36089"/>
                    </a:cubicBezTo>
                    <a:cubicBezTo>
                      <a:pt x="9670" y="36089"/>
                      <a:pt x="0" y="26418"/>
                      <a:pt x="0" y="14489"/>
                    </a:cubicBezTo>
                    <a:cubicBezTo>
                      <a:pt x="-1" y="10725"/>
                      <a:pt x="983" y="7026"/>
                      <a:pt x="2853" y="3760"/>
                    </a:cubicBezTo>
                  </a:path>
                  <a:path w="43200" h="36089" stroke="0">
                    <a:moveTo>
                      <a:pt x="37619" y="0"/>
                    </a:moveTo>
                    <a:cubicBezTo>
                      <a:pt x="41211" y="3971"/>
                      <a:pt x="43200" y="9134"/>
                      <a:pt x="43200" y="14489"/>
                    </a:cubicBezTo>
                    <a:cubicBezTo>
                      <a:pt x="43200" y="26418"/>
                      <a:pt x="33529" y="36089"/>
                      <a:pt x="21600" y="36089"/>
                    </a:cubicBezTo>
                    <a:cubicBezTo>
                      <a:pt x="9670" y="36089"/>
                      <a:pt x="0" y="26418"/>
                      <a:pt x="0" y="14489"/>
                    </a:cubicBezTo>
                    <a:cubicBezTo>
                      <a:pt x="-1" y="10725"/>
                      <a:pt x="983" y="7026"/>
                      <a:pt x="2853" y="3760"/>
                    </a:cubicBezTo>
                    <a:lnTo>
                      <a:pt x="21600" y="14489"/>
                    </a:lnTo>
                    <a:lnTo>
                      <a:pt x="37619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4" name="Line 88"/>
              <p:cNvSpPr/>
              <p:nvPr/>
            </p:nvSpPr>
            <p:spPr>
              <a:xfrm rot="10800000">
                <a:off x="3276600" y="2854325"/>
                <a:ext cx="92075" cy="1539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825" name="Arc 89"/>
              <p:cNvSpPr/>
              <p:nvPr/>
            </p:nvSpPr>
            <p:spPr>
              <a:xfrm flipH="1" flipV="1">
                <a:off x="4933950" y="2271713"/>
                <a:ext cx="719138" cy="687387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43200" h="36089" fill="none">
                    <a:moveTo>
                      <a:pt x="37619" y="0"/>
                    </a:moveTo>
                    <a:cubicBezTo>
                      <a:pt x="41211" y="3971"/>
                      <a:pt x="43200" y="9134"/>
                      <a:pt x="43200" y="14489"/>
                    </a:cubicBezTo>
                    <a:cubicBezTo>
                      <a:pt x="43200" y="26418"/>
                      <a:pt x="33529" y="36089"/>
                      <a:pt x="21600" y="36089"/>
                    </a:cubicBezTo>
                    <a:cubicBezTo>
                      <a:pt x="9670" y="36089"/>
                      <a:pt x="0" y="26418"/>
                      <a:pt x="0" y="14489"/>
                    </a:cubicBezTo>
                    <a:cubicBezTo>
                      <a:pt x="-1" y="10725"/>
                      <a:pt x="983" y="7026"/>
                      <a:pt x="2853" y="3760"/>
                    </a:cubicBezTo>
                  </a:path>
                  <a:path w="43200" h="36089" stroke="0">
                    <a:moveTo>
                      <a:pt x="37619" y="0"/>
                    </a:moveTo>
                    <a:cubicBezTo>
                      <a:pt x="41211" y="3971"/>
                      <a:pt x="43200" y="9134"/>
                      <a:pt x="43200" y="14489"/>
                    </a:cubicBezTo>
                    <a:cubicBezTo>
                      <a:pt x="43200" y="26418"/>
                      <a:pt x="33529" y="36089"/>
                      <a:pt x="21600" y="36089"/>
                    </a:cubicBezTo>
                    <a:cubicBezTo>
                      <a:pt x="9670" y="36089"/>
                      <a:pt x="0" y="26418"/>
                      <a:pt x="0" y="14489"/>
                    </a:cubicBezTo>
                    <a:cubicBezTo>
                      <a:pt x="-1" y="10725"/>
                      <a:pt x="983" y="7026"/>
                      <a:pt x="2853" y="3760"/>
                    </a:cubicBezTo>
                    <a:lnTo>
                      <a:pt x="21600" y="14489"/>
                    </a:lnTo>
                    <a:lnTo>
                      <a:pt x="37619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6" name="Line 90"/>
              <p:cNvSpPr/>
              <p:nvPr/>
            </p:nvSpPr>
            <p:spPr>
              <a:xfrm rot="10800000">
                <a:off x="4968875" y="2819400"/>
                <a:ext cx="92075" cy="1539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1827" name="Text Box 91"/>
              <p:cNvSpPr txBox="1"/>
              <p:nvPr/>
            </p:nvSpPr>
            <p:spPr>
              <a:xfrm>
                <a:off x="3168650" y="2414588"/>
                <a:ext cx="792163" cy="6760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</a:t>
                </a:r>
              </a:p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828" name="Text Box 92"/>
              <p:cNvSpPr txBox="1"/>
              <p:nvPr/>
            </p:nvSpPr>
            <p:spPr>
              <a:xfrm>
                <a:off x="4860925" y="2414588"/>
                <a:ext cx="792163" cy="6760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</a:t>
                </a:r>
              </a:p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34973" name="Text Box 93"/>
          <p:cNvSpPr txBox="1"/>
          <p:nvPr/>
        </p:nvSpPr>
        <p:spPr>
          <a:xfrm>
            <a:off x="439739" y="5407025"/>
            <a:ext cx="259397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rule on loop 1</a:t>
            </a:r>
            <a:endParaRPr lang="en-US" altLang="zh-CN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4974" name="Object 94"/>
          <p:cNvGraphicFramePr>
            <a:graphicFrameLocks noChangeAspect="1"/>
          </p:cNvGraphicFramePr>
          <p:nvPr/>
        </p:nvGraphicFramePr>
        <p:xfrm>
          <a:off x="2670175" y="5378450"/>
          <a:ext cx="454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6" imgW="54559200" imgH="5486400" progId="Equation.DSMT4">
                  <p:embed/>
                </p:oleObj>
              </mc:Choice>
              <mc:Fallback>
                <p:oleObj name="Equation" r:id="rId6" imgW="54559200" imgH="5486400" progId="Equation.DSMT4">
                  <p:embed/>
                  <p:pic>
                    <p:nvPicPr>
                      <p:cNvPr id="0" name="Object 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0175" y="5378450"/>
                        <a:ext cx="45466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5" name="Text Box 95"/>
          <p:cNvSpPr txBox="1"/>
          <p:nvPr/>
        </p:nvSpPr>
        <p:spPr>
          <a:xfrm>
            <a:off x="439738" y="5989639"/>
            <a:ext cx="252095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rule on loop 2</a:t>
            </a:r>
            <a:endParaRPr lang="en-US" altLang="zh-CN" baseline="-250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4977" name="Object 97"/>
          <p:cNvGraphicFramePr>
            <a:graphicFrameLocks noChangeAspect="1"/>
          </p:cNvGraphicFramePr>
          <p:nvPr/>
        </p:nvGraphicFramePr>
        <p:xfrm>
          <a:off x="2624138" y="5976938"/>
          <a:ext cx="457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Equation" r:id="rId8" imgW="54864000" imgH="5486400" progId="Equation.DSMT4">
                  <p:embed/>
                </p:oleObj>
              </mc:Choice>
              <mc:Fallback>
                <p:oleObj name="Equation" r:id="rId8" imgW="54864000" imgH="5486400" progId="Equation.DSMT4">
                  <p:embed/>
                  <p:pic>
                    <p:nvPicPr>
                      <p:cNvPr id="0" name="Object 9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24138" y="5976938"/>
                        <a:ext cx="4572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8" name="Text Box 98"/>
          <p:cNvSpPr txBox="1"/>
          <p:nvPr/>
        </p:nvSpPr>
        <p:spPr>
          <a:xfrm>
            <a:off x="6105525" y="4603751"/>
            <a:ext cx="2743200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unknowns,</a:t>
            </a:r>
          </a:p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independent equations</a:t>
            </a:r>
            <a:endParaRPr lang="en-US" altLang="zh-CN" baseline="-25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34" name="Rectangle 91"/>
          <p:cNvSpPr/>
          <p:nvPr/>
        </p:nvSpPr>
        <p:spPr>
          <a:xfrm>
            <a:off x="333375" y="333376"/>
            <a:ext cx="8066088" cy="1045210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Kirchhoff’s junction rule: </a:t>
            </a: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基尔霍夫结点定律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sum of the currents entering any junction must be equal to the sum of the currents leaving that junction.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(Conservation of charge for steady flow)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31835" name="Object 79"/>
          <p:cNvGraphicFramePr>
            <a:graphicFrameLocks noChangeAspect="1"/>
          </p:cNvGraphicFramePr>
          <p:nvPr/>
        </p:nvGraphicFramePr>
        <p:xfrm>
          <a:off x="6107113" y="2720976"/>
          <a:ext cx="17573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r:id="rId10" imgW="647700" imgH="342900" progId="Equation.DSMT4">
                  <p:embed/>
                </p:oleObj>
              </mc:Choice>
              <mc:Fallback>
                <p:oleObj r:id="rId10" imgW="647700" imgH="342900" progId="Equation.DSMT4">
                  <p:embed/>
                  <p:pic>
                    <p:nvPicPr>
                      <p:cNvPr id="0" name="Object 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07113" y="2720976"/>
                        <a:ext cx="1757362" cy="9302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64" grpId="0"/>
      <p:bldP spid="634973" grpId="0"/>
      <p:bldP spid="634975" grpId="0"/>
      <p:bldP spid="63497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40"/>
          <p:cNvSpPr txBox="1"/>
          <p:nvPr/>
        </p:nvSpPr>
        <p:spPr>
          <a:xfrm>
            <a:off x="250826" y="476251"/>
            <a:ext cx="8569325" cy="706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parallel: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elements are in </a:t>
            </a:r>
            <a:r>
              <a:rPr lang="en-US" altLang="zh-CN" sz="2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 (and only if) you can make a </a:t>
            </a:r>
            <a:r>
              <a:rPr lang="en-US" altLang="zh-CN" sz="2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contains only those two elements.</a:t>
            </a:r>
          </a:p>
        </p:txBody>
      </p:sp>
      <p:sp>
        <p:nvSpPr>
          <p:cNvPr id="43" name="Text Box 42"/>
          <p:cNvSpPr txBox="1"/>
          <p:nvPr/>
        </p:nvSpPr>
        <p:spPr>
          <a:xfrm>
            <a:off x="323851" y="1412876"/>
            <a:ext cx="8424863" cy="706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series: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elements A  and B are in </a:t>
            </a:r>
            <a:r>
              <a:rPr lang="en-US" altLang="zh-CN" sz="2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(and only if) every </a:t>
            </a:r>
            <a:r>
              <a:rPr lang="en-US" altLang="zh-CN" sz="2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contains A also contains B.</a:t>
            </a:r>
            <a:endParaRPr lang="en-US" altLang="zh-C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4859338" y="2349500"/>
            <a:ext cx="3846512" cy="3951707"/>
            <a:chOff x="3624" y="2304"/>
            <a:chExt cx="1752" cy="1820"/>
          </a:xfrm>
        </p:grpSpPr>
        <p:sp>
          <p:nvSpPr>
            <p:cNvPr id="33796" name="Line 18"/>
            <p:cNvSpPr/>
            <p:nvPr/>
          </p:nvSpPr>
          <p:spPr>
            <a:xfrm>
              <a:off x="3648" y="2544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7" name="Line 19"/>
            <p:cNvSpPr/>
            <p:nvPr/>
          </p:nvSpPr>
          <p:spPr>
            <a:xfrm>
              <a:off x="3648" y="2544"/>
              <a:ext cx="17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8" name="Line 20"/>
            <p:cNvSpPr/>
            <p:nvPr/>
          </p:nvSpPr>
          <p:spPr>
            <a:xfrm>
              <a:off x="5376" y="2544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799" name="Line 21"/>
            <p:cNvSpPr/>
            <p:nvPr/>
          </p:nvSpPr>
          <p:spPr>
            <a:xfrm>
              <a:off x="3648" y="3840"/>
              <a:ext cx="17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3800" name="Group 22"/>
            <p:cNvGrpSpPr/>
            <p:nvPr/>
          </p:nvGrpSpPr>
          <p:grpSpPr>
            <a:xfrm rot="-5400000">
              <a:off x="4413" y="3797"/>
              <a:ext cx="270" cy="81"/>
              <a:chOff x="1080" y="360"/>
              <a:chExt cx="240" cy="72"/>
            </a:xfrm>
          </p:grpSpPr>
          <p:sp>
            <p:nvSpPr>
              <p:cNvPr id="33801" name="Line 24"/>
              <p:cNvSpPr/>
              <p:nvPr/>
            </p:nvSpPr>
            <p:spPr>
              <a:xfrm>
                <a:off x="1080" y="3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2" name="Line 25"/>
              <p:cNvSpPr/>
              <p:nvPr/>
            </p:nvSpPr>
            <p:spPr>
              <a:xfrm>
                <a:off x="1152" y="38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3" name="Line 26"/>
              <p:cNvSpPr/>
              <p:nvPr/>
            </p:nvSpPr>
            <p:spPr>
              <a:xfrm>
                <a:off x="1080" y="40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4" name="Line 27"/>
              <p:cNvSpPr/>
              <p:nvPr/>
            </p:nvSpPr>
            <p:spPr>
              <a:xfrm>
                <a:off x="1152" y="432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3805" name="Group 28"/>
            <p:cNvGrpSpPr/>
            <p:nvPr/>
          </p:nvGrpSpPr>
          <p:grpSpPr>
            <a:xfrm rot="-10800000" flipH="1">
              <a:off x="4301" y="2496"/>
              <a:ext cx="374" cy="115"/>
              <a:chOff x="1536" y="336"/>
              <a:chExt cx="332" cy="102"/>
            </a:xfrm>
          </p:grpSpPr>
          <p:sp>
            <p:nvSpPr>
              <p:cNvPr id="33806" name="Rectangle 29"/>
              <p:cNvSpPr/>
              <p:nvPr/>
            </p:nvSpPr>
            <p:spPr>
              <a:xfrm>
                <a:off x="1540" y="336"/>
                <a:ext cx="326" cy="102"/>
              </a:xfrm>
              <a:prstGeom prst="rect">
                <a:avLst/>
              </a:prstGeom>
              <a:solidFill>
                <a:srgbClr val="000066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07" name="Freeform 30"/>
              <p:cNvSpPr/>
              <p:nvPr/>
            </p:nvSpPr>
            <p:spPr>
              <a:xfrm>
                <a:off x="1536" y="340"/>
                <a:ext cx="332" cy="9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7" y="96"/>
                  </a:cxn>
                  <a:cxn ang="0">
                    <a:pos x="82" y="0"/>
                  </a:cxn>
                  <a:cxn ang="0">
                    <a:pos x="137" y="96"/>
                  </a:cxn>
                  <a:cxn ang="0">
                    <a:pos x="193" y="0"/>
                  </a:cxn>
                  <a:cxn ang="0">
                    <a:pos x="249" y="96"/>
                  </a:cxn>
                  <a:cxn ang="0">
                    <a:pos x="304" y="0"/>
                  </a:cxn>
                  <a:cxn ang="0">
                    <a:pos x="332" y="48"/>
                  </a:cxn>
                </a:cxnLst>
                <a:rect l="0" t="0" r="0" b="0"/>
                <a:pathLst>
                  <a:path w="332" h="96">
                    <a:moveTo>
                      <a:pt x="0" y="48"/>
                    </a:moveTo>
                    <a:lnTo>
                      <a:pt x="27" y="96"/>
                    </a:lnTo>
                    <a:lnTo>
                      <a:pt x="82" y="0"/>
                    </a:lnTo>
                    <a:lnTo>
                      <a:pt x="137" y="96"/>
                    </a:lnTo>
                    <a:lnTo>
                      <a:pt x="193" y="0"/>
                    </a:lnTo>
                    <a:lnTo>
                      <a:pt x="249" y="96"/>
                    </a:lnTo>
                    <a:lnTo>
                      <a:pt x="304" y="0"/>
                    </a:lnTo>
                    <a:lnTo>
                      <a:pt x="332" y="48"/>
                    </a:lnTo>
                  </a:path>
                </a:pathLst>
              </a:custGeom>
              <a:solidFill>
                <a:srgbClr val="000066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08" name="Text Box 31"/>
            <p:cNvSpPr txBox="1"/>
            <p:nvPr/>
          </p:nvSpPr>
          <p:spPr>
            <a:xfrm>
              <a:off x="4224" y="2304"/>
              <a:ext cx="624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=10 </a:t>
              </a:r>
              <a:r>
                <a:rPr lang="en-US" altLang="zh-CN" sz="2000" dirty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9" name="Text Box 32"/>
            <p:cNvSpPr txBox="1"/>
            <p:nvPr/>
          </p:nvSpPr>
          <p:spPr>
            <a:xfrm>
              <a:off x="4320" y="3936"/>
              <a:ext cx="768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dirty="0">
                  <a:latin typeface="Script MT Bold" pitchFamily="66" charset="0"/>
                  <a:ea typeface="宋体" panose="0201060003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= 10 V</a:t>
              </a:r>
            </a:p>
          </p:txBody>
        </p:sp>
        <p:sp>
          <p:nvSpPr>
            <p:cNvPr id="33810" name="Text Box 33"/>
            <p:cNvSpPr txBox="1"/>
            <p:nvPr/>
          </p:nvSpPr>
          <p:spPr>
            <a:xfrm>
              <a:off x="4080" y="3600"/>
              <a:ext cx="132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3811" name="Text Box 34"/>
            <p:cNvSpPr txBox="1"/>
            <p:nvPr/>
          </p:nvSpPr>
          <p:spPr>
            <a:xfrm>
              <a:off x="3888" y="2304"/>
              <a:ext cx="169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2" name="Line 35"/>
            <p:cNvSpPr/>
            <p:nvPr/>
          </p:nvSpPr>
          <p:spPr>
            <a:xfrm>
              <a:off x="3648" y="3168"/>
              <a:ext cx="17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3813" name="Group 36"/>
            <p:cNvGrpSpPr/>
            <p:nvPr/>
          </p:nvGrpSpPr>
          <p:grpSpPr>
            <a:xfrm rot="-5400000">
              <a:off x="3985" y="3137"/>
              <a:ext cx="270" cy="81"/>
              <a:chOff x="1080" y="360"/>
              <a:chExt cx="240" cy="72"/>
            </a:xfrm>
          </p:grpSpPr>
          <p:sp>
            <p:nvSpPr>
              <p:cNvPr id="33814" name="Line 38"/>
              <p:cNvSpPr/>
              <p:nvPr/>
            </p:nvSpPr>
            <p:spPr>
              <a:xfrm>
                <a:off x="1080" y="360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5" name="Line 39"/>
              <p:cNvSpPr/>
              <p:nvPr/>
            </p:nvSpPr>
            <p:spPr>
              <a:xfrm>
                <a:off x="1152" y="38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6" name="Line 40"/>
              <p:cNvSpPr/>
              <p:nvPr/>
            </p:nvSpPr>
            <p:spPr>
              <a:xfrm>
                <a:off x="1080" y="408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7" name="Line 41"/>
              <p:cNvSpPr/>
              <p:nvPr/>
            </p:nvSpPr>
            <p:spPr>
              <a:xfrm>
                <a:off x="1152" y="432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3818" name="Text Box 42"/>
            <p:cNvSpPr txBox="1"/>
            <p:nvPr/>
          </p:nvSpPr>
          <p:spPr>
            <a:xfrm>
              <a:off x="3788" y="3332"/>
              <a:ext cx="628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dirty="0">
                  <a:latin typeface="Script MT Bold" pitchFamily="66" charset="0"/>
                  <a:ea typeface="宋体" panose="02010600030101010101" pitchFamily="2" charset="-122"/>
                </a:rPr>
                <a:t>E</a:t>
              </a:r>
              <a:r>
                <a:rPr lang="en-US" altLang="zh-CN" sz="2000" baseline="-25000" dirty="0">
                  <a:latin typeface="Script MT Bold" pitchFamily="66" charset="0"/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= 5.0 V</a:t>
              </a:r>
            </a:p>
          </p:txBody>
        </p:sp>
        <p:grpSp>
          <p:nvGrpSpPr>
            <p:cNvPr id="33819" name="Group 43"/>
            <p:cNvGrpSpPr/>
            <p:nvPr/>
          </p:nvGrpSpPr>
          <p:grpSpPr>
            <a:xfrm rot="-10800000" flipH="1">
              <a:off x="4589" y="3120"/>
              <a:ext cx="374" cy="115"/>
              <a:chOff x="1536" y="336"/>
              <a:chExt cx="332" cy="102"/>
            </a:xfrm>
          </p:grpSpPr>
          <p:sp>
            <p:nvSpPr>
              <p:cNvPr id="33820" name="Rectangle 44"/>
              <p:cNvSpPr/>
              <p:nvPr/>
            </p:nvSpPr>
            <p:spPr>
              <a:xfrm>
                <a:off x="1540" y="336"/>
                <a:ext cx="326" cy="102"/>
              </a:xfrm>
              <a:prstGeom prst="rect">
                <a:avLst/>
              </a:prstGeom>
              <a:solidFill>
                <a:srgbClr val="000066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21" name="Freeform 45"/>
              <p:cNvSpPr/>
              <p:nvPr/>
            </p:nvSpPr>
            <p:spPr>
              <a:xfrm>
                <a:off x="1536" y="340"/>
                <a:ext cx="332" cy="96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7" y="96"/>
                  </a:cxn>
                  <a:cxn ang="0">
                    <a:pos x="82" y="0"/>
                  </a:cxn>
                  <a:cxn ang="0">
                    <a:pos x="137" y="96"/>
                  </a:cxn>
                  <a:cxn ang="0">
                    <a:pos x="193" y="0"/>
                  </a:cxn>
                  <a:cxn ang="0">
                    <a:pos x="249" y="96"/>
                  </a:cxn>
                  <a:cxn ang="0">
                    <a:pos x="304" y="0"/>
                  </a:cxn>
                  <a:cxn ang="0">
                    <a:pos x="332" y="48"/>
                  </a:cxn>
                </a:cxnLst>
                <a:rect l="0" t="0" r="0" b="0"/>
                <a:pathLst>
                  <a:path w="332" h="96">
                    <a:moveTo>
                      <a:pt x="0" y="48"/>
                    </a:moveTo>
                    <a:lnTo>
                      <a:pt x="27" y="96"/>
                    </a:lnTo>
                    <a:lnTo>
                      <a:pt x="82" y="0"/>
                    </a:lnTo>
                    <a:lnTo>
                      <a:pt x="137" y="96"/>
                    </a:lnTo>
                    <a:lnTo>
                      <a:pt x="193" y="0"/>
                    </a:lnTo>
                    <a:lnTo>
                      <a:pt x="249" y="96"/>
                    </a:lnTo>
                    <a:lnTo>
                      <a:pt x="304" y="0"/>
                    </a:lnTo>
                    <a:lnTo>
                      <a:pt x="332" y="48"/>
                    </a:lnTo>
                  </a:path>
                </a:pathLst>
              </a:custGeom>
              <a:solidFill>
                <a:srgbClr val="000066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22" name="Text Box 46"/>
            <p:cNvSpPr txBox="1"/>
            <p:nvPr/>
          </p:nvSpPr>
          <p:spPr>
            <a:xfrm>
              <a:off x="4512" y="2928"/>
              <a:ext cx="576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=10 </a:t>
              </a:r>
              <a:r>
                <a:rPr lang="en-US" altLang="zh-CN" sz="2000" dirty="0"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23" name="Line 47"/>
            <p:cNvSpPr/>
            <p:nvPr/>
          </p:nvSpPr>
          <p:spPr>
            <a:xfrm>
              <a:off x="3936" y="254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3824" name="Line 48"/>
            <p:cNvSpPr/>
            <p:nvPr/>
          </p:nvSpPr>
          <p:spPr>
            <a:xfrm>
              <a:off x="4272" y="316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3825" name="Text Box 49"/>
            <p:cNvSpPr txBox="1"/>
            <p:nvPr/>
          </p:nvSpPr>
          <p:spPr>
            <a:xfrm>
              <a:off x="4272" y="2928"/>
              <a:ext cx="169" cy="1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102833" tIns="51417" rIns="102833" bIns="51417" anchor="t" anchorCtr="0">
              <a:spAutoFit/>
            </a:bodyPr>
            <a:lstStyle/>
            <a:p>
              <a:pPr defTabSz="1028700" eaLnBrk="0" hangingPunct="0"/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26" name="Line 50"/>
            <p:cNvSpPr/>
            <p:nvPr/>
          </p:nvSpPr>
          <p:spPr>
            <a:xfrm flipH="1">
              <a:off x="4128" y="384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3827" name="Text Box 52"/>
            <p:cNvSpPr txBox="1"/>
            <p:nvPr/>
          </p:nvSpPr>
          <p:spPr>
            <a:xfrm>
              <a:off x="4368" y="3840"/>
              <a:ext cx="1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3828" name="Text Box 53"/>
            <p:cNvSpPr txBox="1"/>
            <p:nvPr/>
          </p:nvSpPr>
          <p:spPr>
            <a:xfrm>
              <a:off x="4560" y="3792"/>
              <a:ext cx="1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</a:p>
          </p:txBody>
        </p:sp>
        <p:sp>
          <p:nvSpPr>
            <p:cNvPr id="33829" name="Oval 54"/>
            <p:cNvSpPr/>
            <p:nvPr/>
          </p:nvSpPr>
          <p:spPr>
            <a:xfrm>
              <a:off x="3624" y="3141"/>
              <a:ext cx="48" cy="48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9" name="Text Box 36"/>
          <p:cNvSpPr txBox="1"/>
          <p:nvPr/>
        </p:nvSpPr>
        <p:spPr>
          <a:xfrm>
            <a:off x="414655" y="2853056"/>
            <a:ext cx="3994150" cy="14763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2: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b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(a) Identify if resistors 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are in parallel or in series.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+mn-ea"/>
              </a:rPr>
              <a:t>(b) Find the currents </a:t>
            </a:r>
            <a:r>
              <a:rPr lang="en-US" altLang="zh-CN" sz="2000" i="1" dirty="0">
                <a:latin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+mn-ea"/>
              </a:rPr>
              <a:t> and </a:t>
            </a:r>
            <a:r>
              <a:rPr lang="en-US" altLang="zh-CN" sz="2000" i="1" dirty="0">
                <a:latin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+mn-ea"/>
              </a:rPr>
              <a:t>. 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Text Box 36"/>
          <p:cNvSpPr txBox="1"/>
          <p:nvPr/>
        </p:nvSpPr>
        <p:spPr>
          <a:xfrm>
            <a:off x="623254" y="4688205"/>
            <a:ext cx="2447925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Answer:  (a)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Neither.  </a:t>
            </a:r>
          </a:p>
        </p:txBody>
      </p:sp>
      <p:sp>
        <p:nvSpPr>
          <p:cNvPr id="82" name="Text Box 36"/>
          <p:cNvSpPr txBox="1"/>
          <p:nvPr/>
        </p:nvSpPr>
        <p:spPr>
          <a:xfrm>
            <a:off x="611188" y="5445125"/>
            <a:ext cx="360045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Answer: (b)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= 1.0A,  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= 0.5A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79" grpId="0" bldLvl="0" animBg="1"/>
      <p:bldP spid="80" grpId="0"/>
      <p:bldP spid="8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314325" y="1646238"/>
            <a:ext cx="4141788" cy="2640012"/>
            <a:chOff x="287338" y="942975"/>
            <a:chExt cx="4141787" cy="2640013"/>
          </a:xfrm>
        </p:grpSpPr>
        <p:sp>
          <p:nvSpPr>
            <p:cNvPr id="34818" name="Text Box 207"/>
            <p:cNvSpPr txBox="1"/>
            <p:nvPr/>
          </p:nvSpPr>
          <p:spPr>
            <a:xfrm>
              <a:off x="2475845" y="2114547"/>
              <a:ext cx="1201739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charge</a:t>
              </a:r>
              <a:endPara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19" name="Text Box 242"/>
            <p:cNvSpPr txBox="1"/>
            <p:nvPr/>
          </p:nvSpPr>
          <p:spPr>
            <a:xfrm>
              <a:off x="287338" y="3160713"/>
              <a:ext cx="126047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</a:t>
              </a:r>
              <a:endParaRPr lang="en-US" altLang="zh-CN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820" name="Group 267"/>
            <p:cNvGrpSpPr/>
            <p:nvPr/>
          </p:nvGrpSpPr>
          <p:grpSpPr>
            <a:xfrm>
              <a:off x="287338" y="942975"/>
              <a:ext cx="4141787" cy="2640013"/>
              <a:chOff x="181" y="594"/>
              <a:chExt cx="2609" cy="1663"/>
            </a:xfrm>
          </p:grpSpPr>
          <p:sp>
            <p:nvSpPr>
              <p:cNvPr id="34821" name="Line 102"/>
              <p:cNvSpPr/>
              <p:nvPr/>
            </p:nvSpPr>
            <p:spPr>
              <a:xfrm flipV="1">
                <a:off x="929" y="1548"/>
                <a:ext cx="0" cy="36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2" name="Line 103"/>
              <p:cNvSpPr/>
              <p:nvPr/>
            </p:nvSpPr>
            <p:spPr>
              <a:xfrm rot="5400000">
                <a:off x="466" y="1310"/>
                <a:ext cx="34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4823" name="Oval 104"/>
              <p:cNvSpPr/>
              <p:nvPr/>
            </p:nvSpPr>
            <p:spPr>
              <a:xfrm>
                <a:off x="589" y="1480"/>
                <a:ext cx="91" cy="91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4824" name="Group 105"/>
              <p:cNvGrpSpPr/>
              <p:nvPr/>
            </p:nvGrpSpPr>
            <p:grpSpPr>
              <a:xfrm>
                <a:off x="770" y="1208"/>
                <a:ext cx="318" cy="341"/>
                <a:chOff x="1497" y="1184"/>
                <a:chExt cx="318" cy="341"/>
              </a:xfrm>
            </p:grpSpPr>
            <p:grpSp>
              <p:nvGrpSpPr>
                <p:cNvPr id="34825" name="Group 106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34826" name="Line 107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7" name="Line 108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8" name="Line 109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9" name="Line 110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4830" name="Line 111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4831" name="Line 112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4832" name="Line 113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4833" name="Text Box 115"/>
              <p:cNvSpPr txBox="1"/>
              <p:nvPr/>
            </p:nvSpPr>
            <p:spPr>
              <a:xfrm>
                <a:off x="1610" y="618"/>
                <a:ext cx="34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altLang="zh-CN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34" name="Freeform 116"/>
              <p:cNvSpPr/>
              <p:nvPr/>
            </p:nvSpPr>
            <p:spPr>
              <a:xfrm>
                <a:off x="1474" y="867"/>
                <a:ext cx="589" cy="2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42" y="2"/>
                  </a:cxn>
                  <a:cxn ang="0">
                    <a:pos x="170" y="0"/>
                  </a:cxn>
                  <a:cxn ang="0">
                    <a:pos x="220" y="5"/>
                  </a:cxn>
                  <a:cxn ang="0">
                    <a:pos x="270" y="0"/>
                  </a:cxn>
                  <a:cxn ang="0">
                    <a:pos x="319" y="5"/>
                  </a:cxn>
                  <a:cxn ang="0">
                    <a:pos x="369" y="0"/>
                  </a:cxn>
                  <a:cxn ang="0">
                    <a:pos x="418" y="5"/>
                  </a:cxn>
                  <a:cxn ang="0">
                    <a:pos x="447" y="2"/>
                  </a:cxn>
                  <a:cxn ang="0">
                    <a:pos x="589" y="2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5" name="Line 117"/>
              <p:cNvSpPr/>
              <p:nvPr/>
            </p:nvSpPr>
            <p:spPr>
              <a:xfrm flipH="1" flipV="1">
                <a:off x="930" y="731"/>
                <a:ext cx="27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6" name="Line 125"/>
              <p:cNvSpPr/>
              <p:nvPr/>
            </p:nvSpPr>
            <p:spPr>
              <a:xfrm flipH="1">
                <a:off x="2063" y="981"/>
                <a:ext cx="20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7" name="Line 130"/>
              <p:cNvSpPr/>
              <p:nvPr/>
            </p:nvSpPr>
            <p:spPr>
              <a:xfrm rot="5400000">
                <a:off x="2256" y="1060"/>
                <a:ext cx="0" cy="5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8" name="Line 131"/>
              <p:cNvSpPr/>
              <p:nvPr/>
            </p:nvSpPr>
            <p:spPr>
              <a:xfrm rot="-5400000" flipV="1">
                <a:off x="2256" y="1309"/>
                <a:ext cx="0" cy="5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9" name="Line 150"/>
              <p:cNvSpPr/>
              <p:nvPr/>
            </p:nvSpPr>
            <p:spPr>
              <a:xfrm flipH="1" flipV="1">
                <a:off x="2267" y="1571"/>
                <a:ext cx="0" cy="33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0" name="Line 151"/>
              <p:cNvSpPr/>
              <p:nvPr/>
            </p:nvSpPr>
            <p:spPr>
              <a:xfrm flipH="1" flipV="1">
                <a:off x="2267" y="981"/>
                <a:ext cx="0" cy="3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1" name="Line 152"/>
              <p:cNvSpPr/>
              <p:nvPr/>
            </p:nvSpPr>
            <p:spPr>
              <a:xfrm flipH="1" flipV="1">
                <a:off x="929" y="1910"/>
                <a:ext cx="133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2" name="Line 153"/>
              <p:cNvSpPr/>
              <p:nvPr/>
            </p:nvSpPr>
            <p:spPr>
              <a:xfrm flipV="1">
                <a:off x="1202" y="1117"/>
                <a:ext cx="0" cy="7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3" name="Line 154"/>
              <p:cNvSpPr/>
              <p:nvPr/>
            </p:nvSpPr>
            <p:spPr>
              <a:xfrm flipV="1">
                <a:off x="929" y="731"/>
                <a:ext cx="1" cy="4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4" name="Text Box 156"/>
              <p:cNvSpPr txBox="1"/>
              <p:nvPr/>
            </p:nvSpPr>
            <p:spPr>
              <a:xfrm>
                <a:off x="1337" y="753"/>
                <a:ext cx="22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2000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45" name="Oval 159"/>
              <p:cNvSpPr/>
              <p:nvPr/>
            </p:nvSpPr>
            <p:spPr>
              <a:xfrm>
                <a:off x="1179" y="1094"/>
                <a:ext cx="45" cy="45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6" name="Line 160"/>
              <p:cNvSpPr/>
              <p:nvPr/>
            </p:nvSpPr>
            <p:spPr>
              <a:xfrm flipH="1">
                <a:off x="1111" y="981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7" name="Oval 161"/>
              <p:cNvSpPr/>
              <p:nvPr/>
            </p:nvSpPr>
            <p:spPr>
              <a:xfrm>
                <a:off x="1428" y="958"/>
                <a:ext cx="45" cy="45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8" name="Text Box 162"/>
              <p:cNvSpPr txBox="1"/>
              <p:nvPr/>
            </p:nvSpPr>
            <p:spPr>
              <a:xfrm>
                <a:off x="2427" y="1297"/>
                <a:ext cx="34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altLang="zh-CN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49" name="Text Box 163"/>
              <p:cNvSpPr txBox="1"/>
              <p:nvPr/>
            </p:nvSpPr>
            <p:spPr>
              <a:xfrm>
                <a:off x="340" y="1237"/>
                <a:ext cx="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4850" name="Rectangle 206"/>
              <p:cNvSpPr/>
              <p:nvPr/>
            </p:nvSpPr>
            <p:spPr>
              <a:xfrm>
                <a:off x="181" y="594"/>
                <a:ext cx="2609" cy="16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51" name="Line 208"/>
              <p:cNvSpPr/>
              <p:nvPr/>
            </p:nvSpPr>
            <p:spPr>
              <a:xfrm flipV="1">
                <a:off x="1202" y="731"/>
                <a:ext cx="0" cy="11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52" name="Oval 155"/>
              <p:cNvSpPr/>
              <p:nvPr/>
            </p:nvSpPr>
            <p:spPr>
              <a:xfrm>
                <a:off x="1179" y="822"/>
                <a:ext cx="45" cy="45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53" name="Text Box 243"/>
              <p:cNvSpPr txBox="1"/>
              <p:nvPr/>
            </p:nvSpPr>
            <p:spPr>
              <a:xfrm>
                <a:off x="1202" y="617"/>
                <a:ext cx="227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54" name="Text Box 244"/>
              <p:cNvSpPr txBox="1"/>
              <p:nvPr/>
            </p:nvSpPr>
            <p:spPr>
              <a:xfrm>
                <a:off x="1202" y="1078"/>
                <a:ext cx="227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" name="组合 3"/>
          <p:cNvGrpSpPr/>
          <p:nvPr/>
        </p:nvGrpSpPr>
        <p:grpSpPr>
          <a:xfrm>
            <a:off x="4778375" y="1646238"/>
            <a:ext cx="4141788" cy="2640012"/>
            <a:chOff x="4751388" y="942975"/>
            <a:chExt cx="4141787" cy="2640013"/>
          </a:xfrm>
        </p:grpSpPr>
        <p:sp>
          <p:nvSpPr>
            <p:cNvPr id="34856" name="Text Box 239"/>
            <p:cNvSpPr txBox="1"/>
            <p:nvPr/>
          </p:nvSpPr>
          <p:spPr>
            <a:xfrm>
              <a:off x="4802188" y="3048000"/>
              <a:ext cx="403225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 t = 0, switch to position a</a:t>
              </a:r>
              <a:endParaRPr lang="en-US" altLang="zh-CN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57" name="Arc 248"/>
            <p:cNvSpPr/>
            <p:nvPr/>
          </p:nvSpPr>
          <p:spPr>
            <a:xfrm flipH="1" flipV="1">
              <a:off x="6732588" y="1916113"/>
              <a:ext cx="719137" cy="687387"/>
            </a:xfrm>
            <a:custGeom>
              <a:avLst/>
              <a:gdLst/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0" t="0" r="0" b="0"/>
              <a:pathLst>
                <a:path w="43200" h="36089" fill="none">
                  <a:moveTo>
                    <a:pt x="37619" y="0"/>
                  </a:moveTo>
                  <a:cubicBezTo>
                    <a:pt x="41211" y="3971"/>
                    <a:pt x="43200" y="9134"/>
                    <a:pt x="43200" y="14489"/>
                  </a:cubicBezTo>
                  <a:cubicBezTo>
                    <a:pt x="43200" y="26418"/>
                    <a:pt x="33529" y="36089"/>
                    <a:pt x="21600" y="36089"/>
                  </a:cubicBezTo>
                  <a:cubicBezTo>
                    <a:pt x="9670" y="36089"/>
                    <a:pt x="0" y="26418"/>
                    <a:pt x="0" y="14489"/>
                  </a:cubicBezTo>
                  <a:cubicBezTo>
                    <a:pt x="-1" y="10725"/>
                    <a:pt x="983" y="7026"/>
                    <a:pt x="2853" y="3760"/>
                  </a:cubicBezTo>
                </a:path>
                <a:path w="43200" h="36089" stroke="0">
                  <a:moveTo>
                    <a:pt x="37619" y="0"/>
                  </a:moveTo>
                  <a:cubicBezTo>
                    <a:pt x="41211" y="3971"/>
                    <a:pt x="43200" y="9134"/>
                    <a:pt x="43200" y="14489"/>
                  </a:cubicBezTo>
                  <a:cubicBezTo>
                    <a:pt x="43200" y="26418"/>
                    <a:pt x="33529" y="36089"/>
                    <a:pt x="21600" y="36089"/>
                  </a:cubicBezTo>
                  <a:cubicBezTo>
                    <a:pt x="9670" y="36089"/>
                    <a:pt x="0" y="26418"/>
                    <a:pt x="0" y="14489"/>
                  </a:cubicBezTo>
                  <a:cubicBezTo>
                    <a:pt x="-1" y="10725"/>
                    <a:pt x="983" y="7026"/>
                    <a:pt x="2853" y="3760"/>
                  </a:cubicBezTo>
                  <a:lnTo>
                    <a:pt x="21600" y="14489"/>
                  </a:lnTo>
                  <a:lnTo>
                    <a:pt x="37619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8" name="Line 249"/>
            <p:cNvSpPr/>
            <p:nvPr/>
          </p:nvSpPr>
          <p:spPr>
            <a:xfrm rot="-10800000" flipH="1">
              <a:off x="7308850" y="2500313"/>
              <a:ext cx="107950" cy="180975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grpSp>
          <p:nvGrpSpPr>
            <p:cNvPr id="34859" name="Group 269"/>
            <p:cNvGrpSpPr/>
            <p:nvPr/>
          </p:nvGrpSpPr>
          <p:grpSpPr>
            <a:xfrm>
              <a:off x="4751388" y="942975"/>
              <a:ext cx="4141787" cy="2640013"/>
              <a:chOff x="2993" y="594"/>
              <a:chExt cx="2609" cy="1663"/>
            </a:xfrm>
          </p:grpSpPr>
          <p:sp>
            <p:nvSpPr>
              <p:cNvPr id="34860" name="Line 209"/>
              <p:cNvSpPr/>
              <p:nvPr/>
            </p:nvSpPr>
            <p:spPr>
              <a:xfrm flipV="1">
                <a:off x="3741" y="1548"/>
                <a:ext cx="0" cy="36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61" name="Line 210"/>
              <p:cNvSpPr/>
              <p:nvPr/>
            </p:nvSpPr>
            <p:spPr>
              <a:xfrm rot="5400000">
                <a:off x="3278" y="1310"/>
                <a:ext cx="34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sp>
          <p:sp>
            <p:nvSpPr>
              <p:cNvPr id="34862" name="Oval 211"/>
              <p:cNvSpPr/>
              <p:nvPr/>
            </p:nvSpPr>
            <p:spPr>
              <a:xfrm>
                <a:off x="3401" y="1480"/>
                <a:ext cx="91" cy="91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4863" name="Group 212"/>
              <p:cNvGrpSpPr/>
              <p:nvPr/>
            </p:nvGrpSpPr>
            <p:grpSpPr>
              <a:xfrm>
                <a:off x="3582" y="1208"/>
                <a:ext cx="318" cy="341"/>
                <a:chOff x="1497" y="1184"/>
                <a:chExt cx="318" cy="341"/>
              </a:xfrm>
            </p:grpSpPr>
            <p:grpSp>
              <p:nvGrpSpPr>
                <p:cNvPr id="34864" name="Group 213"/>
                <p:cNvGrpSpPr/>
                <p:nvPr/>
              </p:nvGrpSpPr>
              <p:grpSpPr>
                <a:xfrm>
                  <a:off x="1497" y="1185"/>
                  <a:ext cx="318" cy="340"/>
                  <a:chOff x="453" y="1117"/>
                  <a:chExt cx="318" cy="340"/>
                </a:xfrm>
              </p:grpSpPr>
              <p:sp>
                <p:nvSpPr>
                  <p:cNvPr id="34865" name="Line 214"/>
                  <p:cNvSpPr/>
                  <p:nvPr/>
                </p:nvSpPr>
                <p:spPr>
                  <a:xfrm>
                    <a:off x="453" y="1261"/>
                    <a:ext cx="31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66" name="Line 215"/>
                  <p:cNvSpPr/>
                  <p:nvPr/>
                </p:nvSpPr>
                <p:spPr>
                  <a:xfrm>
                    <a:off x="521" y="1306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67" name="Line 216"/>
                  <p:cNvSpPr/>
                  <p:nvPr/>
                </p:nvSpPr>
                <p:spPr>
                  <a:xfrm flipV="1">
                    <a:off x="612" y="1117"/>
                    <a:ext cx="0" cy="13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68" name="Line 217"/>
                  <p:cNvSpPr/>
                  <p:nvPr/>
                </p:nvSpPr>
                <p:spPr>
                  <a:xfrm flipV="1">
                    <a:off x="612" y="1298"/>
                    <a:ext cx="0" cy="159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4869" name="Line 218"/>
                <p:cNvSpPr/>
                <p:nvPr/>
              </p:nvSpPr>
              <p:spPr>
                <a:xfrm rot="-5400000">
                  <a:off x="1517" y="1228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4870" name="Line 219"/>
                <p:cNvSpPr/>
                <p:nvPr/>
              </p:nvSpPr>
              <p:spPr>
                <a:xfrm rot="-5400000">
                  <a:off x="1565" y="1185"/>
                  <a:ext cx="0" cy="9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4871" name="Line 220"/>
                <p:cNvSpPr/>
                <p:nvPr/>
              </p:nvSpPr>
              <p:spPr>
                <a:xfrm rot="10800000">
                  <a:off x="1519" y="1479"/>
                  <a:ext cx="91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4872" name="Text Box 221"/>
              <p:cNvSpPr txBox="1"/>
              <p:nvPr/>
            </p:nvSpPr>
            <p:spPr>
              <a:xfrm>
                <a:off x="4422" y="618"/>
                <a:ext cx="34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altLang="zh-CN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73" name="Freeform 222"/>
              <p:cNvSpPr/>
              <p:nvPr/>
            </p:nvSpPr>
            <p:spPr>
              <a:xfrm>
                <a:off x="4286" y="867"/>
                <a:ext cx="589" cy="2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42" y="2"/>
                  </a:cxn>
                  <a:cxn ang="0">
                    <a:pos x="170" y="0"/>
                  </a:cxn>
                  <a:cxn ang="0">
                    <a:pos x="220" y="5"/>
                  </a:cxn>
                  <a:cxn ang="0">
                    <a:pos x="270" y="0"/>
                  </a:cxn>
                  <a:cxn ang="0">
                    <a:pos x="319" y="5"/>
                  </a:cxn>
                  <a:cxn ang="0">
                    <a:pos x="369" y="0"/>
                  </a:cxn>
                  <a:cxn ang="0">
                    <a:pos x="418" y="5"/>
                  </a:cxn>
                  <a:cxn ang="0">
                    <a:pos x="447" y="2"/>
                  </a:cxn>
                  <a:cxn ang="0">
                    <a:pos x="589" y="2"/>
                  </a:cxn>
                </a:cxnLst>
                <a:rect l="0" t="0" r="0" b="0"/>
                <a:pathLst>
                  <a:path w="589" h="292">
                    <a:moveTo>
                      <a:pt x="0" y="148"/>
                    </a:moveTo>
                    <a:lnTo>
                      <a:pt x="142" y="148"/>
                    </a:lnTo>
                    <a:lnTo>
                      <a:pt x="170" y="0"/>
                    </a:lnTo>
                    <a:lnTo>
                      <a:pt x="220" y="292"/>
                    </a:lnTo>
                    <a:lnTo>
                      <a:pt x="270" y="0"/>
                    </a:lnTo>
                    <a:lnTo>
                      <a:pt x="319" y="292"/>
                    </a:lnTo>
                    <a:lnTo>
                      <a:pt x="369" y="0"/>
                    </a:lnTo>
                    <a:lnTo>
                      <a:pt x="418" y="292"/>
                    </a:lnTo>
                    <a:lnTo>
                      <a:pt x="447" y="148"/>
                    </a:lnTo>
                    <a:lnTo>
                      <a:pt x="589" y="14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4" name="Line 223"/>
              <p:cNvSpPr/>
              <p:nvPr/>
            </p:nvSpPr>
            <p:spPr>
              <a:xfrm flipH="1" flipV="1">
                <a:off x="3742" y="731"/>
                <a:ext cx="27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5" name="Line 224"/>
              <p:cNvSpPr/>
              <p:nvPr/>
            </p:nvSpPr>
            <p:spPr>
              <a:xfrm flipH="1">
                <a:off x="4875" y="981"/>
                <a:ext cx="20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6" name="Line 225"/>
              <p:cNvSpPr/>
              <p:nvPr/>
            </p:nvSpPr>
            <p:spPr>
              <a:xfrm rot="5400000">
                <a:off x="5068" y="1060"/>
                <a:ext cx="0" cy="5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7" name="Line 226"/>
              <p:cNvSpPr/>
              <p:nvPr/>
            </p:nvSpPr>
            <p:spPr>
              <a:xfrm rot="-5400000" flipV="1">
                <a:off x="5068" y="1309"/>
                <a:ext cx="0" cy="5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8" name="Line 227"/>
              <p:cNvSpPr/>
              <p:nvPr/>
            </p:nvSpPr>
            <p:spPr>
              <a:xfrm flipH="1" flipV="1">
                <a:off x="5079" y="1571"/>
                <a:ext cx="0" cy="33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9" name="Line 228"/>
              <p:cNvSpPr/>
              <p:nvPr/>
            </p:nvSpPr>
            <p:spPr>
              <a:xfrm flipH="1" flipV="1">
                <a:off x="5079" y="981"/>
                <a:ext cx="0" cy="3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80" name="Line 229"/>
              <p:cNvSpPr/>
              <p:nvPr/>
            </p:nvSpPr>
            <p:spPr>
              <a:xfrm flipH="1" flipV="1">
                <a:off x="3741" y="1910"/>
                <a:ext cx="133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81" name="Line 230"/>
              <p:cNvSpPr/>
              <p:nvPr/>
            </p:nvSpPr>
            <p:spPr>
              <a:xfrm flipV="1">
                <a:off x="4014" y="1117"/>
                <a:ext cx="0" cy="7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82" name="Line 231"/>
              <p:cNvSpPr/>
              <p:nvPr/>
            </p:nvSpPr>
            <p:spPr>
              <a:xfrm flipV="1">
                <a:off x="3741" y="731"/>
                <a:ext cx="1" cy="47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83" name="Text Box 232"/>
              <p:cNvSpPr txBox="1"/>
              <p:nvPr/>
            </p:nvSpPr>
            <p:spPr>
              <a:xfrm>
                <a:off x="4149" y="753"/>
                <a:ext cx="22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2000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4" name="Oval 233"/>
              <p:cNvSpPr/>
              <p:nvPr/>
            </p:nvSpPr>
            <p:spPr>
              <a:xfrm>
                <a:off x="3991" y="1094"/>
                <a:ext cx="45" cy="45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85" name="Line 234"/>
              <p:cNvSpPr/>
              <p:nvPr/>
            </p:nvSpPr>
            <p:spPr>
              <a:xfrm rot="1560000" flipH="1">
                <a:off x="3946" y="912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86" name="Oval 235"/>
              <p:cNvSpPr/>
              <p:nvPr/>
            </p:nvSpPr>
            <p:spPr>
              <a:xfrm>
                <a:off x="4240" y="958"/>
                <a:ext cx="45" cy="45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87" name="Text Box 236"/>
              <p:cNvSpPr txBox="1"/>
              <p:nvPr/>
            </p:nvSpPr>
            <p:spPr>
              <a:xfrm>
                <a:off x="5261" y="1320"/>
                <a:ext cx="340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altLang="zh-CN" baseline="-25000" dirty="0">
                  <a:solidFill>
                    <a:srgbClr val="FF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88" name="Text Box 237"/>
              <p:cNvSpPr txBox="1"/>
              <p:nvPr/>
            </p:nvSpPr>
            <p:spPr>
              <a:xfrm>
                <a:off x="3152" y="1237"/>
                <a:ext cx="2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Euclid Math One" panose="05050601010101010101" pitchFamily="18" charset="2"/>
                    <a:ea typeface="宋体" panose="02010600030101010101" pitchFamily="2" charset="-122"/>
                  </a:rPr>
                  <a:t>E</a:t>
                </a:r>
                <a:endParaRPr lang="en-US" altLang="zh-CN" baseline="-25000" dirty="0">
                  <a:solidFill>
                    <a:srgbClr val="FF3300"/>
                  </a:solidFill>
                  <a:latin typeface="Euclid Math One" panose="05050601010101010101" pitchFamily="18" charset="2"/>
                  <a:ea typeface="宋体" panose="02010600030101010101" pitchFamily="2" charset="-122"/>
                </a:endParaRPr>
              </a:p>
            </p:txBody>
          </p:sp>
          <p:sp>
            <p:nvSpPr>
              <p:cNvPr id="34889" name="Rectangle 238"/>
              <p:cNvSpPr/>
              <p:nvPr/>
            </p:nvSpPr>
            <p:spPr>
              <a:xfrm>
                <a:off x="2993" y="594"/>
                <a:ext cx="2609" cy="16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90" name="Line 240"/>
              <p:cNvSpPr/>
              <p:nvPr/>
            </p:nvSpPr>
            <p:spPr>
              <a:xfrm flipV="1">
                <a:off x="4014" y="731"/>
                <a:ext cx="0" cy="11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91" name="Oval 241"/>
              <p:cNvSpPr/>
              <p:nvPr/>
            </p:nvSpPr>
            <p:spPr>
              <a:xfrm>
                <a:off x="3991" y="821"/>
                <a:ext cx="45" cy="45"/>
              </a:xfrm>
              <a:prstGeom prst="ellipse">
                <a:avLst/>
              </a:prstGeom>
              <a:solidFill>
                <a:srgbClr val="009900"/>
              </a:solidFill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zh-CN" dirty="0"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92" name="Text Box 245"/>
              <p:cNvSpPr txBox="1"/>
              <p:nvPr/>
            </p:nvSpPr>
            <p:spPr>
              <a:xfrm>
                <a:off x="4014" y="594"/>
                <a:ext cx="227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3" name="Text Box 246"/>
              <p:cNvSpPr txBox="1"/>
              <p:nvPr/>
            </p:nvSpPr>
            <p:spPr>
              <a:xfrm>
                <a:off x="4014" y="1055"/>
                <a:ext cx="227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en-US" altLang="zh-CN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baseline="-25000" dirty="0">
                  <a:solidFill>
                    <a:srgbClr val="00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94" name="Text Box 250"/>
              <p:cNvSpPr txBox="1"/>
              <p:nvPr/>
            </p:nvSpPr>
            <p:spPr>
              <a:xfrm>
                <a:off x="3470" y="662"/>
                <a:ext cx="3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/>
                <a:r>
                  <a:rPr lang="en-US" altLang="zh-CN" dirty="0">
                    <a:latin typeface="Calibri" panose="020F0502020204030204" charset="0"/>
                    <a:ea typeface="宋体" panose="02010600030101010101" pitchFamily="2" charset="-122"/>
                  </a:rPr>
                  <a:t>i</a:t>
                </a:r>
                <a:endParaRPr lang="en-US" altLang="zh-CN" baseline="-25000" dirty="0">
                  <a:solidFill>
                    <a:srgbClr val="FF3300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95" name="Line 251"/>
              <p:cNvSpPr/>
              <p:nvPr/>
            </p:nvSpPr>
            <p:spPr>
              <a:xfrm rot="-5400000">
                <a:off x="3627" y="933"/>
                <a:ext cx="227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</p:grpSp>
      <p:graphicFrame>
        <p:nvGraphicFramePr>
          <p:cNvPr id="647423" name="Object 255"/>
          <p:cNvGraphicFramePr>
            <a:graphicFrameLocks noChangeAspect="1"/>
          </p:cNvGraphicFramePr>
          <p:nvPr/>
        </p:nvGraphicFramePr>
        <p:xfrm>
          <a:off x="4572000" y="5027613"/>
          <a:ext cx="213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4" imgW="25603200" imgH="9448800" progId="Equation.DSMT4">
                  <p:embed/>
                </p:oleObj>
              </mc:Choice>
              <mc:Fallback>
                <p:oleObj name="Equation" r:id="rId4" imgW="25603200" imgH="9448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0" y="5027613"/>
                        <a:ext cx="21336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secTitle"/>
          <p:cNvSpPr txBox="1">
            <a:spLocks noChangeArrowheads="1"/>
          </p:cNvSpPr>
          <p:nvPr/>
        </p:nvSpPr>
        <p:spPr bwMode="auto">
          <a:xfrm>
            <a:off x="1692275" y="404813"/>
            <a:ext cx="5281613" cy="58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 RC Circuits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电阻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电容电路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70" name="pageTitle"/>
          <p:cNvSpPr txBox="1"/>
          <p:nvPr/>
        </p:nvSpPr>
        <p:spPr>
          <a:xfrm>
            <a:off x="4921250" y="1111250"/>
            <a:ext cx="371951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E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Charging a capacitor </a:t>
            </a:r>
            <a:r>
              <a:rPr lang="zh-CN" altLang="en-US" sz="2400" b="1" dirty="0">
                <a:solidFill>
                  <a:srgbClr val="E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充电</a:t>
            </a:r>
            <a:endParaRPr lang="en-US" altLang="zh-CN" sz="2400" b="1" dirty="0">
              <a:solidFill>
                <a:srgbClr val="E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42319" y="4538662"/>
            <a:ext cx="2183070" cy="1678543"/>
            <a:chOff x="1412876" y="4541281"/>
            <a:chExt cx="2183070" cy="1678543"/>
          </a:xfrm>
        </p:grpSpPr>
        <p:graphicFrame>
          <p:nvGraphicFramePr>
            <p:cNvPr id="647420" name="Object 252"/>
            <p:cNvGraphicFramePr>
              <a:graphicFrameLocks noChangeAspect="1"/>
            </p:cNvGraphicFramePr>
            <p:nvPr/>
          </p:nvGraphicFramePr>
          <p:xfrm>
            <a:off x="1412876" y="4541281"/>
            <a:ext cx="1905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9" name="Equation" r:id="rId6" imgW="22860000" imgH="9448800" progId="Equation.DSMT4">
                    <p:embed/>
                  </p:oleObj>
                </mc:Choice>
                <mc:Fallback>
                  <p:oleObj name="Equation" r:id="rId6" imgW="22860000" imgH="94488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412876" y="4541281"/>
                          <a:ext cx="1905000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252"/>
            <p:cNvGraphicFramePr>
              <a:graphicFrameLocks noChangeAspect="1"/>
            </p:cNvGraphicFramePr>
            <p:nvPr/>
          </p:nvGraphicFramePr>
          <p:xfrm>
            <a:off x="1859756" y="5432424"/>
            <a:ext cx="939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0" name="Equation" r:id="rId8" imgW="11277600" imgH="9448800" progId="Equation.DSMT4">
                    <p:embed/>
                  </p:oleObj>
                </mc:Choice>
                <mc:Fallback>
                  <p:oleObj name="Equation" r:id="rId8" imgW="11277600" imgH="9448800" progId="Equation.DSMT4">
                    <p:embed/>
                    <p:pic>
                      <p:nvPicPr>
                        <p:cNvPr id="0" name="Object 25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59756" y="5432424"/>
                          <a:ext cx="939800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右大括号 2"/>
            <p:cNvSpPr/>
            <p:nvPr/>
          </p:nvSpPr>
          <p:spPr>
            <a:xfrm>
              <a:off x="3463925" y="4934981"/>
              <a:ext cx="132021" cy="1014299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08"/>
          <p:cNvGraphicFramePr>
            <a:graphicFrameLocks noChangeAspect="1"/>
          </p:cNvGraphicFramePr>
          <p:nvPr/>
        </p:nvGraphicFramePr>
        <p:xfrm>
          <a:off x="3026595" y="2596692"/>
          <a:ext cx="33655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3" imgW="29870400" imgH="5486400" progId="Equation.DSMT4">
                  <p:embed/>
                </p:oleObj>
              </mc:Choice>
              <mc:Fallback>
                <p:oleObj name="Equation" r:id="rId3" imgW="29870400" imgH="5486400" progId="Equation.DSMT4">
                  <p:embed/>
                  <p:pic>
                    <p:nvPicPr>
                      <p:cNvPr id="0" name="Object 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6595" y="2596692"/>
                        <a:ext cx="3365500" cy="6175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467544" y="404812"/>
            <a:ext cx="6670104" cy="787400"/>
            <a:chOff x="467544" y="404812"/>
            <a:chExt cx="6670104" cy="787400"/>
          </a:xfrm>
        </p:grpSpPr>
        <p:graphicFrame>
          <p:nvGraphicFramePr>
            <p:cNvPr id="6" name="Object 255"/>
            <p:cNvGraphicFramePr>
              <a:graphicFrameLocks noChangeAspect="1"/>
            </p:cNvGraphicFramePr>
            <p:nvPr/>
          </p:nvGraphicFramePr>
          <p:xfrm>
            <a:off x="467544" y="404812"/>
            <a:ext cx="4241801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0" name="Equation" r:id="rId5" imgW="50901600" imgH="9448800" progId="Equation.DSMT4">
                    <p:embed/>
                  </p:oleObj>
                </mc:Choice>
                <mc:Fallback>
                  <p:oleObj name="Equation" r:id="rId5" imgW="50901600" imgH="9448800" progId="Equation.DSMT4">
                    <p:embed/>
                    <p:pic>
                      <p:nvPicPr>
                        <p:cNvPr id="0" name="Object 2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7544" y="404812"/>
                          <a:ext cx="4241801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pageTitle"/>
            <p:cNvSpPr txBox="1"/>
            <p:nvPr/>
          </p:nvSpPr>
          <p:spPr>
            <a:xfrm>
              <a:off x="5004048" y="567679"/>
              <a:ext cx="2133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E1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一阶微分方程</a:t>
              </a:r>
              <a:endParaRPr lang="en-US" altLang="zh-CN" sz="2400" b="1" dirty="0">
                <a:solidFill>
                  <a:srgbClr val="E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99592" y="1392301"/>
            <a:ext cx="4486796" cy="698641"/>
            <a:chOff x="899592" y="1392300"/>
            <a:chExt cx="4486796" cy="698641"/>
          </a:xfrm>
        </p:grpSpPr>
        <p:graphicFrame>
          <p:nvGraphicFramePr>
            <p:cNvPr id="9" name="Object 255"/>
            <p:cNvGraphicFramePr>
              <a:graphicFrameLocks noChangeAspect="1"/>
            </p:cNvGraphicFramePr>
            <p:nvPr/>
          </p:nvGraphicFramePr>
          <p:xfrm>
            <a:off x="3227388" y="1392300"/>
            <a:ext cx="215900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1" name="Equation" r:id="rId7" imgW="25908000" imgH="8229600" progId="Equation.DSMT4">
                    <p:embed/>
                  </p:oleObj>
                </mc:Choice>
                <mc:Fallback>
                  <p:oleObj name="Equation" r:id="rId7" imgW="25908000" imgH="8229600" progId="Equation.DSMT4">
                    <p:embed/>
                    <p:pic>
                      <p:nvPicPr>
                        <p:cNvPr id="0" name="Object 2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27388" y="1392300"/>
                          <a:ext cx="2159000" cy="685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pageTitle"/>
            <p:cNvSpPr txBox="1"/>
            <p:nvPr/>
          </p:nvSpPr>
          <p:spPr>
            <a:xfrm>
              <a:off x="899592" y="1630566"/>
              <a:ext cx="213360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E1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解的一般形式</a:t>
              </a:r>
              <a:endParaRPr lang="en-US" altLang="zh-CN" sz="2400" b="1" dirty="0">
                <a:solidFill>
                  <a:srgbClr val="E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25472" y="1392300"/>
            <a:ext cx="2318936" cy="842392"/>
            <a:chOff x="5993214" y="1459632"/>
            <a:chExt cx="2318936" cy="842392"/>
          </a:xfrm>
        </p:grpSpPr>
        <p:sp>
          <p:nvSpPr>
            <p:cNvPr id="12" name="左大括号 11"/>
            <p:cNvSpPr/>
            <p:nvPr/>
          </p:nvSpPr>
          <p:spPr>
            <a:xfrm>
              <a:off x="5993214" y="1556792"/>
              <a:ext cx="155268" cy="6858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" name="Object 255"/>
            <p:cNvGraphicFramePr>
              <a:graphicFrameLocks noChangeAspect="1"/>
            </p:cNvGraphicFramePr>
            <p:nvPr/>
          </p:nvGraphicFramePr>
          <p:xfrm>
            <a:off x="6356350" y="1459632"/>
            <a:ext cx="1041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2" name="Equation" r:id="rId9" imgW="12496800" imgH="5486400" progId="Equation.DSMT4">
                    <p:embed/>
                  </p:oleObj>
                </mc:Choice>
                <mc:Fallback>
                  <p:oleObj name="Equation" r:id="rId9" imgW="12496800" imgH="5486400" progId="Equation.DSMT4">
                    <p:embed/>
                    <p:pic>
                      <p:nvPicPr>
                        <p:cNvPr id="0" name="Object 25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356350" y="1459632"/>
                          <a:ext cx="1041400" cy="457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55"/>
            <p:cNvGraphicFramePr>
              <a:graphicFrameLocks noChangeAspect="1"/>
            </p:cNvGraphicFramePr>
            <p:nvPr/>
          </p:nvGraphicFramePr>
          <p:xfrm>
            <a:off x="6356350" y="1844824"/>
            <a:ext cx="19558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3" name="Equation" r:id="rId11" imgW="23469600" imgH="5486400" progId="Equation.DSMT4">
                    <p:embed/>
                  </p:oleObj>
                </mc:Choice>
                <mc:Fallback>
                  <p:oleObj name="Equation" r:id="rId11" imgW="23469600" imgH="5486400" progId="Equation.DSMT4">
                    <p:embed/>
                    <p:pic>
                      <p:nvPicPr>
                        <p:cNvPr id="0" name="Object 25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56350" y="1844824"/>
                          <a:ext cx="1955800" cy="457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1043608" y="3573016"/>
            <a:ext cx="1405406" cy="355600"/>
            <a:chOff x="1043608" y="3573016"/>
            <a:chExt cx="1405406" cy="355600"/>
          </a:xfrm>
        </p:grpSpPr>
        <p:graphicFrame>
          <p:nvGraphicFramePr>
            <p:cNvPr id="17" name="Object 262"/>
            <p:cNvGraphicFramePr>
              <a:graphicFrameLocks noChangeAspect="1"/>
            </p:cNvGraphicFramePr>
            <p:nvPr/>
          </p:nvGraphicFramePr>
          <p:xfrm>
            <a:off x="1043608" y="3573016"/>
            <a:ext cx="635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4" name="Equation" r:id="rId13" imgW="7620000" imgH="4267200" progId="Equation.DSMT4">
                    <p:embed/>
                  </p:oleObj>
                </mc:Choice>
                <mc:Fallback>
                  <p:oleObj name="Equation" r:id="rId13" imgW="7620000" imgH="42672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3608" y="3573016"/>
                          <a:ext cx="635000" cy="355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箭头: 右 16"/>
            <p:cNvSpPr/>
            <p:nvPr/>
          </p:nvSpPr>
          <p:spPr>
            <a:xfrm>
              <a:off x="1931638" y="3678808"/>
              <a:ext cx="517376" cy="14401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771800" y="3546072"/>
            <a:ext cx="3687072" cy="457482"/>
            <a:chOff x="2771800" y="3546072"/>
            <a:chExt cx="3687072" cy="457482"/>
          </a:xfrm>
        </p:grpSpPr>
        <p:graphicFrame>
          <p:nvGraphicFramePr>
            <p:cNvPr id="22" name="Object 262"/>
            <p:cNvGraphicFramePr>
              <a:graphicFrameLocks noChangeAspect="1"/>
            </p:cNvGraphicFramePr>
            <p:nvPr/>
          </p:nvGraphicFramePr>
          <p:xfrm>
            <a:off x="2771800" y="3546072"/>
            <a:ext cx="1168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5" name="Equation" r:id="rId15" imgW="14020800" imgH="4876800" progId="Equation.DSMT4">
                    <p:embed/>
                  </p:oleObj>
                </mc:Choice>
                <mc:Fallback>
                  <p:oleObj name="Equation" r:id="rId15" imgW="14020800" imgH="4876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71800" y="3546072"/>
                          <a:ext cx="11684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62"/>
            <p:cNvGraphicFramePr>
              <a:graphicFrameLocks noChangeAspect="1"/>
            </p:cNvGraphicFramePr>
            <p:nvPr/>
          </p:nvGraphicFramePr>
          <p:xfrm>
            <a:off x="5392072" y="3597154"/>
            <a:ext cx="1066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6" name="Equation" r:id="rId17" imgW="12801600" imgH="4876800" progId="Equation.DSMT4">
                    <p:embed/>
                  </p:oleObj>
                </mc:Choice>
                <mc:Fallback>
                  <p:oleObj name="Equation" r:id="rId17" imgW="12801600" imgH="4876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92072" y="3597154"/>
                          <a:ext cx="10668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903288" y="4526534"/>
            <a:ext cx="1545726" cy="355600"/>
            <a:chOff x="903288" y="3573091"/>
            <a:chExt cx="1545726" cy="355600"/>
          </a:xfrm>
        </p:grpSpPr>
        <p:graphicFrame>
          <p:nvGraphicFramePr>
            <p:cNvPr id="27" name="Object 262"/>
            <p:cNvGraphicFramePr>
              <a:graphicFrameLocks noChangeAspect="1"/>
            </p:cNvGraphicFramePr>
            <p:nvPr/>
          </p:nvGraphicFramePr>
          <p:xfrm>
            <a:off x="903288" y="3573091"/>
            <a:ext cx="914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7" name="Equation" r:id="rId19" imgW="10972800" imgH="4267200" progId="Equation.DSMT4">
                    <p:embed/>
                  </p:oleObj>
                </mc:Choice>
                <mc:Fallback>
                  <p:oleObj name="Equation" r:id="rId19" imgW="10972800" imgH="42672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03288" y="3573091"/>
                          <a:ext cx="914400" cy="355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箭头: 右 23"/>
            <p:cNvSpPr/>
            <p:nvPr/>
          </p:nvSpPr>
          <p:spPr>
            <a:xfrm>
              <a:off x="1931638" y="3678808"/>
              <a:ext cx="517376" cy="14401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771800" y="4310559"/>
            <a:ext cx="4976788" cy="787400"/>
            <a:chOff x="2771800" y="3355774"/>
            <a:chExt cx="4976788" cy="787400"/>
          </a:xfrm>
        </p:grpSpPr>
        <p:graphicFrame>
          <p:nvGraphicFramePr>
            <p:cNvPr id="31" name="Object 262"/>
            <p:cNvGraphicFramePr>
              <a:graphicFrameLocks noChangeAspect="1"/>
            </p:cNvGraphicFramePr>
            <p:nvPr/>
          </p:nvGraphicFramePr>
          <p:xfrm>
            <a:off x="2771800" y="3355774"/>
            <a:ext cx="2235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8" name="Equation" r:id="rId21" imgW="26822400" imgH="9448800" progId="Equation.DSMT4">
                    <p:embed/>
                  </p:oleObj>
                </mc:Choice>
                <mc:Fallback>
                  <p:oleObj name="Equation" r:id="rId21" imgW="26822400" imgH="9448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771800" y="3355774"/>
                          <a:ext cx="2235200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62"/>
            <p:cNvGraphicFramePr>
              <a:graphicFrameLocks noChangeAspect="1"/>
            </p:cNvGraphicFramePr>
            <p:nvPr/>
          </p:nvGraphicFramePr>
          <p:xfrm>
            <a:off x="5386388" y="3520949"/>
            <a:ext cx="236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9" name="Equation" r:id="rId23" imgW="28346400" imgH="4876800" progId="Equation.DSMT4">
                    <p:embed/>
                  </p:oleObj>
                </mc:Choice>
                <mc:Fallback>
                  <p:oleObj name="Equation" r:id="rId23" imgW="28346400" imgH="4876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386388" y="3520949"/>
                          <a:ext cx="23622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944563" y="5594028"/>
            <a:ext cx="1506908" cy="304800"/>
            <a:chOff x="942106" y="3598764"/>
            <a:chExt cx="1506908" cy="304800"/>
          </a:xfrm>
        </p:grpSpPr>
        <p:graphicFrame>
          <p:nvGraphicFramePr>
            <p:cNvPr id="36" name="Object 262"/>
            <p:cNvGraphicFramePr>
              <a:graphicFrameLocks noChangeAspect="1"/>
            </p:cNvGraphicFramePr>
            <p:nvPr/>
          </p:nvGraphicFramePr>
          <p:xfrm>
            <a:off x="942106" y="3598764"/>
            <a:ext cx="838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0" name="Equation" r:id="rId25" imgW="10058400" imgH="3657600" progId="Equation.DSMT4">
                    <p:embed/>
                  </p:oleObj>
                </mc:Choice>
                <mc:Fallback>
                  <p:oleObj name="Equation" r:id="rId25" imgW="10058400" imgH="36576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942106" y="3598764"/>
                          <a:ext cx="838200" cy="304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箭头: 右 29"/>
            <p:cNvSpPr/>
            <p:nvPr/>
          </p:nvSpPr>
          <p:spPr>
            <a:xfrm>
              <a:off x="1931638" y="3678808"/>
              <a:ext cx="517376" cy="14401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771800" y="5470872"/>
            <a:ext cx="4011588" cy="478408"/>
            <a:chOff x="2771800" y="3387939"/>
            <a:chExt cx="4011588" cy="478408"/>
          </a:xfrm>
        </p:grpSpPr>
        <p:graphicFrame>
          <p:nvGraphicFramePr>
            <p:cNvPr id="40" name="Object 262"/>
            <p:cNvGraphicFramePr>
              <a:graphicFrameLocks noChangeAspect="1"/>
            </p:cNvGraphicFramePr>
            <p:nvPr/>
          </p:nvGraphicFramePr>
          <p:xfrm>
            <a:off x="2771800" y="3459947"/>
            <a:ext cx="1346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1" name="Equation" r:id="rId27" imgW="16154400" imgH="4876800" progId="Equation.DSMT4">
                    <p:embed/>
                  </p:oleObj>
                </mc:Choice>
                <mc:Fallback>
                  <p:oleObj name="Equation" r:id="rId27" imgW="16154400" imgH="4876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771800" y="3459947"/>
                          <a:ext cx="13462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262"/>
            <p:cNvGraphicFramePr>
              <a:graphicFrameLocks noChangeAspect="1"/>
            </p:cNvGraphicFramePr>
            <p:nvPr/>
          </p:nvGraphicFramePr>
          <p:xfrm>
            <a:off x="5386388" y="3387939"/>
            <a:ext cx="1397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2" name="Equation" r:id="rId29" imgW="16764000" imgH="4876800" progId="Equation.DSMT4">
                    <p:embed/>
                  </p:oleObj>
                </mc:Choice>
                <mc:Fallback>
                  <p:oleObj name="Equation" r:id="rId29" imgW="16764000" imgH="4876800" progId="Equation.DSMT4">
                    <p:embed/>
                    <p:pic>
                      <p:nvPicPr>
                        <p:cNvPr id="0" name="Object 262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386388" y="3387939"/>
                          <a:ext cx="13970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45"/>
          <p:cNvSpPr txBox="1"/>
          <p:nvPr/>
        </p:nvSpPr>
        <p:spPr>
          <a:xfrm>
            <a:off x="323850" y="475853"/>
            <a:ext cx="8553450" cy="119888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4: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discharging a capacitor, in terms of RC,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will the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capacitor be half its initial value?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will the 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the capacitor be half its initial value?</a:t>
            </a:r>
            <a:endParaRPr lang="en-US" altLang="zh-CN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1847" name="Object 103"/>
          <p:cNvGraphicFramePr>
            <a:graphicFrameLocks noChangeAspect="1"/>
          </p:cNvGraphicFramePr>
          <p:nvPr/>
        </p:nvGraphicFramePr>
        <p:xfrm>
          <a:off x="3226593" y="2073870"/>
          <a:ext cx="167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4" imgW="20116800" imgH="5791200" progId="Equation.DSMT4">
                  <p:embed/>
                </p:oleObj>
              </mc:Choice>
              <mc:Fallback>
                <p:oleObj name="Equation" r:id="rId4" imgW="20116800" imgH="5791200" progId="Equation.DSMT4">
                  <p:embed/>
                  <p:pic>
                    <p:nvPicPr>
                      <p:cNvPr id="0" name="Object 1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26593" y="2073870"/>
                        <a:ext cx="16764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848" name="Object 104"/>
          <p:cNvGraphicFramePr>
            <a:graphicFrameLocks noChangeAspect="1"/>
          </p:cNvGraphicFramePr>
          <p:nvPr/>
        </p:nvGraphicFramePr>
        <p:xfrm>
          <a:off x="2123728" y="2857838"/>
          <a:ext cx="1803596" cy="737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6" imgW="23164800" imgH="9448800" progId="Equation.DSMT4">
                  <p:embed/>
                </p:oleObj>
              </mc:Choice>
              <mc:Fallback>
                <p:oleObj name="Equation" r:id="rId6" imgW="23164800" imgH="9448800" progId="Equation.DSMT4">
                  <p:embed/>
                  <p:pic>
                    <p:nvPicPr>
                      <p:cNvPr id="0" name="Object 10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3728" y="2857838"/>
                        <a:ext cx="1803596" cy="73766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850" name="Object 106"/>
          <p:cNvGraphicFramePr>
            <a:graphicFrameLocks noChangeAspect="1"/>
          </p:cNvGraphicFramePr>
          <p:nvPr/>
        </p:nvGraphicFramePr>
        <p:xfrm>
          <a:off x="1475656" y="3959945"/>
          <a:ext cx="2336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8" imgW="28041600" imgH="9448800" progId="Equation.DSMT4">
                  <p:embed/>
                </p:oleObj>
              </mc:Choice>
              <mc:Fallback>
                <p:oleObj name="Equation" r:id="rId8" imgW="28041600" imgH="9448800" progId="Equation.DSMT4">
                  <p:embed/>
                  <p:pic>
                    <p:nvPicPr>
                      <p:cNvPr id="0" name="Object 10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75656" y="3959945"/>
                        <a:ext cx="23368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123729" y="5426013"/>
            <a:ext cx="4678363" cy="406400"/>
            <a:chOff x="3328070" y="5290773"/>
            <a:chExt cx="4678362" cy="406400"/>
          </a:xfrm>
        </p:grpSpPr>
        <p:graphicFrame>
          <p:nvGraphicFramePr>
            <p:cNvPr id="41992" name="Object 108"/>
            <p:cNvGraphicFramePr>
              <a:graphicFrameLocks noChangeAspect="1"/>
            </p:cNvGraphicFramePr>
            <p:nvPr/>
          </p:nvGraphicFramePr>
          <p:xfrm>
            <a:off x="3328070" y="5290773"/>
            <a:ext cx="1930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0" name="Equation" r:id="rId10" imgW="23164800" imgH="4876800" progId="Equation.DSMT4">
                    <p:embed/>
                  </p:oleObj>
                </mc:Choice>
                <mc:Fallback>
                  <p:oleObj name="Equation" r:id="rId10" imgW="23164800" imgH="4876800" progId="Equation.DSMT4">
                    <p:embed/>
                    <p:pic>
                      <p:nvPicPr>
                        <p:cNvPr id="0" name="Object 10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328070" y="5290773"/>
                          <a:ext cx="1930400" cy="406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3" name="Object 109"/>
            <p:cNvGraphicFramePr>
              <a:graphicFrameLocks noChangeAspect="1"/>
            </p:cNvGraphicFramePr>
            <p:nvPr/>
          </p:nvGraphicFramePr>
          <p:xfrm>
            <a:off x="5088608" y="5301885"/>
            <a:ext cx="1625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1" name="Equation" r:id="rId12" imgW="19507200" imgH="4267200" progId="Equation.DSMT4">
                    <p:embed/>
                  </p:oleObj>
                </mc:Choice>
                <mc:Fallback>
                  <p:oleObj name="Equation" r:id="rId12" imgW="19507200" imgH="4267200" progId="Equation.DSMT4">
                    <p:embed/>
                    <p:pic>
                      <p:nvPicPr>
                        <p:cNvPr id="0" name="Object 10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88608" y="5301885"/>
                          <a:ext cx="1625600" cy="355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4" name="Object 110"/>
            <p:cNvGraphicFramePr>
              <a:graphicFrameLocks noChangeAspect="1"/>
            </p:cNvGraphicFramePr>
            <p:nvPr/>
          </p:nvGraphicFramePr>
          <p:xfrm>
            <a:off x="6685632" y="5301885"/>
            <a:ext cx="1320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2" name="Equation" r:id="rId14" imgW="15849600" imgH="4267200" progId="Equation.DSMT4">
                    <p:embed/>
                  </p:oleObj>
                </mc:Choice>
                <mc:Fallback>
                  <p:oleObj name="Equation" r:id="rId14" imgW="15849600" imgH="4267200" progId="Equation.DSMT4">
                    <p:embed/>
                    <p:pic>
                      <p:nvPicPr>
                        <p:cNvPr id="0" name="Object 11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685632" y="5301885"/>
                          <a:ext cx="1320800" cy="355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Text Box 94"/>
          <p:cNvSpPr txBox="1"/>
          <p:nvPr/>
        </p:nvSpPr>
        <p:spPr>
          <a:xfrm>
            <a:off x="425450" y="1785541"/>
            <a:ext cx="18176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(a)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197118" y="2763775"/>
            <a:ext cx="2172167" cy="787400"/>
            <a:chOff x="4197117" y="2763775"/>
            <a:chExt cx="2172167" cy="787400"/>
          </a:xfrm>
        </p:grpSpPr>
        <p:graphicFrame>
          <p:nvGraphicFramePr>
            <p:cNvPr id="671849" name="Object 105"/>
            <p:cNvGraphicFramePr>
              <a:graphicFrameLocks noChangeAspect="1"/>
            </p:cNvGraphicFramePr>
            <p:nvPr/>
          </p:nvGraphicFramePr>
          <p:xfrm>
            <a:off x="4946884" y="2763775"/>
            <a:ext cx="14224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3" name="Equation" r:id="rId16" imgW="17068800" imgH="9448800" progId="Equation.DSMT4">
                    <p:embed/>
                  </p:oleObj>
                </mc:Choice>
                <mc:Fallback>
                  <p:oleObj name="Equation" r:id="rId16" imgW="17068800" imgH="9448800" progId="Equation.DSMT4">
                    <p:embed/>
                    <p:pic>
                      <p:nvPicPr>
                        <p:cNvPr id="0" name="Object 10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946884" y="2763775"/>
                          <a:ext cx="1422400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箭头连接符 9"/>
            <p:cNvCxnSpPr/>
            <p:nvPr/>
          </p:nvCxnSpPr>
          <p:spPr>
            <a:xfrm>
              <a:off x="4197117" y="3235138"/>
              <a:ext cx="499949" cy="0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4262431" y="3959945"/>
            <a:ext cx="2413434" cy="787400"/>
            <a:chOff x="4262431" y="3959945"/>
            <a:chExt cx="2413434" cy="787400"/>
          </a:xfrm>
        </p:grpSpPr>
        <p:graphicFrame>
          <p:nvGraphicFramePr>
            <p:cNvPr id="671851" name="Object 107"/>
            <p:cNvGraphicFramePr>
              <a:graphicFrameLocks noChangeAspect="1"/>
            </p:cNvGraphicFramePr>
            <p:nvPr/>
          </p:nvGraphicFramePr>
          <p:xfrm>
            <a:off x="4974065" y="3959945"/>
            <a:ext cx="17018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24" name="Equation" r:id="rId18" imgW="20421600" imgH="9448800" progId="Equation.DSMT4">
                    <p:embed/>
                  </p:oleObj>
                </mc:Choice>
                <mc:Fallback>
                  <p:oleObj name="Equation" r:id="rId18" imgW="20421600" imgH="9448800" progId="Equation.DSMT4">
                    <p:embed/>
                    <p:pic>
                      <p:nvPicPr>
                        <p:cNvPr id="0" name="Object 10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974065" y="3959945"/>
                          <a:ext cx="1701800" cy="7874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箭头连接符 24"/>
            <p:cNvCxnSpPr/>
            <p:nvPr/>
          </p:nvCxnSpPr>
          <p:spPr>
            <a:xfrm>
              <a:off x="4262431" y="4344840"/>
              <a:ext cx="499949" cy="0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3"/>
          <p:cNvGraphicFramePr>
            <a:graphicFrameLocks noChangeAspect="1"/>
          </p:cNvGraphicFramePr>
          <p:nvPr/>
        </p:nvGraphicFramePr>
        <p:xfrm>
          <a:off x="2416175" y="1124744"/>
          <a:ext cx="429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3" imgW="51511200" imgH="10058400" progId="Equation.DSMT4">
                  <p:embed/>
                </p:oleObj>
              </mc:Choice>
              <mc:Fallback>
                <p:oleObj name="Equation" r:id="rId3" imgW="51511200" imgH="10058400" progId="Equation.DSMT4">
                  <p:embed/>
                  <p:pic>
                    <p:nvPicPr>
                      <p:cNvPr id="0" name="Object 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6175" y="1124744"/>
                        <a:ext cx="4292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4"/>
          <p:cNvSpPr txBox="1"/>
          <p:nvPr/>
        </p:nvSpPr>
        <p:spPr>
          <a:xfrm>
            <a:off x="467545" y="548681"/>
            <a:ext cx="18176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(b)</a:t>
            </a:r>
          </a:p>
        </p:txBody>
      </p:sp>
      <p:graphicFrame>
        <p:nvGraphicFramePr>
          <p:cNvPr id="10" name="Object 58"/>
          <p:cNvGraphicFramePr>
            <a:graphicFrameLocks noChangeAspect="1"/>
          </p:cNvGraphicFramePr>
          <p:nvPr/>
        </p:nvGraphicFramePr>
        <p:xfrm>
          <a:off x="2162175" y="2420888"/>
          <a:ext cx="477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5" imgW="57302400" imgH="9448800" progId="Equation.DSMT4">
                  <p:embed/>
                </p:oleObj>
              </mc:Choice>
              <mc:Fallback>
                <p:oleObj name="Equation" r:id="rId5" imgW="57302400" imgH="9448800" progId="Equation.DSMT4">
                  <p:embed/>
                  <p:pic>
                    <p:nvPicPr>
                      <p:cNvPr id="0" name="Object 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2175" y="2420888"/>
                        <a:ext cx="47752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2555</Words>
  <Application>Microsoft Office PowerPoint</Application>
  <PresentationFormat>On-screen Show (4:3)</PresentationFormat>
  <Paragraphs>440</Paragraphs>
  <Slides>42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Euclid Math One</vt:lpstr>
      <vt:lpstr>TimesTen-Roman</vt:lpstr>
      <vt:lpstr>Arial</vt:lpstr>
      <vt:lpstr>Calibri</vt:lpstr>
      <vt:lpstr>Script MT Bold</vt:lpstr>
      <vt:lpstr>Symbol</vt:lpstr>
      <vt:lpstr>Times New Roman</vt:lpstr>
      <vt:lpstr>Wingdings</vt:lpstr>
      <vt:lpstr>WPS</vt:lpstr>
      <vt:lpstr>Equation</vt:lpstr>
      <vt:lpstr>Equation.DSMT4</vt:lpstr>
      <vt:lpstr>Knowledge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Review</dc:title>
  <dc:creator>Rui Wu</dc:creator>
  <cp:lastModifiedBy>Rui Wu</cp:lastModifiedBy>
  <cp:revision>4</cp:revision>
  <dcterms:created xsi:type="dcterms:W3CDTF">2023-08-09T12:44:00Z</dcterms:created>
  <dcterms:modified xsi:type="dcterms:W3CDTF">2024-12-13T05:45:24Z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